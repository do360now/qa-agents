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everyone.
Today I'm showing something I've built that's already saving me time on QA: a multi-agent system that reads Polarion requirements, generates test cases and risks, runs our automated tests, and closes the loop by updating test runs — all with one command in VS Code.
Let's see how it works and how it can help all of us.
[~20–30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all felt this. Turning a requirement into solid test cases takes hours. Risks get missed when we're busy. And after tests run, someone still has to create or update the test run in Polarion.
This process is exactly what I wanted to automate — while keeping everything traceable and secure inside our tools.
[~45–60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seen AI evolve quickly — from autocomplete, to chat, to single agents. I'm not waiting for the future — I'm already using multi-agent orchestration in VS Code with our polarion-cli to handle the full QA cycle.
The goal is simple: agents handle the repetitive loop so we can focus on judgment, edge cases, and business logic — the work only we can do.
[~40–50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stays inside our environment. Nothing new to procure.
Polarion is the source of truth for requirements, test cases and results. The CLI handles authentication and permissions safely — agents call the CLI to read and write in Polarion without ever exposing credentials directly.
VS Code is where the agents live. And our existing pytest suite does the actual test execution — nothing changed there.
[~50–60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team — both humans and agents.
Three humans are in the loop at key decision points:
The Human Analyst creates the requirement in Polarion — that's the starting point for everything.
The QA Engineer is the first review gate — they read the agent-generated test cases and risks, approve them, and add them to the Polarion TPS.
The Developer reads the requirement plus the approved test cases and risks, then implements the feature using TDD — writing unit and integration tests with Polarion test case IDs embedded so they wire up automatically.
Five agents then handle all the mechanical work:
Orchestrator plans. Test Designer generates. Risk Analyst identifies gaps. Test Executor runs the suite. Polarion Updater publishes results with evidence.
Humans own the judgment. Agents own the repetition.
[~1.5–2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flow — let me walk through it.
Phase 1 is automated. The Orchestrator reads the requirement and creates a plan. The Test Designer and Risk Analyst write test case and risk work items directly into Polarion.
Then the pipeline pauses for Human Gate 1: the QA Engineer opens those Polarion work items, reads through the generated test cases and risks, and makes a judgment call. They approve — or send back for revision. Only approved items move forward.
Human Gate 2: the Developer reads the requirement plus the approved test cases and risks, and uses them as a TDD guide to implement the feature or bugfix. They write unit and integration tests referencing the Polarion test case IDs — this is what makes automated execution traceable back to Polarion later.
Phase 2 resumes automatically: the Test Executor runs the test suite, and the Polarion Updater publishes the Test Run with PASS/FAIL/SKIP results and attached evidence — screenshots, logs, whatever is available.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START — approx 2 minutes]
I'm in VS Code on a [feature name or anonymized] branch. I type one command…
Watch the Orchestrator kick off — it connects to Polarion and pulls the requirement.
Here the Test Designer is pulling the requirement text and generating structured test cases with preconditions.
Risk Analyst identifies edge cases the Test Designer flagged.
Test Executor is now running the suite — you can watch the results stream in.
Keep the demo tight — focus on the magic of the handoffs between agents.
[~2 minutes — live or recorded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continues — approx 2 more minutes]
Now let me quickly switch over to show the actual Test Run in Polarion.
Here's the fresh Test Run — created moments ago, linked directly to our requirement.
You can see the test cases are linked, PASS/FAIL/SKIP statuses are already applied, and the logs are attached as evidence — all done automatically by the Polarion Updater.
Nothing was touched manually. The traceability chain is complete: requirement → test cases → test run → results → evidence. All in Polarion.
[~2 minutes — demo ends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runs show clear wins in speed and consistency.
Hours saved per feature — the exact number depends on complexity, but the difference is significant and immediate. 100% traceability in Polarion without anyone touching it manually. And the loop runs in minutes.
Most importantly: this frees us up for higher-value work. Engineers review the output, catch the business logic the agent missed, and focus on the complex cases that genuinely need human judgment.
And we built it entirely on tools we already own — no new vendor, no new procurement.
[~60–75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starting point — built on tools we already own.
I'd love to share the agent prompt templates, polarion-cli examples, and setup guide with anyone who wants to try it. Everything is documented and ready.
Most importantly: I want your feedback. Which requirement types should we throw at the agents next? What broke, what surprised you, what did the agents get wrong?
There are also some obvious extensions to explore — self-healing tests, automatic requirement updates, CI/CD integration. Happy to work on those together.
Thank you — happy to take any questions now, or set up a deeper session with your team.
[~60–90 seconds +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834640" cy="5143500"/>
          </a:xfrm>
          <a:prstGeom prst="rect">
            <a:avLst/>
          </a:prstGeom>
          <a:solidFill>
            <a:srgbClr val="065A82"/>
          </a:solidFill>
          <a:ln w="12700">
            <a:solidFill>
              <a:srgbClr val="065A82"/>
            </a:solidFill>
            <a:prstDash val="solid"/>
          </a:ln>
        </p:spPr>
      </p:sp>
      <p:sp>
        <p:nvSpPr>
          <p:cNvPr id="3" name="Shape 1"/>
          <p:cNvSpPr/>
          <p:nvPr/>
        </p:nvSpPr>
        <p:spPr>
          <a:xfrm>
            <a:off x="2834640" y="0"/>
            <a:ext cx="73152" cy="5143500"/>
          </a:xfrm>
          <a:prstGeom prst="rect">
            <a:avLst/>
          </a:prstGeom>
          <a:solidFill>
            <a:srgbClr val="02C39A"/>
          </a:solidFill>
          <a:ln w="12700">
            <a:solidFill>
              <a:srgbClr val="02C39A"/>
            </a:solidFill>
            <a:prstDash val="solid"/>
          </a:ln>
        </p:spPr>
      </p:sp>
      <p:sp>
        <p:nvSpPr>
          <p:cNvPr id="4" name="Text 2"/>
          <p:cNvSpPr/>
          <p:nvPr/>
        </p:nvSpPr>
        <p:spPr>
          <a:xfrm>
            <a:off x="228600" y="292608"/>
            <a:ext cx="2423160" cy="347472"/>
          </a:xfrm>
          <a:prstGeom prst="rect">
            <a:avLst/>
          </a:prstGeom>
          <a:noFill/>
          <a:ln/>
        </p:spPr>
        <p:txBody>
          <a:bodyPr wrap="square" rtlCol="0" anchor="ctr"/>
          <a:lstStyle/>
          <a:p>
            <a:pPr algn="l" indent="0" marL="0">
              <a:buNone/>
            </a:pPr>
            <a:r>
              <a:rPr lang="en-US" sz="1000" b="1" spc="300" kern="0" dirty="0">
                <a:solidFill>
                  <a:srgbClr val="02C39A"/>
                </a:solidFill>
                <a:latin typeface="Calibri" pitchFamily="34" charset="0"/>
                <a:ea typeface="Calibri" pitchFamily="34" charset="-122"/>
                <a:cs typeface="Calibri" pitchFamily="34" charset="-120"/>
              </a:rPr>
              <a:t>INTERNAL DEMO</a:t>
            </a:r>
            <a:endParaRPr lang="en-US" sz="1000" dirty="0"/>
          </a:p>
        </p:txBody>
      </p:sp>
      <p:sp>
        <p:nvSpPr>
          <p:cNvPr id="5" name="Text 3"/>
          <p:cNvSpPr/>
          <p:nvPr/>
        </p:nvSpPr>
        <p:spPr>
          <a:xfrm>
            <a:off x="228600" y="4434840"/>
            <a:ext cx="2423160" cy="548640"/>
          </a:xfrm>
          <a:prstGeom prst="rect">
            <a:avLst/>
          </a:prstGeom>
          <a:noFill/>
          <a:ln/>
        </p:spPr>
        <p:txBody>
          <a:bodyPr wrap="square" rtlCol="0" anchor="ctr"/>
          <a:lstStyle/>
          <a:p>
            <a:pPr algn="l" indent="0" marL="0">
              <a:buNone/>
            </a:pPr>
            <a:r>
              <a:rPr lang="en-US" sz="1100" dirty="0">
                <a:solidFill>
                  <a:srgbClr val="A8D8F0"/>
                </a:solidFill>
                <a:latin typeface="Calibri" pitchFamily="34" charset="0"/>
                <a:ea typeface="Calibri" pitchFamily="34" charset="-122"/>
                <a:cs typeface="Calibri" pitchFamily="34" charset="-120"/>
              </a:rPr>
              <a:t>QA Engineering Team</a:t>
            </a:r>
            <a:endParaRPr lang="en-US" sz="1100" dirty="0"/>
          </a:p>
          <a:p>
            <a:pPr algn="l" indent="0" marL="0">
              <a:buNone/>
            </a:pPr>
            <a:r>
              <a:rPr lang="en-US" sz="1100" dirty="0">
                <a:solidFill>
                  <a:srgbClr val="A8D8F0"/>
                </a:solidFill>
                <a:latin typeface="Calibri" pitchFamily="34" charset="0"/>
                <a:ea typeface="Calibri" pitchFamily="34" charset="-122"/>
                <a:cs typeface="Calibri" pitchFamily="34" charset="-120"/>
              </a:rPr>
              <a:t>2025</a:t>
            </a:r>
            <a:endParaRPr lang="en-US" sz="1100" dirty="0"/>
          </a:p>
        </p:txBody>
      </p:sp>
      <p:pic>
        <p:nvPicPr>
          <p:cNvPr id="6" name="Image 0" descr="preencoded.png">    </p:cNvPr>
          <p:cNvPicPr>
            <a:picLocks noChangeAspect="1"/>
          </p:cNvPicPr>
          <p:nvPr/>
        </p:nvPicPr>
        <p:blipFill>
          <a:blip r:embed="rId1">
            <a:alphaModFix amt="80000"/>
          </a:blip>
          <a:stretch>
            <a:fillRect/>
          </a:stretch>
        </p:blipFill>
        <p:spPr>
          <a:xfrm>
            <a:off x="960120" y="1371600"/>
            <a:ext cx="914400" cy="914400"/>
          </a:xfrm>
          <a:prstGeom prst="rect">
            <a:avLst/>
          </a:prstGeom>
        </p:spPr>
      </p:pic>
      <p:sp>
        <p:nvSpPr>
          <p:cNvPr id="7" name="Text 4"/>
          <p:cNvSpPr/>
          <p:nvPr/>
        </p:nvSpPr>
        <p:spPr>
          <a:xfrm>
            <a:off x="3154680" y="411480"/>
            <a:ext cx="5669280" cy="2468880"/>
          </a:xfrm>
          <a:prstGeom prst="rect">
            <a:avLst/>
          </a:prstGeom>
          <a:noFill/>
          <a:ln/>
        </p:spPr>
        <p:txBody>
          <a:bodyPr wrap="square" rtlCol="0" anchor="t"/>
          <a:lstStyle/>
          <a:p>
            <a:pPr algn="l" indent="0" marL="0">
              <a:buNone/>
            </a:pPr>
            <a:r>
              <a:rPr lang="en-US" sz="3600" b="1" dirty="0">
                <a:solidFill>
                  <a:srgbClr val="FFFFFF"/>
                </a:solidFill>
                <a:latin typeface="Calibri" pitchFamily="34" charset="0"/>
                <a:ea typeface="Calibri" pitchFamily="34" charset="-122"/>
                <a:cs typeface="Calibri" pitchFamily="34" charset="-120"/>
              </a:rPr>
              <a:t>Multi-Agent QA</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Orchestration</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with Polarion</a:t>
            </a:r>
            <a:endParaRPr lang="en-US" sz="3600" dirty="0"/>
          </a:p>
        </p:txBody>
      </p:sp>
      <p:sp>
        <p:nvSpPr>
          <p:cNvPr id="8" name="Text 5"/>
          <p:cNvSpPr/>
          <p:nvPr/>
        </p:nvSpPr>
        <p:spPr>
          <a:xfrm>
            <a:off x="3154680" y="2944368"/>
            <a:ext cx="5669280" cy="658368"/>
          </a:xfrm>
          <a:prstGeom prst="rect">
            <a:avLst/>
          </a:prstGeom>
          <a:noFill/>
          <a:ln/>
        </p:spPr>
        <p:txBody>
          <a:bodyPr wrap="square" rtlCol="0" anchor="ctr"/>
          <a:lstStyle/>
          <a:p>
            <a:pPr algn="l" indent="0" marL="0">
              <a:buNone/>
            </a:pPr>
            <a:r>
              <a:rPr lang="en-US" sz="1450" dirty="0">
                <a:solidFill>
                  <a:srgbClr val="A8D8F0"/>
                </a:solidFill>
                <a:latin typeface="Calibri" pitchFamily="34" charset="0"/>
                <a:ea typeface="Calibri" pitchFamily="34" charset="-122"/>
                <a:cs typeface="Calibri" pitchFamily="34" charset="-120"/>
              </a:rPr>
              <a:t>From Requirements to Automated Test Runs</a:t>
            </a:r>
            <a:endParaRPr lang="en-US" sz="1450" dirty="0"/>
          </a:p>
          <a:p>
            <a:pPr algn="l" indent="0" marL="0">
              <a:buNone/>
            </a:pPr>
            <a:r>
              <a:rPr lang="en-US" sz="1450" dirty="0">
                <a:solidFill>
                  <a:srgbClr val="A8D8F0"/>
                </a:solidFill>
                <a:latin typeface="Calibri" pitchFamily="34" charset="0"/>
                <a:ea typeface="Calibri" pitchFamily="34" charset="-122"/>
                <a:cs typeface="Calibri" pitchFamily="34" charset="-120"/>
              </a:rPr>
              <a:t>— Already Running in Our Team</a:t>
            </a:r>
            <a:endParaRPr lang="en-US" sz="1450" dirty="0"/>
          </a:p>
        </p:txBody>
      </p:sp>
      <p:sp>
        <p:nvSpPr>
          <p:cNvPr id="9" name="Text 6"/>
          <p:cNvSpPr/>
          <p:nvPr/>
        </p:nvSpPr>
        <p:spPr>
          <a:xfrm>
            <a:off x="3154680" y="3703320"/>
            <a:ext cx="5669280" cy="475488"/>
          </a:xfrm>
          <a:prstGeom prst="rect">
            <a:avLst/>
          </a:prstGeom>
          <a:noFill/>
          <a:ln/>
        </p:spPr>
        <p:txBody>
          <a:bodyPr wrap="square" rtlCol="0" anchor="ctr"/>
          <a:lstStyle/>
          <a:p>
            <a:pPr algn="l" indent="0" marL="0">
              <a:buNone/>
            </a:pPr>
            <a:r>
              <a:rPr lang="en-US" sz="1200" i="1" dirty="0">
                <a:solidFill>
                  <a:srgbClr val="02C39A"/>
                </a:solidFill>
                <a:latin typeface="Calibri" pitchFamily="34" charset="0"/>
                <a:ea typeface="Calibri" pitchFamily="34" charset="-122"/>
                <a:cs typeface="Calibri" pitchFamily="34" charset="-120"/>
              </a:rPr>
              <a:t>"Turning repetitive QA work into minutes instead of hours"</a:t>
            </a:r>
            <a:endParaRPr lang="en-US" sz="1200" dirty="0"/>
          </a:p>
        </p:txBody>
      </p:sp>
      <p:sp>
        <p:nvSpPr>
          <p:cNvPr id="10" name="Text 7"/>
          <p:cNvSpPr/>
          <p:nvPr/>
        </p:nvSpPr>
        <p:spPr>
          <a:xfrm>
            <a:off x="3154680" y="4663440"/>
            <a:ext cx="5669280" cy="32004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Your Name  ·  Internal Demo – March 2026  ·  VS Code Agents + polarion-cli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64592"/>
            <a:ext cx="8595360" cy="50292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 QA Pain We All Know</a:t>
            </a:r>
            <a:endParaRPr lang="en-US" sz="2600" dirty="0"/>
          </a:p>
        </p:txBody>
      </p:sp>
      <p:sp>
        <p:nvSpPr>
          <p:cNvPr id="4" name="Shape 2"/>
          <p:cNvSpPr/>
          <p:nvPr/>
        </p:nvSpPr>
        <p:spPr>
          <a:xfrm>
            <a:off x="256032" y="731520"/>
            <a:ext cx="8595360" cy="27432"/>
          </a:xfrm>
          <a:prstGeom prst="rect">
            <a:avLst/>
          </a:prstGeom>
          <a:solidFill>
            <a:srgbClr val="E2E8F0"/>
          </a:solidFill>
          <a:ln w="12700">
            <a:solidFill>
              <a:srgbClr val="E2E8F0"/>
            </a:solidFill>
            <a:prstDash val="solid"/>
          </a:ln>
        </p:spPr>
      </p:sp>
      <p:sp>
        <p:nvSpPr>
          <p:cNvPr id="5" name="Shape 3"/>
          <p:cNvSpPr/>
          <p:nvPr/>
        </p:nvSpPr>
        <p:spPr>
          <a:xfrm>
            <a:off x="256032" y="960120"/>
            <a:ext cx="425196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20624" y="1490472"/>
            <a:ext cx="548640" cy="548640"/>
          </a:xfrm>
          <a:prstGeom prst="ellipse">
            <a:avLst/>
          </a:prstGeom>
          <a:solidFill>
            <a:srgbClr val="F5F8FA"/>
          </a:solidFill>
          <a:ln w="12700">
            <a:solidFill>
              <a:srgbClr val="E2E8F0"/>
            </a:solidFill>
            <a:prstDash val="solid"/>
          </a:ln>
        </p:spPr>
      </p:sp>
      <p:pic>
        <p:nvPicPr>
          <p:cNvPr id="7" name="Image 0" descr="preencoded.png">    </p:cNvPr>
          <p:cNvPicPr>
            <a:picLocks noChangeAspect="1"/>
          </p:cNvPicPr>
          <p:nvPr/>
        </p:nvPicPr>
        <p:blipFill>
          <a:blip r:embed="rId1"/>
          <a:stretch>
            <a:fillRect/>
          </a:stretch>
        </p:blipFill>
        <p:spPr>
          <a:xfrm>
            <a:off x="466344" y="1536192"/>
            <a:ext cx="457200" cy="457200"/>
          </a:xfrm>
          <a:prstGeom prst="rect">
            <a:avLst/>
          </a:prstGeom>
        </p:spPr>
      </p:pic>
      <p:sp>
        <p:nvSpPr>
          <p:cNvPr id="8" name="Text 5"/>
          <p:cNvSpPr/>
          <p:nvPr/>
        </p:nvSpPr>
        <p:spPr>
          <a:xfrm>
            <a:off x="1078992" y="1124712"/>
            <a:ext cx="329184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Manual &amp; Time-Consuming</a:t>
            </a:r>
            <a:endParaRPr lang="en-US" sz="1400" dirty="0"/>
          </a:p>
        </p:txBody>
      </p:sp>
      <p:sp>
        <p:nvSpPr>
          <p:cNvPr id="9" name="Text 6"/>
          <p:cNvSpPr/>
          <p:nvPr/>
        </p:nvSpPr>
        <p:spPr>
          <a:xfrm>
            <a:off x="1078992" y="1554480"/>
            <a:ext cx="3291840" cy="822960"/>
          </a:xfrm>
          <a:prstGeom prst="rect">
            <a:avLst/>
          </a:prstGeom>
          <a:noFill/>
          <a:ln/>
        </p:spPr>
        <p:txBody>
          <a:bodyPr wrap="square" rtlCol="0" anchor="ctr"/>
          <a:lstStyle/>
          <a:p>
            <a:pPr indent="0" marL="0">
              <a:buNone/>
            </a:pPr>
            <a:r>
              <a:rPr lang="en-US" sz="1250" dirty="0">
                <a:solidFill>
                  <a:srgbClr val="4A5568"/>
                </a:solidFill>
                <a:latin typeface="Calibri" pitchFamily="34" charset="0"/>
                <a:ea typeface="Calibri" pitchFamily="34" charset="-122"/>
                <a:cs typeface="Calibri" pitchFamily="34" charset="-120"/>
              </a:rPr>
              <a:t>Test case creation:</a:t>
            </a:r>
            <a:endParaRPr lang="en-US" sz="1250" dirty="0"/>
          </a:p>
          <a:p>
            <a:pPr indent="0" marL="0">
              <a:buNone/>
            </a:pPr>
            <a:r>
              <a:rPr lang="en-US" sz="1250" dirty="0">
                <a:solidFill>
                  <a:srgbClr val="4A5568"/>
                </a:solidFill>
                <a:latin typeface="Calibri" pitchFamily="34" charset="0"/>
                <a:ea typeface="Calibri" pitchFamily="34" charset="-122"/>
                <a:cs typeface="Calibri" pitchFamily="34" charset="-120"/>
              </a:rPr>
              <a:t>hours per requirement</a:t>
            </a:r>
            <a:endParaRPr lang="en-US" sz="1250" dirty="0"/>
          </a:p>
        </p:txBody>
      </p:sp>
      <p:sp>
        <p:nvSpPr>
          <p:cNvPr id="10" name="Shape 7"/>
          <p:cNvSpPr/>
          <p:nvPr/>
        </p:nvSpPr>
        <p:spPr>
          <a:xfrm>
            <a:off x="4709160" y="960120"/>
            <a:ext cx="425196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8"/>
          <p:cNvSpPr/>
          <p:nvPr/>
        </p:nvSpPr>
        <p:spPr>
          <a:xfrm>
            <a:off x="4873752" y="1490472"/>
            <a:ext cx="548640" cy="548640"/>
          </a:xfrm>
          <a:prstGeom prst="ellipse">
            <a:avLst/>
          </a:prstGeom>
          <a:solidFill>
            <a:srgbClr val="F5F8FA"/>
          </a:solidFill>
          <a:ln w="12700">
            <a:solidFill>
              <a:srgbClr val="E2E8F0"/>
            </a:solidFill>
            <a:prstDash val="solid"/>
          </a:ln>
        </p:spPr>
      </p:sp>
      <p:pic>
        <p:nvPicPr>
          <p:cNvPr id="12" name="Image 1" descr="preencoded.png">    </p:cNvPr>
          <p:cNvPicPr>
            <a:picLocks noChangeAspect="1"/>
          </p:cNvPicPr>
          <p:nvPr/>
        </p:nvPicPr>
        <p:blipFill>
          <a:blip r:embed="rId2"/>
          <a:stretch>
            <a:fillRect/>
          </a:stretch>
        </p:blipFill>
        <p:spPr>
          <a:xfrm>
            <a:off x="4919472" y="1536192"/>
            <a:ext cx="457200" cy="457200"/>
          </a:xfrm>
          <a:prstGeom prst="rect">
            <a:avLst/>
          </a:prstGeom>
        </p:spPr>
      </p:pic>
      <p:sp>
        <p:nvSpPr>
          <p:cNvPr id="13" name="Text 9"/>
          <p:cNvSpPr/>
          <p:nvPr/>
        </p:nvSpPr>
        <p:spPr>
          <a:xfrm>
            <a:off x="5532120" y="1124712"/>
            <a:ext cx="329184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Inconsistent Risk ID</a:t>
            </a:r>
            <a:endParaRPr lang="en-US" sz="1400" dirty="0"/>
          </a:p>
        </p:txBody>
      </p:sp>
      <p:sp>
        <p:nvSpPr>
          <p:cNvPr id="14" name="Text 10"/>
          <p:cNvSpPr/>
          <p:nvPr/>
        </p:nvSpPr>
        <p:spPr>
          <a:xfrm>
            <a:off x="5532120" y="1554480"/>
            <a:ext cx="3291840" cy="822960"/>
          </a:xfrm>
          <a:prstGeom prst="rect">
            <a:avLst/>
          </a:prstGeom>
          <a:noFill/>
          <a:ln/>
        </p:spPr>
        <p:txBody>
          <a:bodyPr wrap="square" rtlCol="0" anchor="ctr"/>
          <a:lstStyle/>
          <a:p>
            <a:pPr indent="0" marL="0">
              <a:buNone/>
            </a:pPr>
            <a:r>
              <a:rPr lang="en-US" sz="1250" dirty="0">
                <a:solidFill>
                  <a:srgbClr val="4A5568"/>
                </a:solidFill>
                <a:latin typeface="Calibri" pitchFamily="34" charset="0"/>
                <a:ea typeface="Calibri" pitchFamily="34" charset="-122"/>
                <a:cs typeface="Calibri" pitchFamily="34" charset="-120"/>
              </a:rPr>
              <a:t>Risks missed when</a:t>
            </a:r>
            <a:endParaRPr lang="en-US" sz="1250" dirty="0"/>
          </a:p>
          <a:p>
            <a:pPr indent="0" marL="0">
              <a:buNone/>
            </a:pPr>
            <a:r>
              <a:rPr lang="en-US" sz="1250" dirty="0">
                <a:solidFill>
                  <a:srgbClr val="4A5568"/>
                </a:solidFill>
                <a:latin typeface="Calibri" pitchFamily="34" charset="0"/>
                <a:ea typeface="Calibri" pitchFamily="34" charset="-122"/>
                <a:cs typeface="Calibri" pitchFamily="34" charset="-120"/>
              </a:rPr>
              <a:t>team is under pressure</a:t>
            </a:r>
            <a:endParaRPr lang="en-US" sz="1250" dirty="0"/>
          </a:p>
        </p:txBody>
      </p:sp>
      <p:sp>
        <p:nvSpPr>
          <p:cNvPr id="15" name="Shape 11"/>
          <p:cNvSpPr/>
          <p:nvPr/>
        </p:nvSpPr>
        <p:spPr>
          <a:xfrm>
            <a:off x="256032" y="2788920"/>
            <a:ext cx="425196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2"/>
          <p:cNvSpPr/>
          <p:nvPr/>
        </p:nvSpPr>
        <p:spPr>
          <a:xfrm>
            <a:off x="420624" y="3319272"/>
            <a:ext cx="548640" cy="548640"/>
          </a:xfrm>
          <a:prstGeom prst="ellipse">
            <a:avLst/>
          </a:prstGeom>
          <a:solidFill>
            <a:srgbClr val="F5F8FA"/>
          </a:solidFill>
          <a:ln w="12700">
            <a:solidFill>
              <a:srgbClr val="E2E8F0"/>
            </a:solidFill>
            <a:prstDash val="solid"/>
          </a:ln>
        </p:spPr>
      </p:sp>
      <p:pic>
        <p:nvPicPr>
          <p:cNvPr id="17" name="Image 2" descr="preencoded.png">    </p:cNvPr>
          <p:cNvPicPr>
            <a:picLocks noChangeAspect="1"/>
          </p:cNvPicPr>
          <p:nvPr/>
        </p:nvPicPr>
        <p:blipFill>
          <a:blip r:embed="rId3"/>
          <a:stretch>
            <a:fillRect/>
          </a:stretch>
        </p:blipFill>
        <p:spPr>
          <a:xfrm>
            <a:off x="466344" y="3364992"/>
            <a:ext cx="457200" cy="457200"/>
          </a:xfrm>
          <a:prstGeom prst="rect">
            <a:avLst/>
          </a:prstGeom>
        </p:spPr>
      </p:pic>
      <p:sp>
        <p:nvSpPr>
          <p:cNvPr id="18" name="Text 13"/>
          <p:cNvSpPr/>
          <p:nvPr/>
        </p:nvSpPr>
        <p:spPr>
          <a:xfrm>
            <a:off x="1078992" y="2953512"/>
            <a:ext cx="329184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Traceability Gaps</a:t>
            </a:r>
            <a:endParaRPr lang="en-US" sz="1400" dirty="0"/>
          </a:p>
        </p:txBody>
      </p:sp>
      <p:sp>
        <p:nvSpPr>
          <p:cNvPr id="19" name="Text 14"/>
          <p:cNvSpPr/>
          <p:nvPr/>
        </p:nvSpPr>
        <p:spPr>
          <a:xfrm>
            <a:off x="1078992" y="3383280"/>
            <a:ext cx="3291840" cy="822960"/>
          </a:xfrm>
          <a:prstGeom prst="rect">
            <a:avLst/>
          </a:prstGeom>
          <a:noFill/>
          <a:ln/>
        </p:spPr>
        <p:txBody>
          <a:bodyPr wrap="square" rtlCol="0" anchor="ctr"/>
          <a:lstStyle/>
          <a:p>
            <a:pPr indent="0" marL="0">
              <a:buNone/>
            </a:pPr>
            <a:r>
              <a:rPr lang="en-US" sz="1250" dirty="0">
                <a:solidFill>
                  <a:srgbClr val="4A5568"/>
                </a:solidFill>
                <a:latin typeface="Calibri" pitchFamily="34" charset="0"/>
                <a:ea typeface="Calibri" pitchFamily="34" charset="-122"/>
                <a:cs typeface="Calibri" pitchFamily="34" charset="-120"/>
              </a:rPr>
              <a:t>Reqs, tests &amp; results</a:t>
            </a:r>
            <a:endParaRPr lang="en-US" sz="1250" dirty="0"/>
          </a:p>
          <a:p>
            <a:pPr indent="0" marL="0">
              <a:buNone/>
            </a:pPr>
            <a:r>
              <a:rPr lang="en-US" sz="1250" dirty="0">
                <a:solidFill>
                  <a:srgbClr val="4A5568"/>
                </a:solidFill>
                <a:latin typeface="Calibri" pitchFamily="34" charset="0"/>
                <a:ea typeface="Calibri" pitchFamily="34" charset="-122"/>
                <a:cs typeface="Calibri" pitchFamily="34" charset="-120"/>
              </a:rPr>
              <a:t>often drift apart</a:t>
            </a:r>
            <a:endParaRPr lang="en-US" sz="1250" dirty="0"/>
          </a:p>
        </p:txBody>
      </p:sp>
      <p:sp>
        <p:nvSpPr>
          <p:cNvPr id="20" name="Shape 15"/>
          <p:cNvSpPr/>
          <p:nvPr/>
        </p:nvSpPr>
        <p:spPr>
          <a:xfrm>
            <a:off x="4709160" y="2788920"/>
            <a:ext cx="425196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6"/>
          <p:cNvSpPr/>
          <p:nvPr/>
        </p:nvSpPr>
        <p:spPr>
          <a:xfrm>
            <a:off x="4873752" y="3319272"/>
            <a:ext cx="548640" cy="548640"/>
          </a:xfrm>
          <a:prstGeom prst="ellipse">
            <a:avLst/>
          </a:prstGeom>
          <a:solidFill>
            <a:srgbClr val="F5F8FA"/>
          </a:solidFill>
          <a:ln w="12700">
            <a:solidFill>
              <a:srgbClr val="E2E8F0"/>
            </a:solidFill>
            <a:prstDash val="solid"/>
          </a:ln>
        </p:spPr>
      </p:sp>
      <p:pic>
        <p:nvPicPr>
          <p:cNvPr id="22" name="Image 3" descr="preencoded.png">    </p:cNvPr>
          <p:cNvPicPr>
            <a:picLocks noChangeAspect="1"/>
          </p:cNvPicPr>
          <p:nvPr/>
        </p:nvPicPr>
        <p:blipFill>
          <a:blip r:embed="rId4"/>
          <a:stretch>
            <a:fillRect/>
          </a:stretch>
        </p:blipFill>
        <p:spPr>
          <a:xfrm>
            <a:off x="4919472" y="3364992"/>
            <a:ext cx="457200" cy="457200"/>
          </a:xfrm>
          <a:prstGeom prst="rect">
            <a:avLst/>
          </a:prstGeom>
        </p:spPr>
      </p:pic>
      <p:sp>
        <p:nvSpPr>
          <p:cNvPr id="23" name="Text 17"/>
          <p:cNvSpPr/>
          <p:nvPr/>
        </p:nvSpPr>
        <p:spPr>
          <a:xfrm>
            <a:off x="5532120" y="2953512"/>
            <a:ext cx="329184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Manual Test Run Updates</a:t>
            </a:r>
            <a:endParaRPr lang="en-US" sz="1400" dirty="0"/>
          </a:p>
        </p:txBody>
      </p:sp>
      <p:sp>
        <p:nvSpPr>
          <p:cNvPr id="24" name="Text 18"/>
          <p:cNvSpPr/>
          <p:nvPr/>
        </p:nvSpPr>
        <p:spPr>
          <a:xfrm>
            <a:off x="5532120" y="3383280"/>
            <a:ext cx="3291840" cy="822960"/>
          </a:xfrm>
          <a:prstGeom prst="rect">
            <a:avLst/>
          </a:prstGeom>
          <a:noFill/>
          <a:ln/>
        </p:spPr>
        <p:txBody>
          <a:bodyPr wrap="square" rtlCol="0" anchor="ctr"/>
          <a:lstStyle/>
          <a:p>
            <a:pPr indent="0" marL="0">
              <a:buNone/>
            </a:pPr>
            <a:r>
              <a:rPr lang="en-US" sz="1250" dirty="0">
                <a:solidFill>
                  <a:srgbClr val="4A5568"/>
                </a:solidFill>
                <a:latin typeface="Calibri" pitchFamily="34" charset="0"/>
                <a:ea typeface="Calibri" pitchFamily="34" charset="-122"/>
                <a:cs typeface="Calibri" pitchFamily="34" charset="-120"/>
              </a:rPr>
              <a:t>Someone still updates</a:t>
            </a:r>
            <a:endParaRPr lang="en-US" sz="1250" dirty="0"/>
          </a:p>
          <a:p>
            <a:pPr indent="0" marL="0">
              <a:buNone/>
            </a:pPr>
            <a:r>
              <a:rPr lang="en-US" sz="1250" dirty="0">
                <a:solidFill>
                  <a:srgbClr val="4A5568"/>
                </a:solidFill>
                <a:latin typeface="Calibri" pitchFamily="34" charset="0"/>
                <a:ea typeface="Calibri" pitchFamily="34" charset="-122"/>
                <a:cs typeface="Calibri" pitchFamily="34" charset="-120"/>
              </a:rPr>
              <a:t>Polarion after each run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64592"/>
            <a:ext cx="8595360" cy="50292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Where We Are in AI-Assisted Development</a:t>
            </a:r>
            <a:endParaRPr lang="en-US" sz="2600" dirty="0"/>
          </a:p>
        </p:txBody>
      </p:sp>
      <p:sp>
        <p:nvSpPr>
          <p:cNvPr id="4" name="Shape 2"/>
          <p:cNvSpPr/>
          <p:nvPr/>
        </p:nvSpPr>
        <p:spPr>
          <a:xfrm>
            <a:off x="256032" y="731520"/>
            <a:ext cx="8595360" cy="27432"/>
          </a:xfrm>
          <a:prstGeom prst="rect">
            <a:avLst/>
          </a:prstGeom>
          <a:solidFill>
            <a:srgbClr val="E2E8F0"/>
          </a:solidFill>
          <a:ln w="12700">
            <a:solidFill>
              <a:srgbClr val="E2E8F0"/>
            </a:solidFill>
            <a:prstDash val="solid"/>
          </a:ln>
        </p:spPr>
      </p:sp>
      <p:sp>
        <p:nvSpPr>
          <p:cNvPr id="5" name="Shape 3"/>
          <p:cNvSpPr/>
          <p:nvPr/>
        </p:nvSpPr>
        <p:spPr>
          <a:xfrm>
            <a:off x="256032" y="960120"/>
            <a:ext cx="3794760" cy="3657600"/>
          </a:xfrm>
          <a:prstGeom prst="rect">
            <a:avLst/>
          </a:prstGeom>
          <a:solidFill>
            <a:srgbClr val="FEF2F2"/>
          </a:solidFill>
          <a:ln w="12700">
            <a:solidFill>
              <a:srgbClr val="FECACA"/>
            </a:solidFill>
            <a:prstDash val="solid"/>
          </a:ln>
        </p:spPr>
      </p:sp>
      <p:sp>
        <p:nvSpPr>
          <p:cNvPr id="6" name="Text 4"/>
          <p:cNvSpPr/>
          <p:nvPr/>
        </p:nvSpPr>
        <p:spPr>
          <a:xfrm>
            <a:off x="256032" y="1005840"/>
            <a:ext cx="3794760" cy="384048"/>
          </a:xfrm>
          <a:prstGeom prst="rect">
            <a:avLst/>
          </a:prstGeom>
          <a:noFill/>
          <a:ln/>
        </p:spPr>
        <p:txBody>
          <a:bodyPr wrap="square" rtlCol="0" anchor="ctr"/>
          <a:lstStyle/>
          <a:p>
            <a:pPr algn="ctr" indent="0" marL="0">
              <a:buNone/>
            </a:pPr>
            <a:r>
              <a:rPr lang="en-US" sz="1200" b="1" spc="200" kern="0" dirty="0">
                <a:solidFill>
                  <a:srgbClr val="E53E3E"/>
                </a:solidFill>
                <a:latin typeface="Calibri" pitchFamily="34" charset="0"/>
                <a:ea typeface="Calibri" pitchFamily="34" charset="-122"/>
                <a:cs typeface="Calibri" pitchFamily="34" charset="-120"/>
              </a:rPr>
              <a:t>BEFORE</a:t>
            </a:r>
            <a:endParaRPr lang="en-US" sz="1200" dirty="0"/>
          </a:p>
        </p:txBody>
      </p:sp>
      <p:sp>
        <p:nvSpPr>
          <p:cNvPr id="7" name="Text 5"/>
          <p:cNvSpPr/>
          <p:nvPr/>
        </p:nvSpPr>
        <p:spPr>
          <a:xfrm>
            <a:off x="438912" y="1463040"/>
            <a:ext cx="3429000" cy="283464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Code completion only</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Chat-based generation</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Single agent tasks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Repetitive manual loop</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QA as bottleneck</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Polarion updated last</a:t>
            </a:r>
            <a:endParaRPr lang="en-US" sz="1300" dirty="0"/>
          </a:p>
        </p:txBody>
      </p:sp>
      <p:sp>
        <p:nvSpPr>
          <p:cNvPr id="8" name="Text 6"/>
          <p:cNvSpPr/>
          <p:nvPr/>
        </p:nvSpPr>
        <p:spPr>
          <a:xfrm>
            <a:off x="4160520" y="2514600"/>
            <a:ext cx="822960" cy="685800"/>
          </a:xfrm>
          <a:prstGeom prst="rect">
            <a:avLst/>
          </a:prstGeom>
          <a:noFill/>
          <a:ln/>
        </p:spPr>
        <p:txBody>
          <a:bodyPr wrap="square" rtlCol="0" anchor="ctr"/>
          <a:lstStyle/>
          <a:p>
            <a:pPr algn="ctr" indent="0" marL="0">
              <a:buNone/>
            </a:pPr>
            <a:r>
              <a:rPr lang="en-US" sz="3800" b="1" dirty="0">
                <a:solidFill>
                  <a:srgbClr val="02C39A"/>
                </a:solidFill>
                <a:latin typeface="Calibri" pitchFamily="34" charset="0"/>
                <a:ea typeface="Calibri" pitchFamily="34" charset="-122"/>
                <a:cs typeface="Calibri" pitchFamily="34" charset="-120"/>
              </a:rPr>
              <a:t>→</a:t>
            </a:r>
            <a:endParaRPr lang="en-US" sz="3800" dirty="0"/>
          </a:p>
        </p:txBody>
      </p:sp>
      <p:sp>
        <p:nvSpPr>
          <p:cNvPr id="9" name="Shape 7"/>
          <p:cNvSpPr/>
          <p:nvPr/>
        </p:nvSpPr>
        <p:spPr>
          <a:xfrm>
            <a:off x="5093208" y="960120"/>
            <a:ext cx="3794760" cy="3657600"/>
          </a:xfrm>
          <a:prstGeom prst="rect">
            <a:avLst/>
          </a:prstGeom>
          <a:solidFill>
            <a:srgbClr val="F0FDF4"/>
          </a:solidFill>
          <a:ln w="12700">
            <a:solidFill>
              <a:srgbClr val="86EFAC"/>
            </a:solidFill>
            <a:prstDash val="solid"/>
          </a:ln>
        </p:spPr>
      </p:sp>
      <p:sp>
        <p:nvSpPr>
          <p:cNvPr id="10" name="Text 8"/>
          <p:cNvSpPr/>
          <p:nvPr/>
        </p:nvSpPr>
        <p:spPr>
          <a:xfrm>
            <a:off x="5093208" y="1005840"/>
            <a:ext cx="3794760" cy="384048"/>
          </a:xfrm>
          <a:prstGeom prst="rect">
            <a:avLst/>
          </a:prstGeom>
          <a:noFill/>
          <a:ln/>
        </p:spPr>
        <p:txBody>
          <a:bodyPr wrap="square" rtlCol="0" anchor="ctr"/>
          <a:lstStyle/>
          <a:p>
            <a:pPr algn="ctr" indent="0" marL="0">
              <a:buNone/>
            </a:pPr>
            <a:r>
              <a:rPr lang="en-US" sz="1200" b="1" spc="200" kern="0" dirty="0">
                <a:solidFill>
                  <a:srgbClr val="16A34A"/>
                </a:solidFill>
                <a:latin typeface="Calibri" pitchFamily="34" charset="0"/>
                <a:ea typeface="Calibri" pitchFamily="34" charset="-122"/>
                <a:cs typeface="Calibri" pitchFamily="34" charset="-120"/>
              </a:rPr>
              <a:t>AFTER</a:t>
            </a:r>
            <a:endParaRPr lang="en-US" sz="1200" dirty="0"/>
          </a:p>
        </p:txBody>
      </p:sp>
      <p:sp>
        <p:nvSpPr>
          <p:cNvPr id="11" name="Text 9"/>
          <p:cNvSpPr/>
          <p:nvPr/>
        </p:nvSpPr>
        <p:spPr>
          <a:xfrm>
            <a:off x="5276088" y="1463040"/>
            <a:ext cx="3429000" cy="283464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Coordinated multi-agent teams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Agents handle the repetitive loop</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We focus on judgment &amp; edge cases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Full traceability by default</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Already running in our team</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No new vendor needed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64592"/>
            <a:ext cx="8595360" cy="50292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Tools We're Already Using</a:t>
            </a:r>
            <a:endParaRPr lang="en-US" sz="2600" dirty="0"/>
          </a:p>
        </p:txBody>
      </p:sp>
      <p:sp>
        <p:nvSpPr>
          <p:cNvPr id="4" name="Shape 2"/>
          <p:cNvSpPr/>
          <p:nvPr/>
        </p:nvSpPr>
        <p:spPr>
          <a:xfrm>
            <a:off x="256032" y="731520"/>
            <a:ext cx="8595360" cy="27432"/>
          </a:xfrm>
          <a:prstGeom prst="rect">
            <a:avLst/>
          </a:prstGeom>
          <a:solidFill>
            <a:srgbClr val="E2E8F0"/>
          </a:solidFill>
          <a:ln w="12700">
            <a:solidFill>
              <a:srgbClr val="E2E8F0"/>
            </a:solidFill>
            <a:prstDash val="solid"/>
          </a:ln>
        </p:spPr>
      </p:sp>
      <p:sp>
        <p:nvSpPr>
          <p:cNvPr id="5" name="Shape 3"/>
          <p:cNvSpPr/>
          <p:nvPr/>
        </p:nvSpPr>
        <p:spPr>
          <a:xfrm>
            <a:off x="256032" y="1005840"/>
            <a:ext cx="1965960" cy="35204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56032" y="1005840"/>
            <a:ext cx="1965960" cy="201168"/>
          </a:xfrm>
          <a:prstGeom prst="rect">
            <a:avLst/>
          </a:prstGeom>
          <a:solidFill>
            <a:srgbClr val="065A82"/>
          </a:solidFill>
          <a:ln w="12700">
            <a:solidFill>
              <a:srgbClr val="065A82"/>
            </a:solidFill>
            <a:prstDash val="solid"/>
          </a:ln>
        </p:spPr>
      </p:sp>
      <p:pic>
        <p:nvPicPr>
          <p:cNvPr id="7" name="Image 0" descr="preencoded.png">    </p:cNvPr>
          <p:cNvPicPr>
            <a:picLocks noChangeAspect="1"/>
          </p:cNvPicPr>
          <p:nvPr/>
        </p:nvPicPr>
        <p:blipFill>
          <a:blip r:embed="rId1"/>
          <a:stretch>
            <a:fillRect/>
          </a:stretch>
        </p:blipFill>
        <p:spPr>
          <a:xfrm>
            <a:off x="960120" y="1353312"/>
            <a:ext cx="548640" cy="548640"/>
          </a:xfrm>
          <a:prstGeom prst="rect">
            <a:avLst/>
          </a:prstGeom>
        </p:spPr>
      </p:pic>
      <p:sp>
        <p:nvSpPr>
          <p:cNvPr id="8" name="Text 5"/>
          <p:cNvSpPr/>
          <p:nvPr/>
        </p:nvSpPr>
        <p:spPr>
          <a:xfrm>
            <a:off x="347472" y="1984248"/>
            <a:ext cx="178308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Polarion ALM</a:t>
            </a:r>
            <a:endParaRPr lang="en-US" sz="1300" dirty="0"/>
          </a:p>
        </p:txBody>
      </p:sp>
      <p:sp>
        <p:nvSpPr>
          <p:cNvPr id="9" name="Text 6"/>
          <p:cNvSpPr/>
          <p:nvPr/>
        </p:nvSpPr>
        <p:spPr>
          <a:xfrm>
            <a:off x="347472" y="2487168"/>
            <a:ext cx="1783080" cy="10058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Requirements,</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test cases, test runs</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full traceability</a:t>
            </a:r>
            <a:endParaRPr lang="en-US" sz="1100" dirty="0"/>
          </a:p>
        </p:txBody>
      </p:sp>
      <p:sp>
        <p:nvSpPr>
          <p:cNvPr id="10" name="Shape 7"/>
          <p:cNvSpPr/>
          <p:nvPr/>
        </p:nvSpPr>
        <p:spPr>
          <a:xfrm>
            <a:off x="960120" y="3767328"/>
            <a:ext cx="548640" cy="548640"/>
          </a:xfrm>
          <a:prstGeom prst="ellipse">
            <a:avLst/>
          </a:prstGeom>
          <a:solidFill>
            <a:srgbClr val="065A82"/>
          </a:solidFill>
          <a:ln w="12700">
            <a:solidFill>
              <a:srgbClr val="065A82"/>
            </a:solidFill>
            <a:prstDash val="solid"/>
          </a:ln>
        </p:spPr>
      </p:sp>
      <p:sp>
        <p:nvSpPr>
          <p:cNvPr id="11" name="Text 8"/>
          <p:cNvSpPr/>
          <p:nvPr/>
        </p:nvSpPr>
        <p:spPr>
          <a:xfrm>
            <a:off x="960120" y="376732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Shape 9"/>
          <p:cNvSpPr/>
          <p:nvPr/>
        </p:nvSpPr>
        <p:spPr>
          <a:xfrm>
            <a:off x="2432304" y="1005840"/>
            <a:ext cx="1965960" cy="35204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3" name="Shape 10"/>
          <p:cNvSpPr/>
          <p:nvPr/>
        </p:nvSpPr>
        <p:spPr>
          <a:xfrm>
            <a:off x="2432304" y="1005840"/>
            <a:ext cx="1965960" cy="201168"/>
          </a:xfrm>
          <a:prstGeom prst="rect">
            <a:avLst/>
          </a:prstGeom>
          <a:solidFill>
            <a:srgbClr val="1C7293"/>
          </a:solidFill>
          <a:ln w="12700">
            <a:solidFill>
              <a:srgbClr val="1C7293"/>
            </a:solidFill>
            <a:prstDash val="solid"/>
          </a:ln>
        </p:spPr>
      </p:sp>
      <p:pic>
        <p:nvPicPr>
          <p:cNvPr id="14" name="Image 1" descr="preencoded.png">    </p:cNvPr>
          <p:cNvPicPr>
            <a:picLocks noChangeAspect="1"/>
          </p:cNvPicPr>
          <p:nvPr/>
        </p:nvPicPr>
        <p:blipFill>
          <a:blip r:embed="rId2"/>
          <a:stretch>
            <a:fillRect/>
          </a:stretch>
        </p:blipFill>
        <p:spPr>
          <a:xfrm>
            <a:off x="3136392" y="1353312"/>
            <a:ext cx="548640" cy="548640"/>
          </a:xfrm>
          <a:prstGeom prst="rect">
            <a:avLst/>
          </a:prstGeom>
        </p:spPr>
      </p:pic>
      <p:sp>
        <p:nvSpPr>
          <p:cNvPr id="15" name="Text 11"/>
          <p:cNvSpPr/>
          <p:nvPr/>
        </p:nvSpPr>
        <p:spPr>
          <a:xfrm>
            <a:off x="2523744" y="1984248"/>
            <a:ext cx="178308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polarion-cli</a:t>
            </a:r>
            <a:endParaRPr lang="en-US" sz="1300" dirty="0"/>
          </a:p>
        </p:txBody>
      </p:sp>
      <p:sp>
        <p:nvSpPr>
          <p:cNvPr id="16" name="Text 12"/>
          <p:cNvSpPr/>
          <p:nvPr/>
        </p:nvSpPr>
        <p:spPr>
          <a:xfrm>
            <a:off x="2523744" y="2487168"/>
            <a:ext cx="1783080" cy="10058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Python CLI — secure</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bridge to Polarion</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no exposed credentials</a:t>
            </a:r>
            <a:endParaRPr lang="en-US" sz="1100" dirty="0"/>
          </a:p>
        </p:txBody>
      </p:sp>
      <p:sp>
        <p:nvSpPr>
          <p:cNvPr id="17" name="Shape 13"/>
          <p:cNvSpPr/>
          <p:nvPr/>
        </p:nvSpPr>
        <p:spPr>
          <a:xfrm>
            <a:off x="3136392" y="3767328"/>
            <a:ext cx="548640" cy="548640"/>
          </a:xfrm>
          <a:prstGeom prst="ellipse">
            <a:avLst/>
          </a:prstGeom>
          <a:solidFill>
            <a:srgbClr val="1C7293"/>
          </a:solidFill>
          <a:ln w="12700">
            <a:solidFill>
              <a:srgbClr val="1C7293"/>
            </a:solidFill>
            <a:prstDash val="solid"/>
          </a:ln>
        </p:spPr>
      </p:sp>
      <p:sp>
        <p:nvSpPr>
          <p:cNvPr id="18" name="Text 14"/>
          <p:cNvSpPr/>
          <p:nvPr/>
        </p:nvSpPr>
        <p:spPr>
          <a:xfrm>
            <a:off x="3136392" y="376732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5"/>
          <p:cNvSpPr/>
          <p:nvPr/>
        </p:nvSpPr>
        <p:spPr>
          <a:xfrm>
            <a:off x="4608576" y="1005840"/>
            <a:ext cx="1965960" cy="35204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6"/>
          <p:cNvSpPr/>
          <p:nvPr/>
        </p:nvSpPr>
        <p:spPr>
          <a:xfrm>
            <a:off x="4608576" y="1005840"/>
            <a:ext cx="1965960" cy="201168"/>
          </a:xfrm>
          <a:prstGeom prst="rect">
            <a:avLst/>
          </a:prstGeom>
          <a:solidFill>
            <a:srgbClr val="7C3AED"/>
          </a:solidFill>
          <a:ln w="12700">
            <a:solidFill>
              <a:srgbClr val="7C3AED"/>
            </a:solidFill>
            <a:prstDash val="solid"/>
          </a:ln>
        </p:spPr>
      </p:sp>
      <p:pic>
        <p:nvPicPr>
          <p:cNvPr id="21" name="Image 2" descr="preencoded.png">    </p:cNvPr>
          <p:cNvPicPr>
            <a:picLocks noChangeAspect="1"/>
          </p:cNvPicPr>
          <p:nvPr/>
        </p:nvPicPr>
        <p:blipFill>
          <a:blip r:embed="rId3"/>
          <a:stretch>
            <a:fillRect/>
          </a:stretch>
        </p:blipFill>
        <p:spPr>
          <a:xfrm>
            <a:off x="5312664" y="1353312"/>
            <a:ext cx="548640" cy="548640"/>
          </a:xfrm>
          <a:prstGeom prst="rect">
            <a:avLst/>
          </a:prstGeom>
        </p:spPr>
      </p:pic>
      <p:sp>
        <p:nvSpPr>
          <p:cNvPr id="22" name="Text 17"/>
          <p:cNvSpPr/>
          <p:nvPr/>
        </p:nvSpPr>
        <p:spPr>
          <a:xfrm>
            <a:off x="4700016" y="1984248"/>
            <a:ext cx="178308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VS Code Agents</a:t>
            </a:r>
            <a:endParaRPr lang="en-US" sz="1300" dirty="0"/>
          </a:p>
        </p:txBody>
      </p:sp>
      <p:sp>
        <p:nvSpPr>
          <p:cNvPr id="23" name="Text 18"/>
          <p:cNvSpPr/>
          <p:nvPr/>
        </p:nvSpPr>
        <p:spPr>
          <a:xfrm>
            <a:off x="4700016" y="2487168"/>
            <a:ext cx="1783080" cy="10058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Where agents live</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and collaborate</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(Copilot / custom)</a:t>
            </a:r>
            <a:endParaRPr lang="en-US" sz="1100" dirty="0"/>
          </a:p>
        </p:txBody>
      </p:sp>
      <p:sp>
        <p:nvSpPr>
          <p:cNvPr id="24" name="Shape 19"/>
          <p:cNvSpPr/>
          <p:nvPr/>
        </p:nvSpPr>
        <p:spPr>
          <a:xfrm>
            <a:off x="5312664" y="3767328"/>
            <a:ext cx="548640" cy="548640"/>
          </a:xfrm>
          <a:prstGeom prst="ellipse">
            <a:avLst/>
          </a:prstGeom>
          <a:solidFill>
            <a:srgbClr val="7C3AED"/>
          </a:solidFill>
          <a:ln w="12700">
            <a:solidFill>
              <a:srgbClr val="7C3AED"/>
            </a:solidFill>
            <a:prstDash val="solid"/>
          </a:ln>
        </p:spPr>
      </p:sp>
      <p:sp>
        <p:nvSpPr>
          <p:cNvPr id="25" name="Text 20"/>
          <p:cNvSpPr/>
          <p:nvPr/>
        </p:nvSpPr>
        <p:spPr>
          <a:xfrm>
            <a:off x="5312664" y="376732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Shape 21"/>
          <p:cNvSpPr/>
          <p:nvPr/>
        </p:nvSpPr>
        <p:spPr>
          <a:xfrm>
            <a:off x="6784848" y="1005840"/>
            <a:ext cx="1965960" cy="35204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2"/>
          <p:cNvSpPr/>
          <p:nvPr/>
        </p:nvSpPr>
        <p:spPr>
          <a:xfrm>
            <a:off x="6784848" y="1005840"/>
            <a:ext cx="1965960" cy="201168"/>
          </a:xfrm>
          <a:prstGeom prst="rect">
            <a:avLst/>
          </a:prstGeom>
          <a:solidFill>
            <a:srgbClr val="D97706"/>
          </a:solidFill>
          <a:ln w="12700">
            <a:solidFill>
              <a:srgbClr val="D97706"/>
            </a:solidFill>
            <a:prstDash val="solid"/>
          </a:ln>
        </p:spPr>
      </p:sp>
      <p:pic>
        <p:nvPicPr>
          <p:cNvPr id="28" name="Image 3" descr="preencoded.png">    </p:cNvPr>
          <p:cNvPicPr>
            <a:picLocks noChangeAspect="1"/>
          </p:cNvPicPr>
          <p:nvPr/>
        </p:nvPicPr>
        <p:blipFill>
          <a:blip r:embed="rId4"/>
          <a:stretch>
            <a:fillRect/>
          </a:stretch>
        </p:blipFill>
        <p:spPr>
          <a:xfrm>
            <a:off x="7488936" y="1353312"/>
            <a:ext cx="548640" cy="548640"/>
          </a:xfrm>
          <a:prstGeom prst="rect">
            <a:avLst/>
          </a:prstGeom>
        </p:spPr>
      </p:pic>
      <p:sp>
        <p:nvSpPr>
          <p:cNvPr id="29" name="Text 23"/>
          <p:cNvSpPr/>
          <p:nvPr/>
        </p:nvSpPr>
        <p:spPr>
          <a:xfrm>
            <a:off x="6876288" y="1984248"/>
            <a:ext cx="178308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Test Suite</a:t>
            </a:r>
            <a:endParaRPr lang="en-US" sz="1300" dirty="0"/>
          </a:p>
        </p:txBody>
      </p:sp>
      <p:sp>
        <p:nvSpPr>
          <p:cNvPr id="30" name="Text 24"/>
          <p:cNvSpPr/>
          <p:nvPr/>
        </p:nvSpPr>
        <p:spPr>
          <a:xfrm>
            <a:off x="6876288" y="2487168"/>
            <a:ext cx="1783080" cy="10058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pytest / your framework</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automated tests</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marked with IDs</a:t>
            </a:r>
            <a:endParaRPr lang="en-US" sz="1100" dirty="0"/>
          </a:p>
        </p:txBody>
      </p:sp>
      <p:sp>
        <p:nvSpPr>
          <p:cNvPr id="31" name="Shape 25"/>
          <p:cNvSpPr/>
          <p:nvPr/>
        </p:nvSpPr>
        <p:spPr>
          <a:xfrm>
            <a:off x="7488936" y="3767328"/>
            <a:ext cx="548640" cy="548640"/>
          </a:xfrm>
          <a:prstGeom prst="ellipse">
            <a:avLst/>
          </a:prstGeom>
          <a:solidFill>
            <a:srgbClr val="D97706"/>
          </a:solidFill>
          <a:ln w="12700">
            <a:solidFill>
              <a:srgbClr val="D97706"/>
            </a:solidFill>
            <a:prstDash val="solid"/>
          </a:ln>
        </p:spPr>
      </p:sp>
      <p:sp>
        <p:nvSpPr>
          <p:cNvPr id="32" name="Text 26"/>
          <p:cNvSpPr/>
          <p:nvPr/>
        </p:nvSpPr>
        <p:spPr>
          <a:xfrm>
            <a:off x="7488936" y="376732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3" name="Text 27"/>
          <p:cNvSpPr/>
          <p:nvPr/>
        </p:nvSpPr>
        <p:spPr>
          <a:xfrm>
            <a:off x="2221992" y="2560320"/>
            <a:ext cx="210312" cy="36576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a:t>
            </a:r>
            <a:endParaRPr lang="en-US" sz="1300" dirty="0"/>
          </a:p>
        </p:txBody>
      </p:sp>
      <p:sp>
        <p:nvSpPr>
          <p:cNvPr id="34" name="Text 28"/>
          <p:cNvSpPr/>
          <p:nvPr/>
        </p:nvSpPr>
        <p:spPr>
          <a:xfrm>
            <a:off x="4398264" y="2560320"/>
            <a:ext cx="210312" cy="36576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a:t>
            </a:r>
            <a:endParaRPr lang="en-US" sz="1300" dirty="0"/>
          </a:p>
        </p:txBody>
      </p:sp>
      <p:sp>
        <p:nvSpPr>
          <p:cNvPr id="35" name="Text 29"/>
          <p:cNvSpPr/>
          <p:nvPr/>
        </p:nvSpPr>
        <p:spPr>
          <a:xfrm>
            <a:off x="6574536" y="2560320"/>
            <a:ext cx="210312" cy="36576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91440" cy="5143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164592"/>
            <a:ext cx="8595360" cy="502920"/>
          </a:xfrm>
          <a:prstGeom prst="rect">
            <a:avLst/>
          </a:prstGeom>
          <a:noFill/>
        </p:spPr>
        <p:txBody>
          <a:bodyPr wrap="square" lIns="0" rIns="0" tIns="0" bIns="0" anchor="ctr">
            <a:spAutoFit/>
          </a:bodyPr>
          <a:lstStyle/>
          <a:p>
            <a:pPr algn="l"/>
            <a:r>
              <a:rPr sz="2400" b="1">
                <a:solidFill>
                  <a:srgbClr val="1E293B"/>
                </a:solidFill>
                <a:latin typeface="Calibri"/>
              </a:rPr>
              <a:t>The Team — Humans + Agents (Streamlined)</a:t>
            </a:r>
          </a:p>
        </p:txBody>
      </p:sp>
      <p:sp>
        <p:nvSpPr>
          <p:cNvPr id="4" name="TextBox 3"/>
          <p:cNvSpPr txBox="1"/>
          <p:nvPr/>
        </p:nvSpPr>
        <p:spPr>
          <a:xfrm>
            <a:off x="256032" y="658368"/>
            <a:ext cx="8595360" cy="274320"/>
          </a:xfrm>
          <a:prstGeom prst="rect">
            <a:avLst/>
          </a:prstGeom>
          <a:noFill/>
        </p:spPr>
        <p:txBody>
          <a:bodyPr wrap="square" lIns="0" rIns="0" tIns="0" bIns="0" anchor="t">
            <a:spAutoFit/>
          </a:bodyPr>
          <a:lstStyle/>
          <a:p>
            <a:pPr algn="l"/>
            <a:r>
              <a:rPr sz="1100" b="0">
                <a:solidFill>
                  <a:srgbClr val="4A5568"/>
                </a:solidFill>
                <a:latin typeface="Calibri"/>
              </a:rPr>
              <a:t>3 humans · 3 required agents · 2 optional agents (on request)</a:t>
            </a:r>
          </a:p>
        </p:txBody>
      </p:sp>
      <p:sp>
        <p:nvSpPr>
          <p:cNvPr id="5" name="Rectangle 4"/>
          <p:cNvSpPr/>
          <p:nvPr/>
        </p:nvSpPr>
        <p:spPr>
          <a:xfrm>
            <a:off x="256032" y="1005840"/>
            <a:ext cx="8631936" cy="1417320"/>
          </a:xfrm>
          <a:prstGeom prst="rect">
            <a:avLst/>
          </a:prstGeom>
          <a:noFill/>
          <a:ln w="12700">
            <a:solidFill>
              <a:srgbClr val="FFFBEB"/>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1480" y="1060704"/>
            <a:ext cx="3657600" cy="256032"/>
          </a:xfrm>
          <a:prstGeom prst="rect">
            <a:avLst/>
          </a:prstGeom>
          <a:noFill/>
        </p:spPr>
        <p:txBody>
          <a:bodyPr wrap="square" lIns="0" rIns="0" tIns="0" bIns="0" anchor="t">
            <a:spAutoFit/>
          </a:bodyPr>
          <a:lstStyle/>
          <a:p>
            <a:pPr algn="l"/>
            <a:r>
              <a:rPr sz="1000" b="1">
                <a:solidFill>
                  <a:srgbClr val="D97706"/>
                </a:solidFill>
                <a:latin typeface="Calibri"/>
              </a:rPr>
              <a:t>👤  HUMAN ROLES</a:t>
            </a:r>
          </a:p>
        </p:txBody>
      </p:sp>
      <p:sp>
        <p:nvSpPr>
          <p:cNvPr id="7" name="Rectangle 6"/>
          <p:cNvSpPr/>
          <p:nvPr/>
        </p:nvSpPr>
        <p:spPr>
          <a:xfrm>
            <a:off x="411480" y="1371600"/>
            <a:ext cx="2697480" cy="1005840"/>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02920" y="1280160"/>
            <a:ext cx="310896" cy="201168"/>
          </a:xfrm>
          <a:prstGeom prst="roundRect">
            <a:avLst>
              <a:gd name="adj" fmla="val 50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H1</a:t>
            </a:r>
          </a:p>
        </p:txBody>
      </p:sp>
      <p:sp>
        <p:nvSpPr>
          <p:cNvPr id="9" name="TextBox 8"/>
          <p:cNvSpPr txBox="1"/>
          <p:nvPr/>
        </p:nvSpPr>
        <p:spPr>
          <a:xfrm>
            <a:off x="548640" y="1517904"/>
            <a:ext cx="2423160" cy="274320"/>
          </a:xfrm>
          <a:prstGeom prst="rect">
            <a:avLst/>
          </a:prstGeom>
          <a:noFill/>
        </p:spPr>
        <p:txBody>
          <a:bodyPr wrap="square" lIns="0" rIns="0" tIns="0" bIns="0" anchor="t">
            <a:spAutoFit/>
          </a:bodyPr>
          <a:lstStyle/>
          <a:p>
            <a:pPr algn="l"/>
            <a:r>
              <a:rPr sz="1200" b="1">
                <a:solidFill>
                  <a:srgbClr val="1E293B"/>
                </a:solidFill>
                <a:latin typeface="Calibri"/>
              </a:rPr>
              <a:t>Provides POLARION_ID</a:t>
            </a:r>
          </a:p>
        </p:txBody>
      </p:sp>
      <p:sp>
        <p:nvSpPr>
          <p:cNvPr id="10" name="TextBox 9"/>
          <p:cNvSpPr txBox="1"/>
          <p:nvPr/>
        </p:nvSpPr>
        <p:spPr>
          <a:xfrm>
            <a:off x="548640" y="1792224"/>
            <a:ext cx="2423160" cy="548640"/>
          </a:xfrm>
          <a:prstGeom prst="rect">
            <a:avLst/>
          </a:prstGeom>
          <a:noFill/>
        </p:spPr>
        <p:txBody>
          <a:bodyPr wrap="square" lIns="0" rIns="0" tIns="0" bIns="0" anchor="t">
            <a:spAutoFit/>
          </a:bodyPr>
          <a:lstStyle/>
          <a:p>
            <a:pPr algn="l"/>
            <a:r>
              <a:rPr sz="950" b="0">
                <a:solidFill>
                  <a:srgbClr val="4A5568"/>
                </a:solidFill>
                <a:latin typeface="Calibri"/>
              </a:rPr>
              <a:t>“analyse requirement</a:t>
            </a:r>
          </a:p>
          <a:p>
            <a:pPr algn="l"/>
            <a:r>
              <a:rPr sz="950" b="0">
                <a:solidFill>
                  <a:srgbClr val="4A5568"/>
                </a:solidFill>
                <a:latin typeface="Calibri"/>
              </a:rPr>
              <a:t>0169-12345”</a:t>
            </a:r>
          </a:p>
          <a:p>
            <a:pPr algn="l"/>
            <a:r>
              <a:rPr sz="950" b="0">
                <a:solidFill>
                  <a:srgbClr val="4A5568"/>
                </a:solidFill>
                <a:latin typeface="Calibri"/>
              </a:rPr>
              <a:t>Kicks off the loop</a:t>
            </a:r>
          </a:p>
        </p:txBody>
      </p:sp>
      <p:sp>
        <p:nvSpPr>
          <p:cNvPr id="11" name="Rectangle 10"/>
          <p:cNvSpPr/>
          <p:nvPr/>
        </p:nvSpPr>
        <p:spPr>
          <a:xfrm>
            <a:off x="3227832" y="1371600"/>
            <a:ext cx="2697480" cy="1005840"/>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3319272" y="1280160"/>
            <a:ext cx="310896" cy="201168"/>
          </a:xfrm>
          <a:prstGeom prst="roundRect">
            <a:avLst>
              <a:gd name="adj" fmla="val 50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H2</a:t>
            </a:r>
          </a:p>
        </p:txBody>
      </p:sp>
      <p:sp>
        <p:nvSpPr>
          <p:cNvPr id="13" name="TextBox 12"/>
          <p:cNvSpPr txBox="1"/>
          <p:nvPr/>
        </p:nvSpPr>
        <p:spPr>
          <a:xfrm>
            <a:off x="3364992" y="1517904"/>
            <a:ext cx="2423160" cy="274320"/>
          </a:xfrm>
          <a:prstGeom prst="rect">
            <a:avLst/>
          </a:prstGeom>
          <a:noFill/>
        </p:spPr>
        <p:txBody>
          <a:bodyPr wrap="square" lIns="0" rIns="0" tIns="0" bIns="0" anchor="t">
            <a:spAutoFit/>
          </a:bodyPr>
          <a:lstStyle/>
          <a:p>
            <a:pPr algn="l"/>
            <a:r>
              <a:rPr sz="1200" b="1">
                <a:solidFill>
                  <a:srgbClr val="1E293B"/>
                </a:solidFill>
                <a:latin typeface="Calibri"/>
              </a:rPr>
              <a:t>Implements &amp; Reviews</a:t>
            </a:r>
          </a:p>
        </p:txBody>
      </p:sp>
      <p:sp>
        <p:nvSpPr>
          <p:cNvPr id="14" name="TextBox 13"/>
          <p:cNvSpPr txBox="1"/>
          <p:nvPr/>
        </p:nvSpPr>
        <p:spPr>
          <a:xfrm>
            <a:off x="3364992" y="1792224"/>
            <a:ext cx="2423160" cy="548640"/>
          </a:xfrm>
          <a:prstGeom prst="rect">
            <a:avLst/>
          </a:prstGeom>
          <a:noFill/>
        </p:spPr>
        <p:txBody>
          <a:bodyPr wrap="square" lIns="0" rIns="0" tIns="0" bIns="0" anchor="t">
            <a:spAutoFit/>
          </a:bodyPr>
          <a:lstStyle/>
          <a:p>
            <a:pPr algn="l"/>
            <a:r>
              <a:rPr sz="950" b="0">
                <a:solidFill>
                  <a:srgbClr val="4A5568"/>
                </a:solidFill>
                <a:latin typeface="Calibri"/>
              </a:rPr>
              <a:t>Uses risks + TCs as guide</a:t>
            </a:r>
          </a:p>
          <a:p>
            <a:pPr algn="l"/>
            <a:r>
              <a:rPr sz="950" b="0">
                <a:solidFill>
                  <a:srgbClr val="4A5568"/>
                </a:solidFill>
                <a:latin typeface="Calibri"/>
              </a:rPr>
              <a:t>High-level TDD</a:t>
            </a:r>
          </a:p>
          <a:p>
            <a:pPr algn="l"/>
            <a:r>
              <a:rPr sz="950" b="0">
                <a:solidFill>
                  <a:srgbClr val="4A5568"/>
                </a:solidFill>
                <a:latin typeface="Calibri"/>
              </a:rPr>
              <a:t>Code review by team</a:t>
            </a:r>
          </a:p>
        </p:txBody>
      </p:sp>
      <p:sp>
        <p:nvSpPr>
          <p:cNvPr id="15" name="Rectangle 14"/>
          <p:cNvSpPr/>
          <p:nvPr/>
        </p:nvSpPr>
        <p:spPr>
          <a:xfrm>
            <a:off x="6044184" y="1371600"/>
            <a:ext cx="2697480" cy="1005840"/>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135624" y="1280160"/>
            <a:ext cx="310896" cy="201168"/>
          </a:xfrm>
          <a:prstGeom prst="roundRect">
            <a:avLst>
              <a:gd name="adj" fmla="val 50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H3</a:t>
            </a:r>
          </a:p>
        </p:txBody>
      </p:sp>
      <p:sp>
        <p:nvSpPr>
          <p:cNvPr id="17" name="TextBox 16"/>
          <p:cNvSpPr txBox="1"/>
          <p:nvPr/>
        </p:nvSpPr>
        <p:spPr>
          <a:xfrm>
            <a:off x="6181344" y="1517904"/>
            <a:ext cx="2423160" cy="274320"/>
          </a:xfrm>
          <a:prstGeom prst="rect">
            <a:avLst/>
          </a:prstGeom>
          <a:noFill/>
        </p:spPr>
        <p:txBody>
          <a:bodyPr wrap="square" lIns="0" rIns="0" tIns="0" bIns="0" anchor="t">
            <a:spAutoFit/>
          </a:bodyPr>
          <a:lstStyle/>
          <a:p>
            <a:pPr algn="l"/>
            <a:r>
              <a:rPr sz="1200" b="1">
                <a:solidFill>
                  <a:srgbClr val="1E293B"/>
                </a:solidFill>
                <a:latin typeface="Calibri"/>
              </a:rPr>
              <a:t>Closes the QA Loop</a:t>
            </a:r>
          </a:p>
        </p:txBody>
      </p:sp>
      <p:sp>
        <p:nvSpPr>
          <p:cNvPr id="18" name="TextBox 17"/>
          <p:cNvSpPr txBox="1"/>
          <p:nvPr/>
        </p:nvSpPr>
        <p:spPr>
          <a:xfrm>
            <a:off x="6181344" y="1792224"/>
            <a:ext cx="2423160" cy="548640"/>
          </a:xfrm>
          <a:prstGeom prst="rect">
            <a:avLst/>
          </a:prstGeom>
          <a:noFill/>
        </p:spPr>
        <p:txBody>
          <a:bodyPr wrap="square" lIns="0" rIns="0" tIns="0" bIns="0" anchor="t">
            <a:spAutoFit/>
          </a:bodyPr>
          <a:lstStyle/>
          <a:p>
            <a:pPr algn="l"/>
            <a:r>
              <a:rPr sz="950" b="0">
                <a:solidFill>
                  <a:srgbClr val="4A5568"/>
                </a:solidFill>
                <a:latin typeface="Calibri"/>
              </a:rPr>
              <a:t>Creates TAR in Polarion</a:t>
            </a:r>
          </a:p>
          <a:p>
            <a:pPr algn="l"/>
            <a:r>
              <a:rPr sz="950" b="0">
                <a:solidFill>
                  <a:srgbClr val="4A5568"/>
                </a:solidFill>
                <a:latin typeface="Calibri"/>
              </a:rPr>
              <a:t>Links evidence</a:t>
            </a:r>
          </a:p>
          <a:p>
            <a:pPr algn="l"/>
            <a:r>
              <a:rPr sz="950" b="0">
                <a:solidFill>
                  <a:srgbClr val="4A5568"/>
                </a:solidFill>
                <a:latin typeface="Calibri"/>
              </a:rPr>
              <a:t>Completes traceability</a:t>
            </a:r>
          </a:p>
        </p:txBody>
      </p:sp>
      <p:sp>
        <p:nvSpPr>
          <p:cNvPr id="19" name="TextBox 18"/>
          <p:cNvSpPr txBox="1"/>
          <p:nvPr/>
        </p:nvSpPr>
        <p:spPr>
          <a:xfrm>
            <a:off x="411480" y="2606040"/>
            <a:ext cx="2286000" cy="256032"/>
          </a:xfrm>
          <a:prstGeom prst="rect">
            <a:avLst/>
          </a:prstGeom>
          <a:noFill/>
        </p:spPr>
        <p:txBody>
          <a:bodyPr wrap="square" lIns="0" rIns="0" tIns="0" bIns="0" anchor="t">
            <a:spAutoFit/>
          </a:bodyPr>
          <a:lstStyle/>
          <a:p>
            <a:pPr algn="l"/>
            <a:r>
              <a:rPr sz="1000" b="1">
                <a:solidFill>
                  <a:srgbClr val="1C7293"/>
                </a:solidFill>
                <a:latin typeface="Calibri"/>
              </a:rPr>
              <a:t>🤖  AGENT ROLES</a:t>
            </a:r>
          </a:p>
        </p:txBody>
      </p:sp>
      <p:sp>
        <p:nvSpPr>
          <p:cNvPr id="20" name="TextBox 19"/>
          <p:cNvSpPr txBox="1"/>
          <p:nvPr/>
        </p:nvSpPr>
        <p:spPr>
          <a:xfrm>
            <a:off x="411480" y="2606040"/>
            <a:ext cx="5212080" cy="256032"/>
          </a:xfrm>
          <a:prstGeom prst="rect">
            <a:avLst/>
          </a:prstGeom>
          <a:noFill/>
        </p:spPr>
        <p:txBody>
          <a:bodyPr wrap="square" lIns="0" rIns="0" tIns="0" bIns="0" anchor="t">
            <a:spAutoFit/>
          </a:bodyPr>
          <a:lstStyle/>
          <a:p>
            <a:pPr algn="r"/>
            <a:r>
              <a:rPr sz="850" b="1">
                <a:solidFill>
                  <a:srgbClr val="4A5568"/>
                </a:solidFill>
                <a:latin typeface="Calibri"/>
              </a:rPr>
              <a:t>Required · always run</a:t>
            </a:r>
          </a:p>
        </p:txBody>
      </p:sp>
      <p:sp>
        <p:nvSpPr>
          <p:cNvPr id="21" name="TextBox 20"/>
          <p:cNvSpPr txBox="1"/>
          <p:nvPr/>
        </p:nvSpPr>
        <p:spPr>
          <a:xfrm>
            <a:off x="6126480" y="2606040"/>
            <a:ext cx="2743200" cy="256032"/>
          </a:xfrm>
          <a:prstGeom prst="rect">
            <a:avLst/>
          </a:prstGeom>
          <a:noFill/>
        </p:spPr>
        <p:txBody>
          <a:bodyPr wrap="square" lIns="0" rIns="0" tIns="0" bIns="0" anchor="t">
            <a:spAutoFit/>
          </a:bodyPr>
          <a:lstStyle/>
          <a:p>
            <a:pPr algn="r"/>
            <a:r>
              <a:rPr sz="850" b="1">
                <a:solidFill>
                  <a:srgbClr val="7C3AED"/>
                </a:solidFill>
                <a:latin typeface="Calibri"/>
              </a:rPr>
              <a:t>Optional · on request</a:t>
            </a:r>
          </a:p>
        </p:txBody>
      </p:sp>
      <p:sp>
        <p:nvSpPr>
          <p:cNvPr id="22" name="Rectangle 21"/>
          <p:cNvSpPr/>
          <p:nvPr/>
        </p:nvSpPr>
        <p:spPr>
          <a:xfrm>
            <a:off x="411480" y="2926080"/>
            <a:ext cx="1627632" cy="20116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11480" y="2926080"/>
            <a:ext cx="1627632" cy="384048"/>
          </a:xfrm>
          <a:prstGeom prst="rect">
            <a:avLst/>
          </a:prstGeom>
          <a:solidFill>
            <a:srgbClr val="1C7293"/>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2920" y="2980944"/>
            <a:ext cx="1444752" cy="274320"/>
          </a:xfrm>
          <a:prstGeom prst="rect">
            <a:avLst/>
          </a:prstGeom>
          <a:noFill/>
        </p:spPr>
        <p:txBody>
          <a:bodyPr wrap="square" lIns="0" rIns="0" tIns="0" bIns="0" anchor="ctr">
            <a:spAutoFit/>
          </a:bodyPr>
          <a:lstStyle/>
          <a:p>
            <a:pPr algn="ctr"/>
            <a:r>
              <a:rPr sz="1200" b="1">
                <a:solidFill>
                  <a:srgbClr val="FFFFFF"/>
                </a:solidFill>
                <a:latin typeface="Calibri"/>
              </a:rPr>
              <a:t>A1</a:t>
            </a:r>
          </a:p>
        </p:txBody>
      </p:sp>
      <p:sp>
        <p:nvSpPr>
          <p:cNvPr id="25" name="TextBox 24"/>
          <p:cNvSpPr txBox="1"/>
          <p:nvPr/>
        </p:nvSpPr>
        <p:spPr>
          <a:xfrm>
            <a:off x="502920" y="3383280"/>
            <a:ext cx="1444752" cy="502920"/>
          </a:xfrm>
          <a:prstGeom prst="rect">
            <a:avLst/>
          </a:prstGeom>
          <a:noFill/>
        </p:spPr>
        <p:txBody>
          <a:bodyPr wrap="square" lIns="0" rIns="0" tIns="0" bIns="0" anchor="t">
            <a:spAutoFit/>
          </a:bodyPr>
          <a:lstStyle/>
          <a:p>
            <a:pPr algn="ctr"/>
            <a:r>
              <a:rPr sz="1250" b="1">
                <a:solidFill>
                  <a:srgbClr val="1E293B"/>
                </a:solidFill>
                <a:latin typeface="Calibri"/>
              </a:rPr>
              <a:t>Requirement</a:t>
            </a:r>
          </a:p>
          <a:p>
            <a:pPr algn="ctr"/>
            <a:r>
              <a:rPr sz="1250" b="1">
                <a:solidFill>
                  <a:srgbClr val="1E293B"/>
                </a:solidFill>
                <a:latin typeface="Calibri"/>
              </a:rPr>
              <a:t>Analyst</a:t>
            </a:r>
          </a:p>
        </p:txBody>
      </p:sp>
      <p:sp>
        <p:nvSpPr>
          <p:cNvPr id="26" name="TextBox 25"/>
          <p:cNvSpPr txBox="1"/>
          <p:nvPr/>
        </p:nvSpPr>
        <p:spPr>
          <a:xfrm>
            <a:off x="502920" y="3877056"/>
            <a:ext cx="1444752" cy="182880"/>
          </a:xfrm>
          <a:prstGeom prst="rect">
            <a:avLst/>
          </a:prstGeom>
          <a:noFill/>
        </p:spPr>
        <p:txBody>
          <a:bodyPr wrap="square" lIns="0" rIns="0" tIns="0" bIns="0" anchor="t">
            <a:spAutoFit/>
          </a:bodyPr>
          <a:lstStyle/>
          <a:p>
            <a:pPr algn="ctr"/>
            <a:r>
              <a:rPr sz="900" b="1">
                <a:solidFill>
                  <a:srgbClr val="1C7293"/>
                </a:solidFill>
                <a:latin typeface="Calibri"/>
              </a:rPr>
              <a:t>Opus</a:t>
            </a:r>
          </a:p>
        </p:txBody>
      </p:sp>
      <p:sp>
        <p:nvSpPr>
          <p:cNvPr id="27" name="TextBox 26"/>
          <p:cNvSpPr txBox="1"/>
          <p:nvPr/>
        </p:nvSpPr>
        <p:spPr>
          <a:xfrm>
            <a:off x="521208" y="4096512"/>
            <a:ext cx="1408176" cy="795528"/>
          </a:xfrm>
          <a:prstGeom prst="rect">
            <a:avLst/>
          </a:prstGeom>
          <a:noFill/>
        </p:spPr>
        <p:txBody>
          <a:bodyPr wrap="square" lIns="0" rIns="0" tIns="0" bIns="0" anchor="t">
            <a:spAutoFit/>
          </a:bodyPr>
          <a:lstStyle/>
          <a:p>
            <a:pPr algn="ctr"/>
            <a:r>
              <a:rPr sz="900" b="0">
                <a:solidFill>
                  <a:srgbClr val="4A5568"/>
                </a:solidFill>
                <a:latin typeface="Calibri"/>
              </a:rPr>
              <a:t>Readiness gate</a:t>
            </a:r>
          </a:p>
          <a:p>
            <a:pPr algn="ctr"/>
            <a:r>
              <a:rPr sz="900" b="0">
                <a:solidFill>
                  <a:srgbClr val="4A5568"/>
                </a:solidFill>
                <a:latin typeface="Calibri"/>
              </a:rPr>
              <a:t>Codebase grounding</a:t>
            </a:r>
          </a:p>
          <a:p>
            <a:pPr algn="ctr"/>
            <a:r>
              <a:rPr sz="900" b="0">
                <a:solidFill>
                  <a:srgbClr val="4A5568"/>
                </a:solidFill>
                <a:latin typeface="Calibri"/>
              </a:rPr>
              <a:t>Existing risks + TCs</a:t>
            </a:r>
          </a:p>
          <a:p>
            <a:pPr algn="ctr"/>
            <a:r>
              <a:rPr sz="900" b="0">
                <a:solidFill>
                  <a:srgbClr val="4A5568"/>
                </a:solidFill>
                <a:latin typeface="Calibri"/>
              </a:rPr>
              <a:t>Produces review doc</a:t>
            </a:r>
          </a:p>
        </p:txBody>
      </p:sp>
      <p:sp>
        <p:nvSpPr>
          <p:cNvPr id="28" name="Rectangle 27"/>
          <p:cNvSpPr/>
          <p:nvPr/>
        </p:nvSpPr>
        <p:spPr>
          <a:xfrm>
            <a:off x="2130552" y="2926080"/>
            <a:ext cx="1627632" cy="20116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130552" y="2926080"/>
            <a:ext cx="1627632" cy="384048"/>
          </a:xfrm>
          <a:prstGeom prst="rect">
            <a:avLst/>
          </a:prstGeom>
          <a:solidFill>
            <a:srgbClr val="065A82"/>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221992" y="2980944"/>
            <a:ext cx="1444752" cy="274320"/>
          </a:xfrm>
          <a:prstGeom prst="rect">
            <a:avLst/>
          </a:prstGeom>
          <a:noFill/>
        </p:spPr>
        <p:txBody>
          <a:bodyPr wrap="square" lIns="0" rIns="0" tIns="0" bIns="0" anchor="ctr">
            <a:spAutoFit/>
          </a:bodyPr>
          <a:lstStyle/>
          <a:p>
            <a:pPr algn="ctr"/>
            <a:r>
              <a:rPr sz="1200" b="1">
                <a:solidFill>
                  <a:srgbClr val="FFFFFF"/>
                </a:solidFill>
                <a:latin typeface="Calibri"/>
              </a:rPr>
              <a:t>A2</a:t>
            </a:r>
          </a:p>
        </p:txBody>
      </p:sp>
      <p:sp>
        <p:nvSpPr>
          <p:cNvPr id="31" name="TextBox 30"/>
          <p:cNvSpPr txBox="1"/>
          <p:nvPr/>
        </p:nvSpPr>
        <p:spPr>
          <a:xfrm>
            <a:off x="2221992" y="3383280"/>
            <a:ext cx="1444752" cy="502920"/>
          </a:xfrm>
          <a:prstGeom prst="rect">
            <a:avLst/>
          </a:prstGeom>
          <a:noFill/>
        </p:spPr>
        <p:txBody>
          <a:bodyPr wrap="square" lIns="0" rIns="0" tIns="0" bIns="0" anchor="t">
            <a:spAutoFit/>
          </a:bodyPr>
          <a:lstStyle/>
          <a:p>
            <a:pPr algn="ctr"/>
            <a:r>
              <a:rPr sz="1250" b="1">
                <a:solidFill>
                  <a:srgbClr val="1E293B"/>
                </a:solidFill>
                <a:latin typeface="Calibri"/>
              </a:rPr>
              <a:t>Polarion</a:t>
            </a:r>
          </a:p>
          <a:p>
            <a:pPr algn="ctr"/>
            <a:r>
              <a:rPr sz="1250" b="1">
                <a:solidFill>
                  <a:srgbClr val="1E293B"/>
                </a:solidFill>
                <a:latin typeface="Calibri"/>
              </a:rPr>
              <a:t>Writer</a:t>
            </a:r>
          </a:p>
        </p:txBody>
      </p:sp>
      <p:sp>
        <p:nvSpPr>
          <p:cNvPr id="32" name="TextBox 31"/>
          <p:cNvSpPr txBox="1"/>
          <p:nvPr/>
        </p:nvSpPr>
        <p:spPr>
          <a:xfrm>
            <a:off x="2240280" y="3950208"/>
            <a:ext cx="1408176" cy="941832"/>
          </a:xfrm>
          <a:prstGeom prst="rect">
            <a:avLst/>
          </a:prstGeom>
          <a:noFill/>
        </p:spPr>
        <p:txBody>
          <a:bodyPr wrap="square" lIns="0" rIns="0" tIns="0" bIns="0" anchor="t">
            <a:spAutoFit/>
          </a:bodyPr>
          <a:lstStyle/>
          <a:p>
            <a:pPr algn="ctr"/>
            <a:r>
              <a:rPr sz="900" b="0">
                <a:solidFill>
                  <a:srgbClr val="4A5568"/>
                </a:solidFill>
                <a:latin typeface="Calibri"/>
              </a:rPr>
              <a:t>Creates WIs</a:t>
            </a:r>
          </a:p>
          <a:p>
            <a:pPr algn="ctr"/>
            <a:r>
              <a:rPr sz="900" b="0">
                <a:solidFill>
                  <a:srgbClr val="4A5568"/>
                </a:solidFill>
                <a:latin typeface="Calibri"/>
              </a:rPr>
              <a:t>Sets FMEA ratings</a:t>
            </a:r>
          </a:p>
          <a:p>
            <a:pPr algn="ctr"/>
            <a:r>
              <a:rPr sz="900" b="0">
                <a:solidFill>
                  <a:srgbClr val="4A5568"/>
                </a:solidFill>
                <a:latin typeface="Calibri"/>
              </a:rPr>
              <a:t>Saves</a:t>
            </a:r>
          </a:p>
          <a:p>
            <a:pPr algn="ctr"/>
            <a:r>
              <a:rPr sz="900" b="0">
                <a:solidFill>
                  <a:srgbClr val="4A5568"/>
                </a:solidFill>
                <a:latin typeface="Calibri"/>
              </a:rPr>
              <a:t>tc_wi_mapping.csv</a:t>
            </a:r>
          </a:p>
        </p:txBody>
      </p:sp>
      <p:sp>
        <p:nvSpPr>
          <p:cNvPr id="33" name="Rectangle 32"/>
          <p:cNvSpPr/>
          <p:nvPr/>
        </p:nvSpPr>
        <p:spPr>
          <a:xfrm>
            <a:off x="3849624" y="2926080"/>
            <a:ext cx="1627632" cy="20116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849624" y="2926080"/>
            <a:ext cx="1627632" cy="384048"/>
          </a:xfrm>
          <a:prstGeom prst="rect">
            <a:avLst/>
          </a:prstGeom>
          <a:solidFill>
            <a:srgbClr val="16A34A"/>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941064" y="2980944"/>
            <a:ext cx="1444752" cy="274320"/>
          </a:xfrm>
          <a:prstGeom prst="rect">
            <a:avLst/>
          </a:prstGeom>
          <a:noFill/>
        </p:spPr>
        <p:txBody>
          <a:bodyPr wrap="square" lIns="0" rIns="0" tIns="0" bIns="0" anchor="ctr">
            <a:spAutoFit/>
          </a:bodyPr>
          <a:lstStyle/>
          <a:p>
            <a:pPr algn="ctr"/>
            <a:r>
              <a:rPr sz="1200" b="1">
                <a:solidFill>
                  <a:srgbClr val="FFFFFF"/>
                </a:solidFill>
                <a:latin typeface="Calibri"/>
              </a:rPr>
              <a:t>A3</a:t>
            </a:r>
          </a:p>
        </p:txBody>
      </p:sp>
      <p:sp>
        <p:nvSpPr>
          <p:cNvPr id="36" name="TextBox 35"/>
          <p:cNvSpPr txBox="1"/>
          <p:nvPr/>
        </p:nvSpPr>
        <p:spPr>
          <a:xfrm>
            <a:off x="3941064" y="3383280"/>
            <a:ext cx="1444752" cy="502920"/>
          </a:xfrm>
          <a:prstGeom prst="rect">
            <a:avLst/>
          </a:prstGeom>
          <a:noFill/>
        </p:spPr>
        <p:txBody>
          <a:bodyPr wrap="square" lIns="0" rIns="0" tIns="0" bIns="0" anchor="t">
            <a:spAutoFit/>
          </a:bodyPr>
          <a:lstStyle/>
          <a:p>
            <a:pPr algn="ctr"/>
            <a:r>
              <a:rPr sz="1250" b="1">
                <a:solidFill>
                  <a:srgbClr val="1E293B"/>
                </a:solidFill>
                <a:latin typeface="Calibri"/>
              </a:rPr>
              <a:t>Test</a:t>
            </a:r>
          </a:p>
          <a:p>
            <a:pPr algn="ctr"/>
            <a:r>
              <a:rPr sz="1250" b="1">
                <a:solidFill>
                  <a:srgbClr val="1E293B"/>
                </a:solidFill>
                <a:latin typeface="Calibri"/>
              </a:rPr>
              <a:t>Engineer</a:t>
            </a:r>
          </a:p>
        </p:txBody>
      </p:sp>
      <p:sp>
        <p:nvSpPr>
          <p:cNvPr id="37" name="TextBox 36"/>
          <p:cNvSpPr txBox="1"/>
          <p:nvPr/>
        </p:nvSpPr>
        <p:spPr>
          <a:xfrm>
            <a:off x="3959352" y="3950208"/>
            <a:ext cx="1408176" cy="941832"/>
          </a:xfrm>
          <a:prstGeom prst="rect">
            <a:avLst/>
          </a:prstGeom>
          <a:noFill/>
        </p:spPr>
        <p:txBody>
          <a:bodyPr wrap="square" lIns="0" rIns="0" tIns="0" bIns="0" anchor="t">
            <a:spAutoFit/>
          </a:bodyPr>
          <a:lstStyle/>
          <a:p>
            <a:pPr algn="ctr"/>
            <a:r>
              <a:rPr sz="900" b="0">
                <a:solidFill>
                  <a:srgbClr val="4A5568"/>
                </a:solidFill>
                <a:latin typeface="Calibri"/>
              </a:rPr>
              <a:t>Writes pytest funcs</a:t>
            </a:r>
          </a:p>
          <a:p>
            <a:pPr algn="ctr"/>
            <a:r>
              <a:rPr sz="900" b="0">
                <a:solidFill>
                  <a:srgbClr val="4A5568"/>
                </a:solidFill>
                <a:latin typeface="Calibri"/>
              </a:rPr>
              <a:t>Runs tests</a:t>
            </a:r>
          </a:p>
          <a:p>
            <a:pPr algn="ctr"/>
            <a:r>
              <a:rPr sz="900" b="0">
                <a:solidFill>
                  <a:srgbClr val="4A5568"/>
                </a:solidFill>
                <a:latin typeface="Calibri"/>
              </a:rPr>
              <a:t>Creates Polarion test</a:t>
            </a:r>
          </a:p>
          <a:p>
            <a:pPr algn="ctr"/>
            <a:r>
              <a:rPr sz="900" b="0">
                <a:solidFill>
                  <a:srgbClr val="4A5568"/>
                </a:solidFill>
                <a:latin typeface="Calibri"/>
              </a:rPr>
              <a:t>run + evidence</a:t>
            </a:r>
          </a:p>
        </p:txBody>
      </p:sp>
      <p:sp>
        <p:nvSpPr>
          <p:cNvPr id="38" name="Rectangle 37"/>
          <p:cNvSpPr/>
          <p:nvPr/>
        </p:nvSpPr>
        <p:spPr>
          <a:xfrm>
            <a:off x="5614416" y="3017520"/>
            <a:ext cx="9144" cy="18288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79008" y="2926080"/>
            <a:ext cx="1417320" cy="960120"/>
          </a:xfrm>
          <a:prstGeom prst="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70448" y="2971800"/>
            <a:ext cx="1234440" cy="182880"/>
          </a:xfrm>
          <a:prstGeom prst="rect">
            <a:avLst/>
          </a:prstGeom>
          <a:noFill/>
        </p:spPr>
        <p:txBody>
          <a:bodyPr wrap="square" lIns="0" rIns="0" tIns="0" bIns="0" anchor="t">
            <a:spAutoFit/>
          </a:bodyPr>
          <a:lstStyle/>
          <a:p>
            <a:pPr algn="l"/>
            <a:r>
              <a:rPr sz="800" b="1">
                <a:solidFill>
                  <a:srgbClr val="7C3AED"/>
                </a:solidFill>
                <a:latin typeface="Calibri"/>
              </a:rPr>
              <a:t>A4 · OPTIONAL</a:t>
            </a:r>
          </a:p>
        </p:txBody>
      </p:sp>
      <p:sp>
        <p:nvSpPr>
          <p:cNvPr id="41" name="TextBox 40"/>
          <p:cNvSpPr txBox="1"/>
          <p:nvPr/>
        </p:nvSpPr>
        <p:spPr>
          <a:xfrm>
            <a:off x="5870448" y="3154680"/>
            <a:ext cx="1234440" cy="365760"/>
          </a:xfrm>
          <a:prstGeom prst="rect">
            <a:avLst/>
          </a:prstGeom>
          <a:noFill/>
        </p:spPr>
        <p:txBody>
          <a:bodyPr wrap="square" lIns="0" rIns="0" tIns="0" bIns="0" anchor="t">
            <a:spAutoFit/>
          </a:bodyPr>
          <a:lstStyle/>
          <a:p>
            <a:pPr algn="l"/>
            <a:r>
              <a:rPr sz="1200" b="1">
                <a:solidFill>
                  <a:srgbClr val="1E293B"/>
                </a:solidFill>
                <a:latin typeface="Calibri"/>
              </a:rPr>
              <a:t>Code Reviewer</a:t>
            </a:r>
          </a:p>
        </p:txBody>
      </p:sp>
      <p:sp>
        <p:nvSpPr>
          <p:cNvPr id="42" name="TextBox 41"/>
          <p:cNvSpPr txBox="1"/>
          <p:nvPr/>
        </p:nvSpPr>
        <p:spPr>
          <a:xfrm>
            <a:off x="5870448" y="3493008"/>
            <a:ext cx="1234440" cy="365760"/>
          </a:xfrm>
          <a:prstGeom prst="rect">
            <a:avLst/>
          </a:prstGeom>
          <a:noFill/>
        </p:spPr>
        <p:txBody>
          <a:bodyPr wrap="square" lIns="0" rIns="0" tIns="0" bIns="0" anchor="t">
            <a:spAutoFit/>
          </a:bodyPr>
          <a:lstStyle/>
          <a:p>
            <a:pPr algn="l"/>
            <a:r>
              <a:rPr sz="900" b="0">
                <a:solidFill>
                  <a:srgbClr val="4A5568"/>
                </a:solidFill>
                <a:latin typeface="Calibri"/>
              </a:rPr>
              <a:t>AI-assisted implementation review</a:t>
            </a:r>
          </a:p>
        </p:txBody>
      </p:sp>
      <p:sp>
        <p:nvSpPr>
          <p:cNvPr id="43" name="Rectangle 42"/>
          <p:cNvSpPr/>
          <p:nvPr/>
        </p:nvSpPr>
        <p:spPr>
          <a:xfrm>
            <a:off x="5779008" y="3977640"/>
            <a:ext cx="1417320" cy="960120"/>
          </a:xfrm>
          <a:prstGeom prst="rect">
            <a:avLst/>
          </a:prstGeom>
          <a:solidFill>
            <a:srgbClr val="F5F3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870448" y="4023360"/>
            <a:ext cx="1234440" cy="182880"/>
          </a:xfrm>
          <a:prstGeom prst="rect">
            <a:avLst/>
          </a:prstGeom>
          <a:noFill/>
        </p:spPr>
        <p:txBody>
          <a:bodyPr wrap="square" lIns="0" rIns="0" tIns="0" bIns="0" anchor="t">
            <a:spAutoFit/>
          </a:bodyPr>
          <a:lstStyle/>
          <a:p>
            <a:pPr algn="l"/>
            <a:r>
              <a:rPr sz="800" b="1">
                <a:solidFill>
                  <a:srgbClr val="7C3AED"/>
                </a:solidFill>
                <a:latin typeface="Calibri"/>
              </a:rPr>
              <a:t>A5 · OPTIONAL</a:t>
            </a:r>
          </a:p>
        </p:txBody>
      </p:sp>
      <p:sp>
        <p:nvSpPr>
          <p:cNvPr id="45" name="TextBox 44"/>
          <p:cNvSpPr txBox="1"/>
          <p:nvPr/>
        </p:nvSpPr>
        <p:spPr>
          <a:xfrm>
            <a:off x="5870448" y="4206240"/>
            <a:ext cx="1234440" cy="365760"/>
          </a:xfrm>
          <a:prstGeom prst="rect">
            <a:avLst/>
          </a:prstGeom>
          <a:noFill/>
        </p:spPr>
        <p:txBody>
          <a:bodyPr wrap="square" lIns="0" rIns="0" tIns="0" bIns="0" anchor="t">
            <a:spAutoFit/>
          </a:bodyPr>
          <a:lstStyle/>
          <a:p>
            <a:pPr algn="l"/>
            <a:r>
              <a:rPr sz="1200" b="1">
                <a:solidFill>
                  <a:srgbClr val="1E293B"/>
                </a:solidFill>
                <a:latin typeface="Calibri"/>
              </a:rPr>
              <a:t>Feature Coder</a:t>
            </a:r>
          </a:p>
        </p:txBody>
      </p:sp>
      <p:sp>
        <p:nvSpPr>
          <p:cNvPr id="46" name="TextBox 45"/>
          <p:cNvSpPr txBox="1"/>
          <p:nvPr/>
        </p:nvSpPr>
        <p:spPr>
          <a:xfrm>
            <a:off x="5870448" y="4544568"/>
            <a:ext cx="1234440" cy="365760"/>
          </a:xfrm>
          <a:prstGeom prst="rect">
            <a:avLst/>
          </a:prstGeom>
          <a:noFill/>
        </p:spPr>
        <p:txBody>
          <a:bodyPr wrap="square" lIns="0" rIns="0" tIns="0" bIns="0" anchor="t">
            <a:spAutoFit/>
          </a:bodyPr>
          <a:lstStyle/>
          <a:p>
            <a:pPr algn="l"/>
            <a:r>
              <a:rPr sz="900" b="0">
                <a:solidFill>
                  <a:srgbClr val="4A5568"/>
                </a:solidFill>
                <a:latin typeface="Calibri"/>
              </a:rPr>
              <a:t>AI-assisted implementation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91440" cy="5143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 y="137160"/>
            <a:ext cx="8595360" cy="457200"/>
          </a:xfrm>
          <a:prstGeom prst="rect">
            <a:avLst/>
          </a:prstGeom>
          <a:noFill/>
        </p:spPr>
        <p:txBody>
          <a:bodyPr wrap="square" lIns="0" rIns="0" tIns="0" bIns="0" anchor="ctr">
            <a:spAutoFit/>
          </a:bodyPr>
          <a:lstStyle/>
          <a:p>
            <a:pPr algn="l"/>
            <a:r>
              <a:rPr sz="2200" b="1">
                <a:solidFill>
                  <a:srgbClr val="1E293B"/>
                </a:solidFill>
                <a:latin typeface="Calibri"/>
              </a:rPr>
              <a:t>End-to-End Flow — Streamlined Loop</a:t>
            </a:r>
          </a:p>
        </p:txBody>
      </p:sp>
      <p:sp>
        <p:nvSpPr>
          <p:cNvPr id="4" name="TextBox 3"/>
          <p:cNvSpPr txBox="1"/>
          <p:nvPr/>
        </p:nvSpPr>
        <p:spPr>
          <a:xfrm>
            <a:off x="256032" y="566928"/>
            <a:ext cx="8595360" cy="237744"/>
          </a:xfrm>
          <a:prstGeom prst="rect">
            <a:avLst/>
          </a:prstGeom>
          <a:noFill/>
        </p:spPr>
        <p:txBody>
          <a:bodyPr wrap="square" lIns="0" rIns="0" tIns="0" bIns="0" anchor="t">
            <a:spAutoFit/>
          </a:bodyPr>
          <a:lstStyle/>
          <a:p>
            <a:pPr algn="l"/>
            <a:r>
              <a:rPr sz="1050" b="0">
                <a:solidFill>
                  <a:srgbClr val="4A5568"/>
                </a:solidFill>
                <a:latin typeface="Calibri"/>
              </a:rPr>
              <a:t>From POLARION_ID to closed TAR — humans drive judgment, agents handle the loop</a:t>
            </a:r>
          </a:p>
        </p:txBody>
      </p:sp>
      <p:sp>
        <p:nvSpPr>
          <p:cNvPr id="5" name="Rectangle 4"/>
          <p:cNvSpPr/>
          <p:nvPr/>
        </p:nvSpPr>
        <p:spPr>
          <a:xfrm>
            <a:off x="292608" y="868680"/>
            <a:ext cx="5760720" cy="411480"/>
          </a:xfrm>
          <a:prstGeom prst="rect">
            <a:avLst/>
          </a:prstGeom>
          <a:solidFill>
            <a:srgbClr val="FFFBEB"/>
          </a:solidFill>
          <a:ln w="1143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92608" y="868680"/>
            <a:ext cx="73152" cy="4114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896112"/>
            <a:ext cx="1828800" cy="146304"/>
          </a:xfrm>
          <a:prstGeom prst="rect">
            <a:avLst/>
          </a:prstGeom>
          <a:noFill/>
        </p:spPr>
        <p:txBody>
          <a:bodyPr wrap="square" lIns="0" rIns="0" tIns="0" bIns="0" anchor="t">
            <a:spAutoFit/>
          </a:bodyPr>
          <a:lstStyle/>
          <a:p>
            <a:pPr algn="l"/>
            <a:r>
              <a:rPr sz="800" b="1">
                <a:solidFill>
                  <a:srgbClr val="D97706"/>
                </a:solidFill>
                <a:latin typeface="Calibri"/>
              </a:rPr>
              <a:t>HUMAN</a:t>
            </a:r>
          </a:p>
        </p:txBody>
      </p:sp>
      <p:sp>
        <p:nvSpPr>
          <p:cNvPr id="8" name="TextBox 7"/>
          <p:cNvSpPr txBox="1"/>
          <p:nvPr/>
        </p:nvSpPr>
        <p:spPr>
          <a:xfrm>
            <a:off x="475488" y="987552"/>
            <a:ext cx="5486400" cy="182880"/>
          </a:xfrm>
          <a:prstGeom prst="rect">
            <a:avLst/>
          </a:prstGeom>
          <a:noFill/>
        </p:spPr>
        <p:txBody>
          <a:bodyPr wrap="square" lIns="0" rIns="0" tIns="0" bIns="0" anchor="t">
            <a:spAutoFit/>
          </a:bodyPr>
          <a:lstStyle/>
          <a:p>
            <a:pPr algn="l"/>
            <a:r>
              <a:rPr sz="1100" b="1">
                <a:solidFill>
                  <a:srgbClr val="1E293B"/>
                </a:solidFill>
                <a:latin typeface="Calibri"/>
              </a:rPr>
              <a:t>Provides POLARION_ID</a:t>
            </a:r>
          </a:p>
        </p:txBody>
      </p:sp>
      <p:sp>
        <p:nvSpPr>
          <p:cNvPr id="9" name="TextBox 8"/>
          <p:cNvSpPr txBox="1"/>
          <p:nvPr/>
        </p:nvSpPr>
        <p:spPr>
          <a:xfrm>
            <a:off x="475488" y="1143000"/>
            <a:ext cx="5486400" cy="146304"/>
          </a:xfrm>
          <a:prstGeom prst="rect">
            <a:avLst/>
          </a:prstGeom>
          <a:noFill/>
        </p:spPr>
        <p:txBody>
          <a:bodyPr wrap="square" lIns="0" rIns="0" tIns="0" bIns="0" anchor="t">
            <a:spAutoFit/>
          </a:bodyPr>
          <a:lstStyle/>
          <a:p>
            <a:pPr algn="l"/>
            <a:r>
              <a:rPr sz="850" b="0">
                <a:solidFill>
                  <a:srgbClr val="4A5568"/>
                </a:solidFill>
                <a:latin typeface="Calibri"/>
              </a:rPr>
              <a:t>“analyse requirement 0169-12345”</a:t>
            </a:r>
          </a:p>
        </p:txBody>
      </p:sp>
      <p:sp>
        <p:nvSpPr>
          <p:cNvPr id="10" name="Down Arrow 9"/>
          <p:cNvSpPr/>
          <p:nvPr/>
        </p:nvSpPr>
        <p:spPr>
          <a:xfrm>
            <a:off x="3058668" y="1284732"/>
            <a:ext cx="228600" cy="118872"/>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608" y="1417320"/>
            <a:ext cx="5760720" cy="411480"/>
          </a:xfrm>
          <a:prstGeom prst="rect">
            <a:avLst/>
          </a:prstGeom>
          <a:solidFill>
            <a:srgbClr val="FFFFFF"/>
          </a:solidFill>
          <a:ln w="1143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2608" y="1417320"/>
            <a:ext cx="73152" cy="41148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1444752"/>
            <a:ext cx="1828800" cy="146304"/>
          </a:xfrm>
          <a:prstGeom prst="rect">
            <a:avLst/>
          </a:prstGeom>
          <a:noFill/>
        </p:spPr>
        <p:txBody>
          <a:bodyPr wrap="square" lIns="0" rIns="0" tIns="0" bIns="0" anchor="t">
            <a:spAutoFit/>
          </a:bodyPr>
          <a:lstStyle/>
          <a:p>
            <a:pPr algn="l"/>
            <a:r>
              <a:rPr sz="800" b="1">
                <a:solidFill>
                  <a:srgbClr val="1C7293"/>
                </a:solidFill>
                <a:latin typeface="Calibri"/>
              </a:rPr>
              <a:t>A1 · AGENT</a:t>
            </a:r>
          </a:p>
        </p:txBody>
      </p:sp>
      <p:sp>
        <p:nvSpPr>
          <p:cNvPr id="14" name="TextBox 13"/>
          <p:cNvSpPr txBox="1"/>
          <p:nvPr/>
        </p:nvSpPr>
        <p:spPr>
          <a:xfrm>
            <a:off x="475488" y="1536192"/>
            <a:ext cx="5486400" cy="182880"/>
          </a:xfrm>
          <a:prstGeom prst="rect">
            <a:avLst/>
          </a:prstGeom>
          <a:noFill/>
        </p:spPr>
        <p:txBody>
          <a:bodyPr wrap="square" lIns="0" rIns="0" tIns="0" bIns="0" anchor="t">
            <a:spAutoFit/>
          </a:bodyPr>
          <a:lstStyle/>
          <a:p>
            <a:pPr algn="l"/>
            <a:r>
              <a:rPr sz="1100" b="1">
                <a:solidFill>
                  <a:srgbClr val="1E293B"/>
                </a:solidFill>
                <a:latin typeface="Calibri"/>
              </a:rPr>
              <a:t>Requirement Analyst (Opus)</a:t>
            </a:r>
          </a:p>
        </p:txBody>
      </p:sp>
      <p:sp>
        <p:nvSpPr>
          <p:cNvPr id="15" name="TextBox 14"/>
          <p:cNvSpPr txBox="1"/>
          <p:nvPr/>
        </p:nvSpPr>
        <p:spPr>
          <a:xfrm>
            <a:off x="475488" y="1691640"/>
            <a:ext cx="5486400" cy="146304"/>
          </a:xfrm>
          <a:prstGeom prst="rect">
            <a:avLst/>
          </a:prstGeom>
          <a:noFill/>
        </p:spPr>
        <p:txBody>
          <a:bodyPr wrap="square" lIns="0" rIns="0" tIns="0" bIns="0" anchor="t">
            <a:spAutoFit/>
          </a:bodyPr>
          <a:lstStyle/>
          <a:p>
            <a:pPr algn="l"/>
            <a:r>
              <a:rPr sz="850" b="0">
                <a:solidFill>
                  <a:srgbClr val="4A5568"/>
                </a:solidFill>
                <a:latin typeface="Calibri"/>
              </a:rPr>
              <a:t>Readiness gate · codebase grounding · existing risks + TCs → review doc</a:t>
            </a:r>
          </a:p>
        </p:txBody>
      </p:sp>
      <p:sp>
        <p:nvSpPr>
          <p:cNvPr id="16" name="Down Arrow 15"/>
          <p:cNvSpPr/>
          <p:nvPr/>
        </p:nvSpPr>
        <p:spPr>
          <a:xfrm>
            <a:off x="3058668" y="1833372"/>
            <a:ext cx="228600" cy="118872"/>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2608" y="1965960"/>
            <a:ext cx="5760720" cy="411480"/>
          </a:xfrm>
          <a:prstGeom prst="rect">
            <a:avLst/>
          </a:prstGeom>
          <a:solidFill>
            <a:srgbClr val="FFF7CC"/>
          </a:solidFill>
          <a:ln w="1143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92608" y="1965960"/>
            <a:ext cx="73152" cy="41148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1993392"/>
            <a:ext cx="1828800" cy="146304"/>
          </a:xfrm>
          <a:prstGeom prst="rect">
            <a:avLst/>
          </a:prstGeom>
          <a:noFill/>
        </p:spPr>
        <p:txBody>
          <a:bodyPr wrap="square" lIns="0" rIns="0" tIns="0" bIns="0" anchor="t">
            <a:spAutoFit/>
          </a:bodyPr>
          <a:lstStyle/>
          <a:p>
            <a:pPr algn="l"/>
            <a:r>
              <a:rPr sz="800" b="1">
                <a:solidFill>
                  <a:srgbClr val="CA8A04"/>
                </a:solidFill>
                <a:latin typeface="Calibri"/>
              </a:rPr>
              <a:t>⏸  HUMAN GATE 1</a:t>
            </a:r>
          </a:p>
        </p:txBody>
      </p:sp>
      <p:sp>
        <p:nvSpPr>
          <p:cNvPr id="20" name="TextBox 19"/>
          <p:cNvSpPr txBox="1"/>
          <p:nvPr/>
        </p:nvSpPr>
        <p:spPr>
          <a:xfrm>
            <a:off x="475488" y="2084832"/>
            <a:ext cx="5486400" cy="182880"/>
          </a:xfrm>
          <a:prstGeom prst="rect">
            <a:avLst/>
          </a:prstGeom>
          <a:noFill/>
        </p:spPr>
        <p:txBody>
          <a:bodyPr wrap="square" lIns="0" rIns="0" tIns="0" bIns="0" anchor="t">
            <a:spAutoFit/>
          </a:bodyPr>
          <a:lstStyle/>
          <a:p>
            <a:pPr algn="l"/>
            <a:r>
              <a:rPr sz="1100" b="1">
                <a:solidFill>
                  <a:srgbClr val="1E293B"/>
                </a:solidFill>
                <a:latin typeface="Calibri"/>
              </a:rPr>
              <a:t>Approve / Reject / Partial</a:t>
            </a:r>
          </a:p>
        </p:txBody>
      </p:sp>
      <p:sp>
        <p:nvSpPr>
          <p:cNvPr id="21" name="TextBox 20"/>
          <p:cNvSpPr txBox="1"/>
          <p:nvPr/>
        </p:nvSpPr>
        <p:spPr>
          <a:xfrm>
            <a:off x="475488" y="2240280"/>
            <a:ext cx="5486400" cy="146304"/>
          </a:xfrm>
          <a:prstGeom prst="rect">
            <a:avLst/>
          </a:prstGeom>
          <a:noFill/>
        </p:spPr>
        <p:txBody>
          <a:bodyPr wrap="square" lIns="0" rIns="0" tIns="0" bIns="0" anchor="t">
            <a:spAutoFit/>
          </a:bodyPr>
          <a:lstStyle/>
          <a:p>
            <a:pPr algn="l"/>
            <a:r>
              <a:rPr sz="850" b="0">
                <a:solidFill>
                  <a:srgbClr val="4A5568"/>
                </a:solidFill>
                <a:latin typeface="Calibri"/>
              </a:rPr>
              <a:t>QA Engineer reviews the review doc before any Polarion writes</a:t>
            </a:r>
          </a:p>
        </p:txBody>
      </p:sp>
      <p:sp>
        <p:nvSpPr>
          <p:cNvPr id="22" name="Down Arrow 21"/>
          <p:cNvSpPr/>
          <p:nvPr/>
        </p:nvSpPr>
        <p:spPr>
          <a:xfrm>
            <a:off x="3058668" y="2382012"/>
            <a:ext cx="228600" cy="118872"/>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2608" y="2514600"/>
            <a:ext cx="5760720" cy="411480"/>
          </a:xfrm>
          <a:prstGeom prst="rect">
            <a:avLst/>
          </a:prstGeom>
          <a:solidFill>
            <a:srgbClr val="FFFFFF"/>
          </a:solidFill>
          <a:ln w="1143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92608" y="2514600"/>
            <a:ext cx="73152" cy="41148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2542032"/>
            <a:ext cx="1828800" cy="146304"/>
          </a:xfrm>
          <a:prstGeom prst="rect">
            <a:avLst/>
          </a:prstGeom>
          <a:noFill/>
        </p:spPr>
        <p:txBody>
          <a:bodyPr wrap="square" lIns="0" rIns="0" tIns="0" bIns="0" anchor="t">
            <a:spAutoFit/>
          </a:bodyPr>
          <a:lstStyle/>
          <a:p>
            <a:pPr algn="l"/>
            <a:r>
              <a:rPr sz="800" b="1">
                <a:solidFill>
                  <a:srgbClr val="065A82"/>
                </a:solidFill>
                <a:latin typeface="Calibri"/>
              </a:rPr>
              <a:t>A2 · AGENT</a:t>
            </a:r>
          </a:p>
        </p:txBody>
      </p:sp>
      <p:sp>
        <p:nvSpPr>
          <p:cNvPr id="26" name="TextBox 25"/>
          <p:cNvSpPr txBox="1"/>
          <p:nvPr/>
        </p:nvSpPr>
        <p:spPr>
          <a:xfrm>
            <a:off x="475488" y="2633472"/>
            <a:ext cx="5486400" cy="182880"/>
          </a:xfrm>
          <a:prstGeom prst="rect">
            <a:avLst/>
          </a:prstGeom>
          <a:noFill/>
        </p:spPr>
        <p:txBody>
          <a:bodyPr wrap="square" lIns="0" rIns="0" tIns="0" bIns="0" anchor="t">
            <a:spAutoFit/>
          </a:bodyPr>
          <a:lstStyle/>
          <a:p>
            <a:pPr algn="l"/>
            <a:r>
              <a:rPr sz="1100" b="1">
                <a:solidFill>
                  <a:srgbClr val="1E293B"/>
                </a:solidFill>
                <a:latin typeface="Calibri"/>
              </a:rPr>
              <a:t>Polarion Writer</a:t>
            </a:r>
          </a:p>
        </p:txBody>
      </p:sp>
      <p:sp>
        <p:nvSpPr>
          <p:cNvPr id="27" name="TextBox 26"/>
          <p:cNvSpPr txBox="1"/>
          <p:nvPr/>
        </p:nvSpPr>
        <p:spPr>
          <a:xfrm>
            <a:off x="475488" y="2788920"/>
            <a:ext cx="5486400" cy="146304"/>
          </a:xfrm>
          <a:prstGeom prst="rect">
            <a:avLst/>
          </a:prstGeom>
          <a:noFill/>
        </p:spPr>
        <p:txBody>
          <a:bodyPr wrap="square" lIns="0" rIns="0" tIns="0" bIns="0" anchor="t">
            <a:spAutoFit/>
          </a:bodyPr>
          <a:lstStyle/>
          <a:p>
            <a:pPr algn="l"/>
            <a:r>
              <a:rPr sz="850" b="0">
                <a:solidFill>
                  <a:srgbClr val="4A5568"/>
                </a:solidFill>
                <a:latin typeface="Calibri"/>
              </a:rPr>
              <a:t>Creates WIs · sets FMEA ratings · saves tc_wi_mapping.csv</a:t>
            </a:r>
          </a:p>
        </p:txBody>
      </p:sp>
      <p:sp>
        <p:nvSpPr>
          <p:cNvPr id="28" name="Down Arrow 27"/>
          <p:cNvSpPr/>
          <p:nvPr/>
        </p:nvSpPr>
        <p:spPr>
          <a:xfrm>
            <a:off x="3058668" y="2930652"/>
            <a:ext cx="228600" cy="118872"/>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2608" y="3063240"/>
            <a:ext cx="5760720" cy="411480"/>
          </a:xfrm>
          <a:prstGeom prst="rect">
            <a:avLst/>
          </a:prstGeom>
          <a:solidFill>
            <a:srgbClr val="FFFBEB"/>
          </a:solidFill>
          <a:ln w="1143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292608" y="3063240"/>
            <a:ext cx="73152" cy="4114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 y="3090672"/>
            <a:ext cx="1828800" cy="146304"/>
          </a:xfrm>
          <a:prstGeom prst="rect">
            <a:avLst/>
          </a:prstGeom>
          <a:noFill/>
        </p:spPr>
        <p:txBody>
          <a:bodyPr wrap="square" lIns="0" rIns="0" tIns="0" bIns="0" anchor="t">
            <a:spAutoFit/>
          </a:bodyPr>
          <a:lstStyle/>
          <a:p>
            <a:pPr algn="l"/>
            <a:r>
              <a:rPr sz="800" b="1">
                <a:solidFill>
                  <a:srgbClr val="D97706"/>
                </a:solidFill>
                <a:latin typeface="Calibri"/>
              </a:rPr>
              <a:t>HUMAN</a:t>
            </a:r>
          </a:p>
        </p:txBody>
      </p:sp>
      <p:sp>
        <p:nvSpPr>
          <p:cNvPr id="32" name="TextBox 31"/>
          <p:cNvSpPr txBox="1"/>
          <p:nvPr/>
        </p:nvSpPr>
        <p:spPr>
          <a:xfrm>
            <a:off x="475488" y="3182112"/>
            <a:ext cx="5486400" cy="182880"/>
          </a:xfrm>
          <a:prstGeom prst="rect">
            <a:avLst/>
          </a:prstGeom>
          <a:noFill/>
        </p:spPr>
        <p:txBody>
          <a:bodyPr wrap="square" lIns="0" rIns="0" tIns="0" bIns="0" anchor="t">
            <a:spAutoFit/>
          </a:bodyPr>
          <a:lstStyle/>
          <a:p>
            <a:pPr algn="l"/>
            <a:r>
              <a:rPr sz="1100" b="1">
                <a:solidFill>
                  <a:srgbClr val="1E293B"/>
                </a:solidFill>
                <a:latin typeface="Calibri"/>
              </a:rPr>
              <a:t>Implement feature + code review</a:t>
            </a:r>
          </a:p>
        </p:txBody>
      </p:sp>
      <p:sp>
        <p:nvSpPr>
          <p:cNvPr id="33" name="TextBox 32"/>
          <p:cNvSpPr txBox="1"/>
          <p:nvPr/>
        </p:nvSpPr>
        <p:spPr>
          <a:xfrm>
            <a:off x="475488" y="3337560"/>
            <a:ext cx="5486400" cy="146304"/>
          </a:xfrm>
          <a:prstGeom prst="rect">
            <a:avLst/>
          </a:prstGeom>
          <a:noFill/>
        </p:spPr>
        <p:txBody>
          <a:bodyPr wrap="square" lIns="0" rIns="0" tIns="0" bIns="0" anchor="t">
            <a:spAutoFit/>
          </a:bodyPr>
          <a:lstStyle/>
          <a:p>
            <a:pPr algn="l"/>
            <a:r>
              <a:rPr sz="850" b="0">
                <a:solidFill>
                  <a:srgbClr val="4A5568"/>
                </a:solidFill>
                <a:latin typeface="Calibri"/>
              </a:rPr>
              <a:t>Risks + TCs as guide (high-level TDD) · team performs code review</a:t>
            </a:r>
          </a:p>
        </p:txBody>
      </p:sp>
      <p:sp>
        <p:nvSpPr>
          <p:cNvPr id="34" name="Down Arrow 33"/>
          <p:cNvSpPr/>
          <p:nvPr/>
        </p:nvSpPr>
        <p:spPr>
          <a:xfrm>
            <a:off x="3058668" y="3479292"/>
            <a:ext cx="228600" cy="118872"/>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92608" y="3611880"/>
            <a:ext cx="5760720" cy="411480"/>
          </a:xfrm>
          <a:prstGeom prst="rect">
            <a:avLst/>
          </a:prstGeom>
          <a:solidFill>
            <a:srgbClr val="FFFFFF"/>
          </a:solidFill>
          <a:ln w="1143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92608" y="3611880"/>
            <a:ext cx="73152" cy="4114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 y="3639312"/>
            <a:ext cx="1828800" cy="146304"/>
          </a:xfrm>
          <a:prstGeom prst="rect">
            <a:avLst/>
          </a:prstGeom>
          <a:noFill/>
        </p:spPr>
        <p:txBody>
          <a:bodyPr wrap="square" lIns="0" rIns="0" tIns="0" bIns="0" anchor="t">
            <a:spAutoFit/>
          </a:bodyPr>
          <a:lstStyle/>
          <a:p>
            <a:pPr algn="l"/>
            <a:r>
              <a:rPr sz="800" b="1">
                <a:solidFill>
                  <a:srgbClr val="16A34A"/>
                </a:solidFill>
                <a:latin typeface="Calibri"/>
              </a:rPr>
              <a:t>A3 · AGENT</a:t>
            </a:r>
          </a:p>
        </p:txBody>
      </p:sp>
      <p:sp>
        <p:nvSpPr>
          <p:cNvPr id="38" name="TextBox 37"/>
          <p:cNvSpPr txBox="1"/>
          <p:nvPr/>
        </p:nvSpPr>
        <p:spPr>
          <a:xfrm>
            <a:off x="475488" y="3730752"/>
            <a:ext cx="5486400" cy="182880"/>
          </a:xfrm>
          <a:prstGeom prst="rect">
            <a:avLst/>
          </a:prstGeom>
          <a:noFill/>
        </p:spPr>
        <p:txBody>
          <a:bodyPr wrap="square" lIns="0" rIns="0" tIns="0" bIns="0" anchor="t">
            <a:spAutoFit/>
          </a:bodyPr>
          <a:lstStyle/>
          <a:p>
            <a:pPr algn="l"/>
            <a:r>
              <a:rPr sz="1100" b="1">
                <a:solidFill>
                  <a:srgbClr val="1E293B"/>
                </a:solidFill>
                <a:latin typeface="Calibri"/>
              </a:rPr>
              <a:t>Test Engineer</a:t>
            </a:r>
          </a:p>
        </p:txBody>
      </p:sp>
      <p:sp>
        <p:nvSpPr>
          <p:cNvPr id="39" name="TextBox 38"/>
          <p:cNvSpPr txBox="1"/>
          <p:nvPr/>
        </p:nvSpPr>
        <p:spPr>
          <a:xfrm>
            <a:off x="475488" y="3886200"/>
            <a:ext cx="5486400" cy="146304"/>
          </a:xfrm>
          <a:prstGeom prst="rect">
            <a:avLst/>
          </a:prstGeom>
          <a:noFill/>
        </p:spPr>
        <p:txBody>
          <a:bodyPr wrap="square" lIns="0" rIns="0" tIns="0" bIns="0" anchor="t">
            <a:spAutoFit/>
          </a:bodyPr>
          <a:lstStyle/>
          <a:p>
            <a:pPr algn="l"/>
            <a:r>
              <a:rPr sz="850" b="0">
                <a:solidFill>
                  <a:srgbClr val="4A5568"/>
                </a:solidFill>
                <a:latin typeface="Calibri"/>
              </a:rPr>
              <a:t>Writes pytest funcs · runs tests · creates Polarion test run with evidence</a:t>
            </a:r>
          </a:p>
        </p:txBody>
      </p:sp>
      <p:sp>
        <p:nvSpPr>
          <p:cNvPr id="40" name="Down Arrow 39"/>
          <p:cNvSpPr/>
          <p:nvPr/>
        </p:nvSpPr>
        <p:spPr>
          <a:xfrm>
            <a:off x="3058668" y="4027932"/>
            <a:ext cx="228600" cy="118872"/>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92608" y="4160520"/>
            <a:ext cx="5760720" cy="411480"/>
          </a:xfrm>
          <a:prstGeom prst="rect">
            <a:avLst/>
          </a:prstGeom>
          <a:solidFill>
            <a:srgbClr val="FFFBEB"/>
          </a:solidFill>
          <a:ln w="1143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292608" y="4160520"/>
            <a:ext cx="73152" cy="4114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 y="4187952"/>
            <a:ext cx="1828800" cy="146304"/>
          </a:xfrm>
          <a:prstGeom prst="rect">
            <a:avLst/>
          </a:prstGeom>
          <a:noFill/>
        </p:spPr>
        <p:txBody>
          <a:bodyPr wrap="square" lIns="0" rIns="0" tIns="0" bIns="0" anchor="t">
            <a:spAutoFit/>
          </a:bodyPr>
          <a:lstStyle/>
          <a:p>
            <a:pPr algn="l"/>
            <a:r>
              <a:rPr sz="800" b="1">
                <a:solidFill>
                  <a:srgbClr val="D97706"/>
                </a:solidFill>
                <a:latin typeface="Calibri"/>
              </a:rPr>
              <a:t>HUMAN</a:t>
            </a:r>
          </a:p>
        </p:txBody>
      </p:sp>
      <p:sp>
        <p:nvSpPr>
          <p:cNvPr id="44" name="TextBox 43"/>
          <p:cNvSpPr txBox="1"/>
          <p:nvPr/>
        </p:nvSpPr>
        <p:spPr>
          <a:xfrm>
            <a:off x="475488" y="4279392"/>
            <a:ext cx="5486400" cy="182880"/>
          </a:xfrm>
          <a:prstGeom prst="rect">
            <a:avLst/>
          </a:prstGeom>
          <a:noFill/>
        </p:spPr>
        <p:txBody>
          <a:bodyPr wrap="square" lIns="0" rIns="0" tIns="0" bIns="0" anchor="t">
            <a:spAutoFit/>
          </a:bodyPr>
          <a:lstStyle/>
          <a:p>
            <a:pPr algn="l"/>
            <a:r>
              <a:rPr sz="1100" b="1">
                <a:solidFill>
                  <a:srgbClr val="1E293B"/>
                </a:solidFill>
                <a:latin typeface="Calibri"/>
              </a:rPr>
              <a:t>Creates TAR — closes the QA loop</a:t>
            </a:r>
          </a:p>
        </p:txBody>
      </p:sp>
      <p:sp>
        <p:nvSpPr>
          <p:cNvPr id="45" name="TextBox 44"/>
          <p:cNvSpPr txBox="1"/>
          <p:nvPr/>
        </p:nvSpPr>
        <p:spPr>
          <a:xfrm>
            <a:off x="475488" y="4434840"/>
            <a:ext cx="5486400" cy="146304"/>
          </a:xfrm>
          <a:prstGeom prst="rect">
            <a:avLst/>
          </a:prstGeom>
          <a:noFill/>
        </p:spPr>
        <p:txBody>
          <a:bodyPr wrap="square" lIns="0" rIns="0" tIns="0" bIns="0" anchor="t">
            <a:spAutoFit/>
          </a:bodyPr>
          <a:lstStyle/>
          <a:p>
            <a:pPr algn="l"/>
            <a:r>
              <a:rPr sz="850" b="0">
                <a:solidFill>
                  <a:srgbClr val="4A5568"/>
                </a:solidFill>
                <a:latin typeface="Calibri"/>
              </a:rPr>
              <a:t>Test Action Report finalised in Polarion · full traceability achieved</a:t>
            </a:r>
          </a:p>
        </p:txBody>
      </p:sp>
      <p:sp>
        <p:nvSpPr>
          <p:cNvPr id="46" name="Rectangle 45"/>
          <p:cNvSpPr/>
          <p:nvPr/>
        </p:nvSpPr>
        <p:spPr>
          <a:xfrm>
            <a:off x="6199632" y="868680"/>
            <a:ext cx="2697480" cy="3703320"/>
          </a:xfrm>
          <a:prstGeom prst="rect">
            <a:avLst/>
          </a:prstGeom>
          <a:solidFill>
            <a:srgbClr val="F5F3FF"/>
          </a:solidFill>
          <a:ln w="1143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336792" y="960120"/>
            <a:ext cx="2423160" cy="228600"/>
          </a:xfrm>
          <a:prstGeom prst="rect">
            <a:avLst/>
          </a:prstGeom>
          <a:noFill/>
        </p:spPr>
        <p:txBody>
          <a:bodyPr wrap="square" lIns="0" rIns="0" tIns="0" bIns="0" anchor="t">
            <a:spAutoFit/>
          </a:bodyPr>
          <a:lstStyle/>
          <a:p>
            <a:pPr algn="l"/>
            <a:r>
              <a:rPr sz="900" b="1">
                <a:solidFill>
                  <a:srgbClr val="7C3AED"/>
                </a:solidFill>
                <a:latin typeface="Calibri"/>
              </a:rPr>
              <a:t>OPTIONAL · ON REQUEST</a:t>
            </a:r>
          </a:p>
        </p:txBody>
      </p:sp>
      <p:sp>
        <p:nvSpPr>
          <p:cNvPr id="48" name="TextBox 47"/>
          <p:cNvSpPr txBox="1"/>
          <p:nvPr/>
        </p:nvSpPr>
        <p:spPr>
          <a:xfrm>
            <a:off x="6336792" y="1161288"/>
            <a:ext cx="2423160" cy="274320"/>
          </a:xfrm>
          <a:prstGeom prst="rect">
            <a:avLst/>
          </a:prstGeom>
          <a:noFill/>
        </p:spPr>
        <p:txBody>
          <a:bodyPr wrap="square" lIns="0" rIns="0" tIns="0" bIns="0" anchor="t">
            <a:spAutoFit/>
          </a:bodyPr>
          <a:lstStyle/>
          <a:p>
            <a:pPr algn="l"/>
            <a:r>
              <a:rPr sz="1000" b="1">
                <a:solidFill>
                  <a:srgbClr val="1E293B"/>
                </a:solidFill>
                <a:latin typeface="Calibri"/>
              </a:rPr>
              <a:t>AI-assisted help around</a:t>
            </a:r>
          </a:p>
          <a:p>
            <a:pPr algn="l"/>
            <a:r>
              <a:rPr sz="1000" b="1">
                <a:solidFill>
                  <a:srgbClr val="1E293B"/>
                </a:solidFill>
                <a:latin typeface="Calibri"/>
              </a:rPr>
              <a:t>the human implementation step</a:t>
            </a:r>
          </a:p>
        </p:txBody>
      </p:sp>
      <p:sp>
        <p:nvSpPr>
          <p:cNvPr id="49" name="Rectangle 48"/>
          <p:cNvSpPr/>
          <p:nvPr/>
        </p:nvSpPr>
        <p:spPr>
          <a:xfrm>
            <a:off x="6336792" y="1600200"/>
            <a:ext cx="2423160" cy="685800"/>
          </a:xfrm>
          <a:prstGeom prst="rect">
            <a:avLst/>
          </a:prstGeom>
          <a:solidFill>
            <a:srgbClr val="FFFF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446520" y="1645920"/>
            <a:ext cx="2286000" cy="164592"/>
          </a:xfrm>
          <a:prstGeom prst="rect">
            <a:avLst/>
          </a:prstGeom>
          <a:noFill/>
        </p:spPr>
        <p:txBody>
          <a:bodyPr wrap="square" lIns="0" rIns="0" tIns="0" bIns="0" anchor="t">
            <a:spAutoFit/>
          </a:bodyPr>
          <a:lstStyle/>
          <a:p>
            <a:pPr algn="l"/>
            <a:r>
              <a:rPr sz="850" b="1">
                <a:solidFill>
                  <a:srgbClr val="7C3AED"/>
                </a:solidFill>
                <a:latin typeface="Calibri"/>
              </a:rPr>
              <a:t>A4</a:t>
            </a:r>
          </a:p>
        </p:txBody>
      </p:sp>
      <p:sp>
        <p:nvSpPr>
          <p:cNvPr id="51" name="TextBox 50"/>
          <p:cNvSpPr txBox="1"/>
          <p:nvPr/>
        </p:nvSpPr>
        <p:spPr>
          <a:xfrm>
            <a:off x="6446520" y="1783080"/>
            <a:ext cx="2286000" cy="201168"/>
          </a:xfrm>
          <a:prstGeom prst="rect">
            <a:avLst/>
          </a:prstGeom>
          <a:noFill/>
        </p:spPr>
        <p:txBody>
          <a:bodyPr wrap="square" lIns="0" rIns="0" tIns="0" bIns="0" anchor="t">
            <a:spAutoFit/>
          </a:bodyPr>
          <a:lstStyle/>
          <a:p>
            <a:pPr algn="l"/>
            <a:r>
              <a:rPr sz="1100" b="1">
                <a:solidFill>
                  <a:srgbClr val="1E293B"/>
                </a:solidFill>
                <a:latin typeface="Calibri"/>
              </a:rPr>
              <a:t>Code Reviewer</a:t>
            </a:r>
          </a:p>
        </p:txBody>
      </p:sp>
      <p:sp>
        <p:nvSpPr>
          <p:cNvPr id="52" name="TextBox 51"/>
          <p:cNvSpPr txBox="1"/>
          <p:nvPr/>
        </p:nvSpPr>
        <p:spPr>
          <a:xfrm>
            <a:off x="6446520" y="1984248"/>
            <a:ext cx="2286000" cy="274320"/>
          </a:xfrm>
          <a:prstGeom prst="rect">
            <a:avLst/>
          </a:prstGeom>
          <a:noFill/>
        </p:spPr>
        <p:txBody>
          <a:bodyPr wrap="square" lIns="0" rIns="0" tIns="0" bIns="0" anchor="t">
            <a:spAutoFit/>
          </a:bodyPr>
          <a:lstStyle/>
          <a:p>
            <a:pPr algn="l"/>
            <a:r>
              <a:rPr sz="850" b="0">
                <a:solidFill>
                  <a:srgbClr val="4A5568"/>
                </a:solidFill>
                <a:latin typeface="Calibri"/>
              </a:rPr>
              <a:t>AI-assisted implementation review</a:t>
            </a:r>
          </a:p>
        </p:txBody>
      </p:sp>
      <p:sp>
        <p:nvSpPr>
          <p:cNvPr id="53" name="Rectangle 52"/>
          <p:cNvSpPr/>
          <p:nvPr/>
        </p:nvSpPr>
        <p:spPr>
          <a:xfrm>
            <a:off x="6336792" y="2377440"/>
            <a:ext cx="2423160" cy="685800"/>
          </a:xfrm>
          <a:prstGeom prst="rect">
            <a:avLst/>
          </a:prstGeom>
          <a:solidFill>
            <a:srgbClr val="FFFF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446520" y="2423160"/>
            <a:ext cx="2286000" cy="164592"/>
          </a:xfrm>
          <a:prstGeom prst="rect">
            <a:avLst/>
          </a:prstGeom>
          <a:noFill/>
        </p:spPr>
        <p:txBody>
          <a:bodyPr wrap="square" lIns="0" rIns="0" tIns="0" bIns="0" anchor="t">
            <a:spAutoFit/>
          </a:bodyPr>
          <a:lstStyle/>
          <a:p>
            <a:pPr algn="l"/>
            <a:r>
              <a:rPr sz="850" b="1">
                <a:solidFill>
                  <a:srgbClr val="7C3AED"/>
                </a:solidFill>
                <a:latin typeface="Calibri"/>
              </a:rPr>
              <a:t>A5</a:t>
            </a:r>
          </a:p>
        </p:txBody>
      </p:sp>
      <p:sp>
        <p:nvSpPr>
          <p:cNvPr id="55" name="TextBox 54"/>
          <p:cNvSpPr txBox="1"/>
          <p:nvPr/>
        </p:nvSpPr>
        <p:spPr>
          <a:xfrm>
            <a:off x="6446520" y="2560320"/>
            <a:ext cx="2286000" cy="201168"/>
          </a:xfrm>
          <a:prstGeom prst="rect">
            <a:avLst/>
          </a:prstGeom>
          <a:noFill/>
        </p:spPr>
        <p:txBody>
          <a:bodyPr wrap="square" lIns="0" rIns="0" tIns="0" bIns="0" anchor="t">
            <a:spAutoFit/>
          </a:bodyPr>
          <a:lstStyle/>
          <a:p>
            <a:pPr algn="l"/>
            <a:r>
              <a:rPr sz="1100" b="1">
                <a:solidFill>
                  <a:srgbClr val="1E293B"/>
                </a:solidFill>
                <a:latin typeface="Calibri"/>
              </a:rPr>
              <a:t>Feature Coder</a:t>
            </a:r>
          </a:p>
        </p:txBody>
      </p:sp>
      <p:sp>
        <p:nvSpPr>
          <p:cNvPr id="56" name="TextBox 55"/>
          <p:cNvSpPr txBox="1"/>
          <p:nvPr/>
        </p:nvSpPr>
        <p:spPr>
          <a:xfrm>
            <a:off x="6446520" y="2761488"/>
            <a:ext cx="2286000" cy="274320"/>
          </a:xfrm>
          <a:prstGeom prst="rect">
            <a:avLst/>
          </a:prstGeom>
          <a:noFill/>
        </p:spPr>
        <p:txBody>
          <a:bodyPr wrap="square" lIns="0" rIns="0" tIns="0" bIns="0" anchor="t">
            <a:spAutoFit/>
          </a:bodyPr>
          <a:lstStyle/>
          <a:p>
            <a:pPr algn="l"/>
            <a:r>
              <a:rPr sz="850" b="0">
                <a:solidFill>
                  <a:srgbClr val="4A5568"/>
                </a:solidFill>
                <a:latin typeface="Calibri"/>
              </a:rPr>
              <a:t>AI-assisted implementation</a:t>
            </a:r>
          </a:p>
        </p:txBody>
      </p:sp>
      <p:sp>
        <p:nvSpPr>
          <p:cNvPr id="57" name="TextBox 56"/>
          <p:cNvSpPr txBox="1"/>
          <p:nvPr/>
        </p:nvSpPr>
        <p:spPr>
          <a:xfrm>
            <a:off x="6336792" y="3200400"/>
            <a:ext cx="2423160" cy="411480"/>
          </a:xfrm>
          <a:prstGeom prst="rect">
            <a:avLst/>
          </a:prstGeom>
          <a:noFill/>
        </p:spPr>
        <p:txBody>
          <a:bodyPr wrap="square" lIns="0" rIns="0" tIns="0" bIns="0" anchor="t">
            <a:spAutoFit/>
          </a:bodyPr>
          <a:lstStyle/>
          <a:p>
            <a:pPr algn="l"/>
            <a:r>
              <a:rPr sz="850" b="0">
                <a:solidFill>
                  <a:srgbClr val="7C3AED"/>
                </a:solidFill>
                <a:latin typeface="Calibri"/>
              </a:rPr>
              <a:t>↩ Plug in around the human</a:t>
            </a:r>
          </a:p>
          <a:p>
            <a:pPr algn="l"/>
            <a:r>
              <a:rPr sz="850" b="0">
                <a:solidFill>
                  <a:srgbClr val="7C3AED"/>
                </a:solidFill>
                <a:latin typeface="Calibri"/>
              </a:rPr>
              <a:t>    “Implement + review” step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55448"/>
            <a:ext cx="8595360" cy="347472"/>
          </a:xfrm>
          <a:prstGeom prst="rect">
            <a:avLst/>
          </a:prstGeom>
          <a:noFill/>
          <a:ln/>
        </p:spPr>
        <p:txBody>
          <a:bodyPr wrap="square" rtlCol="0" anchor="ctr"/>
          <a:lstStyle/>
          <a:p>
            <a:pPr indent="0" marL="0">
              <a:buNone/>
            </a:pPr>
            <a:r>
              <a:rPr lang="en-US" sz="1000" b="1" spc="300" kern="0" dirty="0">
                <a:solidFill>
                  <a:srgbClr val="02C39A"/>
                </a:solidFill>
                <a:latin typeface="Calibri" pitchFamily="34" charset="0"/>
                <a:ea typeface="Calibri" pitchFamily="34" charset="-122"/>
                <a:cs typeface="Calibri" pitchFamily="34" charset="-120"/>
              </a:rPr>
              <a:t>DEMO  01 / 02</a:t>
            </a:r>
            <a:endParaRPr lang="en-US" sz="1000" dirty="0"/>
          </a:p>
        </p:txBody>
      </p:sp>
      <p:sp>
        <p:nvSpPr>
          <p:cNvPr id="4" name="Text 2"/>
          <p:cNvSpPr/>
          <p:nvPr/>
        </p:nvSpPr>
        <p:spPr>
          <a:xfrm>
            <a:off x="256032" y="457200"/>
            <a:ext cx="859536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 Action — VS Code Side</a:t>
            </a:r>
            <a:endParaRPr lang="en-US" sz="2600" dirty="0"/>
          </a:p>
        </p:txBody>
      </p:sp>
      <p:sp>
        <p:nvSpPr>
          <p:cNvPr id="5" name="Shape 3"/>
          <p:cNvSpPr/>
          <p:nvPr/>
        </p:nvSpPr>
        <p:spPr>
          <a:xfrm>
            <a:off x="256032" y="1097280"/>
            <a:ext cx="5669280" cy="3566160"/>
          </a:xfrm>
          <a:prstGeom prst="rect">
            <a:avLst/>
          </a:prstGeom>
          <a:solidFill>
            <a:srgbClr val="0F2133"/>
          </a:solidFill>
          <a:ln w="25400">
            <a:solidFill>
              <a:srgbClr val="1C3B5A"/>
            </a:solidFill>
            <a:prstDash val="solid"/>
          </a:ln>
        </p:spPr>
      </p:sp>
      <p:sp>
        <p:nvSpPr>
          <p:cNvPr id="6" name="Text 4"/>
          <p:cNvSpPr/>
          <p:nvPr/>
        </p:nvSpPr>
        <p:spPr>
          <a:xfrm>
            <a:off x="411480" y="1280160"/>
            <a:ext cx="5394960" cy="3200400"/>
          </a:xfrm>
          <a:prstGeom prst="rect">
            <a:avLst/>
          </a:prstGeom>
          <a:noFill/>
          <a:ln/>
        </p:spPr>
        <p:txBody>
          <a:bodyPr wrap="square" rtlCol="0" anchor="t"/>
          <a:lstStyle/>
          <a:p>
            <a:pPr algn="l" indent="0" marL="0">
              <a:buNone/>
            </a:pPr>
            <a:r>
              <a:rPr lang="en-US" sz="1150" dirty="0">
                <a:solidFill>
                  <a:srgbClr val="3A7BA8"/>
                </a:solidFill>
                <a:latin typeface="Consolas" pitchFamily="34" charset="0"/>
                <a:ea typeface="Consolas" pitchFamily="34" charset="-122"/>
                <a:cs typeface="Consolas" pitchFamily="34" charset="-120"/>
              </a:rPr>
              <a:t>[ VS Code Screenshot ]</a:t>
            </a:r>
            <a:endParaRPr lang="en-US" sz="1150" dirty="0"/>
          </a:p>
          <a:p>
            <a:pPr algn="l" indent="0" marL="0">
              <a:buNone/>
            </a:pPr>
            <a:endParaRPr lang="en-US" sz="1150" dirty="0"/>
          </a:p>
          <a:p>
            <a:pPr algn="l" indent="0" marL="0">
              <a:buNone/>
            </a:pPr>
            <a:r>
              <a:rPr lang="en-US" sz="1150" dirty="0">
                <a:solidFill>
                  <a:srgbClr val="3A7BA8"/>
                </a:solidFill>
                <a:latin typeface="Consolas" pitchFamily="34" charset="0"/>
                <a:ea typeface="Consolas" pitchFamily="34" charset="-122"/>
                <a:cs typeface="Consolas" pitchFamily="34" charset="-120"/>
              </a:rPr>
              <a:t>$ polarion-cli run --req POL-1234</a:t>
            </a:r>
            <a:endParaRPr lang="en-US" sz="1150" dirty="0"/>
          </a:p>
          <a:p>
            <a:pPr algn="l" indent="0" marL="0">
              <a:buNone/>
            </a:pPr>
            <a:endParaRPr lang="en-US" sz="1150" dirty="0"/>
          </a:p>
          <a:p>
            <a:pPr algn="l" indent="0" marL="0">
              <a:buNone/>
            </a:pPr>
            <a:r>
              <a:rPr lang="en-US" sz="1150" dirty="0">
                <a:solidFill>
                  <a:srgbClr val="3A7BA8"/>
                </a:solidFill>
                <a:latin typeface="Consolas" pitchFamily="34" charset="0"/>
                <a:ea typeface="Consolas" pitchFamily="34" charset="-122"/>
                <a:cs typeface="Consolas" pitchFamily="34" charset="-120"/>
              </a:rPr>
              <a:t>→  Connecting to Polarion...</a:t>
            </a:r>
            <a:endParaRPr lang="en-US" sz="1150" dirty="0"/>
          </a:p>
          <a:p>
            <a:pPr algn="l" indent="0" marL="0">
              <a:buNone/>
            </a:pPr>
            <a:r>
              <a:rPr lang="en-US" sz="1150" dirty="0">
                <a:solidFill>
                  <a:srgbClr val="3A7BA8"/>
                </a:solidFill>
                <a:latin typeface="Consolas" pitchFamily="34" charset="0"/>
                <a:ea typeface="Consolas" pitchFamily="34" charset="-122"/>
                <a:cs typeface="Consolas" pitchFamily="34" charset="-120"/>
              </a:rPr>
              <a:t>→  Fetched: POL-1234 (Login Flow)</a:t>
            </a:r>
            <a:endParaRPr lang="en-US" sz="1150" dirty="0"/>
          </a:p>
          <a:p>
            <a:pPr algn="l" indent="0" marL="0">
              <a:buNone/>
            </a:pPr>
            <a:r>
              <a:rPr lang="en-US" sz="1150" dirty="0">
                <a:solidFill>
                  <a:srgbClr val="3A7BA8"/>
                </a:solidFill>
                <a:latin typeface="Consolas" pitchFamily="34" charset="0"/>
                <a:ea typeface="Consolas" pitchFamily="34" charset="-122"/>
                <a:cs typeface="Consolas" pitchFamily="34" charset="-120"/>
              </a:rPr>
              <a:t>→  Generating 8 test cases...</a:t>
            </a:r>
            <a:endParaRPr lang="en-US" sz="1150" dirty="0"/>
          </a:p>
          <a:p>
            <a:pPr algn="l" indent="0" marL="0">
              <a:buNone/>
            </a:pPr>
            <a:r>
              <a:rPr lang="en-US" sz="1150" dirty="0">
                <a:solidFill>
                  <a:srgbClr val="3A7BA8"/>
                </a:solidFill>
                <a:latin typeface="Consolas" pitchFamily="34" charset="0"/>
                <a:ea typeface="Consolas" pitchFamily="34" charset="-122"/>
                <a:cs typeface="Consolas" pitchFamily="34" charset="-120"/>
              </a:rPr>
              <a:t>→  Review &amp; confirm? [y/N]</a:t>
            </a:r>
            <a:endParaRPr lang="en-US" sz="1150" dirty="0"/>
          </a:p>
        </p:txBody>
      </p:sp>
      <p:sp>
        <p:nvSpPr>
          <p:cNvPr id="7" name="Shape 5"/>
          <p:cNvSpPr/>
          <p:nvPr/>
        </p:nvSpPr>
        <p:spPr>
          <a:xfrm>
            <a:off x="6080760" y="1097280"/>
            <a:ext cx="2834640" cy="3566160"/>
          </a:xfrm>
          <a:prstGeom prst="rect">
            <a:avLst/>
          </a:prstGeom>
          <a:solidFill>
            <a:srgbClr val="0F2133"/>
          </a:solidFill>
          <a:ln w="12700">
            <a:solidFill>
              <a:srgbClr val="1C3B5A"/>
            </a:solidFill>
            <a:prstDash val="solid"/>
          </a:ln>
        </p:spPr>
      </p:sp>
      <p:sp>
        <p:nvSpPr>
          <p:cNvPr id="8" name="Text 6"/>
          <p:cNvSpPr/>
          <p:nvPr/>
        </p:nvSpPr>
        <p:spPr>
          <a:xfrm>
            <a:off x="6217920" y="1234440"/>
            <a:ext cx="2560320" cy="365760"/>
          </a:xfrm>
          <a:prstGeom prst="rect">
            <a:avLst/>
          </a:prstGeom>
          <a:noFill/>
          <a:ln/>
        </p:spPr>
        <p:txBody>
          <a:bodyPr wrap="square" lIns="0" tIns="0" rIns="0" bIns="0"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What you'll see:</a:t>
            </a:r>
            <a:endParaRPr lang="en-US" sz="1200" dirty="0"/>
          </a:p>
        </p:txBody>
      </p:sp>
      <p:sp>
        <p:nvSpPr>
          <p:cNvPr id="9" name="Text 7"/>
          <p:cNvSpPr/>
          <p:nvPr/>
        </p:nvSpPr>
        <p:spPr>
          <a:xfrm>
            <a:off x="6217920" y="1719072"/>
            <a:ext cx="2560320" cy="438912"/>
          </a:xfrm>
          <a:prstGeom prst="rect">
            <a:avLst/>
          </a:prstGeom>
          <a:noFill/>
          <a:ln/>
        </p:spPr>
        <p:txBody>
          <a:bodyPr wrap="square" rtlCol="0" anchor="ctr"/>
          <a:lstStyle/>
          <a:p>
            <a:pPr indent="0" marL="0">
              <a:buNone/>
            </a:pPr>
            <a:r>
              <a:rPr lang="en-US" sz="1100" dirty="0">
                <a:solidFill>
                  <a:srgbClr val="A8D8F0"/>
                </a:solidFill>
                <a:latin typeface="Calibri" pitchFamily="34" charset="0"/>
                <a:ea typeface="Calibri" pitchFamily="34" charset="-122"/>
                <a:cs typeface="Calibri" pitchFamily="34" charset="-120"/>
              </a:rPr>
              <a:t>① Trigger orchestration in VS Code</a:t>
            </a:r>
            <a:endParaRPr lang="en-US" sz="1100" dirty="0"/>
          </a:p>
        </p:txBody>
      </p:sp>
      <p:sp>
        <p:nvSpPr>
          <p:cNvPr id="10" name="Text 8"/>
          <p:cNvSpPr/>
          <p:nvPr/>
        </p:nvSpPr>
        <p:spPr>
          <a:xfrm>
            <a:off x="6217920" y="2231136"/>
            <a:ext cx="2560320" cy="438912"/>
          </a:xfrm>
          <a:prstGeom prst="rect">
            <a:avLst/>
          </a:prstGeom>
          <a:noFill/>
          <a:ln/>
        </p:spPr>
        <p:txBody>
          <a:bodyPr wrap="square" rtlCol="0" anchor="ctr"/>
          <a:lstStyle/>
          <a:p>
            <a:pPr indent="0" marL="0">
              <a:buNone/>
            </a:pPr>
            <a:r>
              <a:rPr lang="en-US" sz="1100" dirty="0">
                <a:solidFill>
                  <a:srgbClr val="A8D8F0"/>
                </a:solidFill>
                <a:latin typeface="Calibri" pitchFamily="34" charset="0"/>
                <a:ea typeface="Calibri" pitchFamily="34" charset="-122"/>
                <a:cs typeface="Calibri" pitchFamily="34" charset="-120"/>
              </a:rPr>
              <a:t>② Agents read req via polarion-cli</a:t>
            </a:r>
            <a:endParaRPr lang="en-US" sz="1100" dirty="0"/>
          </a:p>
        </p:txBody>
      </p:sp>
      <p:sp>
        <p:nvSpPr>
          <p:cNvPr id="11" name="Text 9"/>
          <p:cNvSpPr/>
          <p:nvPr/>
        </p:nvSpPr>
        <p:spPr>
          <a:xfrm>
            <a:off x="6217920" y="2743200"/>
            <a:ext cx="2560320" cy="438912"/>
          </a:xfrm>
          <a:prstGeom prst="rect">
            <a:avLst/>
          </a:prstGeom>
          <a:noFill/>
          <a:ln/>
        </p:spPr>
        <p:txBody>
          <a:bodyPr wrap="square" rtlCol="0" anchor="ctr"/>
          <a:lstStyle/>
          <a:p>
            <a:pPr indent="0" marL="0">
              <a:buNone/>
            </a:pPr>
            <a:r>
              <a:rPr lang="en-US" sz="1100" dirty="0">
                <a:solidFill>
                  <a:srgbClr val="A8D8F0"/>
                </a:solidFill>
                <a:latin typeface="Calibri" pitchFamily="34" charset="0"/>
                <a:ea typeface="Calibri" pitchFamily="34" charset="-122"/>
                <a:cs typeface="Calibri" pitchFamily="34" charset="-120"/>
              </a:rPr>
              <a:t>③ Test cases &amp; risks generated</a:t>
            </a:r>
            <a:endParaRPr lang="en-US" sz="1100" dirty="0"/>
          </a:p>
        </p:txBody>
      </p:sp>
      <p:sp>
        <p:nvSpPr>
          <p:cNvPr id="12" name="Text 10"/>
          <p:cNvSpPr/>
          <p:nvPr/>
        </p:nvSpPr>
        <p:spPr>
          <a:xfrm>
            <a:off x="6217920" y="3255264"/>
            <a:ext cx="2560320" cy="438912"/>
          </a:xfrm>
          <a:prstGeom prst="rect">
            <a:avLst/>
          </a:prstGeom>
          <a:noFill/>
          <a:ln/>
        </p:spPr>
        <p:txBody>
          <a:bodyPr wrap="square" rtlCol="0" anchor="ctr"/>
          <a:lstStyle/>
          <a:p>
            <a:pPr indent="0" marL="0">
              <a:buNone/>
            </a:pPr>
            <a:r>
              <a:rPr lang="en-US" sz="1100" dirty="0">
                <a:solidFill>
                  <a:srgbClr val="A8D8F0"/>
                </a:solidFill>
                <a:latin typeface="Calibri" pitchFamily="34" charset="0"/>
                <a:ea typeface="Calibri" pitchFamily="34" charset="-122"/>
                <a:cs typeface="Calibri" pitchFamily="34" charset="-120"/>
              </a:rPr>
              <a:t>④ Automated tests run</a:t>
            </a:r>
            <a:endParaRPr lang="en-US" sz="1100" dirty="0"/>
          </a:p>
        </p:txBody>
      </p:sp>
      <p:sp>
        <p:nvSpPr>
          <p:cNvPr id="13" name="Text 11"/>
          <p:cNvSpPr/>
          <p:nvPr/>
        </p:nvSpPr>
        <p:spPr>
          <a:xfrm>
            <a:off x="6217920" y="3767328"/>
            <a:ext cx="2560320" cy="438912"/>
          </a:xfrm>
          <a:prstGeom prst="rect">
            <a:avLst/>
          </a:prstGeom>
          <a:noFill/>
          <a:ln/>
        </p:spPr>
        <p:txBody>
          <a:bodyPr wrap="square" rtlCol="0" anchor="ctr"/>
          <a:lstStyle/>
          <a:p>
            <a:pPr indent="0" marL="0">
              <a:buNone/>
            </a:pPr>
            <a:r>
              <a:rPr lang="en-US" sz="1100" dirty="0">
                <a:solidFill>
                  <a:srgbClr val="A8D8F0"/>
                </a:solidFill>
                <a:latin typeface="Calibri" pitchFamily="34" charset="0"/>
                <a:ea typeface="Calibri" pitchFamily="34" charset="-122"/>
                <a:cs typeface="Calibri" pitchFamily="34" charset="-120"/>
              </a:rPr>
              <a:t>⑤ Polarion Test Run updated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55448"/>
            <a:ext cx="8595360" cy="347472"/>
          </a:xfrm>
          <a:prstGeom prst="rect">
            <a:avLst/>
          </a:prstGeom>
          <a:noFill/>
          <a:ln/>
        </p:spPr>
        <p:txBody>
          <a:bodyPr wrap="square" rtlCol="0" anchor="ctr"/>
          <a:lstStyle/>
          <a:p>
            <a:pPr indent="0" marL="0">
              <a:buNone/>
            </a:pPr>
            <a:r>
              <a:rPr lang="en-US" sz="1000" b="1" spc="300" kern="0" dirty="0">
                <a:solidFill>
                  <a:srgbClr val="02C39A"/>
                </a:solidFill>
                <a:latin typeface="Calibri" pitchFamily="34" charset="0"/>
                <a:ea typeface="Calibri" pitchFamily="34" charset="-122"/>
                <a:cs typeface="Calibri" pitchFamily="34" charset="-120"/>
              </a:rPr>
              <a:t>DEMO  02 / 02</a:t>
            </a:r>
            <a:endParaRPr lang="en-US" sz="1000" dirty="0"/>
          </a:p>
        </p:txBody>
      </p:sp>
      <p:sp>
        <p:nvSpPr>
          <p:cNvPr id="4" name="Text 2"/>
          <p:cNvSpPr/>
          <p:nvPr/>
        </p:nvSpPr>
        <p:spPr>
          <a:xfrm>
            <a:off x="256032" y="457200"/>
            <a:ext cx="859536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Demo – Results in Polarion</a:t>
            </a:r>
            <a:endParaRPr lang="en-US" sz="2600" dirty="0"/>
          </a:p>
        </p:txBody>
      </p:sp>
      <p:sp>
        <p:nvSpPr>
          <p:cNvPr id="5" name="Shape 3"/>
          <p:cNvSpPr/>
          <p:nvPr/>
        </p:nvSpPr>
        <p:spPr>
          <a:xfrm>
            <a:off x="256032" y="1097280"/>
            <a:ext cx="5669280" cy="3566160"/>
          </a:xfrm>
          <a:prstGeom prst="rect">
            <a:avLst/>
          </a:prstGeom>
          <a:solidFill>
            <a:srgbClr val="0F2133"/>
          </a:solidFill>
          <a:ln w="25400">
            <a:solidFill>
              <a:srgbClr val="1C3B5A"/>
            </a:solidFill>
            <a:prstDash val="solid"/>
          </a:ln>
        </p:spPr>
      </p:sp>
      <p:sp>
        <p:nvSpPr>
          <p:cNvPr id="6" name="Text 4"/>
          <p:cNvSpPr/>
          <p:nvPr/>
        </p:nvSpPr>
        <p:spPr>
          <a:xfrm>
            <a:off x="411480" y="1325880"/>
            <a:ext cx="5394960" cy="3154680"/>
          </a:xfrm>
          <a:prstGeom prst="rect">
            <a:avLst/>
          </a:prstGeom>
          <a:noFill/>
          <a:ln/>
        </p:spPr>
        <p:txBody>
          <a:bodyPr wrap="square" rtlCol="0" anchor="t"/>
          <a:lstStyle/>
          <a:p>
            <a:pPr algn="l" indent="0" marL="0">
              <a:buNone/>
            </a:pPr>
            <a:r>
              <a:rPr lang="en-US" sz="1200" dirty="0">
                <a:solidFill>
                  <a:srgbClr val="3A7BA8"/>
                </a:solidFill>
                <a:latin typeface="Consolas" pitchFamily="34" charset="0"/>
                <a:ea typeface="Consolas" pitchFamily="34" charset="-122"/>
                <a:cs typeface="Consolas" pitchFamily="34" charset="-120"/>
              </a:rPr>
              <a:t>[ Polarion Screenshot ]</a:t>
            </a:r>
            <a:endParaRPr lang="en-US" sz="1200" dirty="0"/>
          </a:p>
          <a:p>
            <a:pPr algn="l" indent="0" marL="0">
              <a:buNone/>
            </a:pPr>
            <a:endParaRPr lang="en-US" sz="1200" dirty="0"/>
          </a:p>
          <a:p>
            <a:pPr algn="l" indent="0" marL="0">
              <a:buNone/>
            </a:pPr>
            <a:r>
              <a:rPr lang="en-US" sz="1200" dirty="0">
                <a:solidFill>
                  <a:srgbClr val="3A7BA8"/>
                </a:solidFill>
                <a:latin typeface="Consolas" pitchFamily="34" charset="0"/>
                <a:ea typeface="Consolas" pitchFamily="34" charset="-122"/>
                <a:cs typeface="Consolas" pitchFamily="34" charset="-120"/>
              </a:rPr>
              <a:t>Fresh Test Run created</a:t>
            </a:r>
            <a:endParaRPr lang="en-US" sz="1200" dirty="0"/>
          </a:p>
          <a:p>
            <a:pPr algn="l" indent="0" marL="0">
              <a:buNone/>
            </a:pPr>
            <a:r>
              <a:rPr lang="en-US" sz="1200" dirty="0">
                <a:solidFill>
                  <a:srgbClr val="3A7BA8"/>
                </a:solidFill>
                <a:latin typeface="Consolas" pitchFamily="34" charset="0"/>
                <a:ea typeface="Consolas" pitchFamily="34" charset="-122"/>
                <a:cs typeface="Consolas" pitchFamily="34" charset="-120"/>
              </a:rPr>
              <a:t>Test cases linked to POL-XXXX</a:t>
            </a:r>
            <a:endParaRPr lang="en-US" sz="1200" dirty="0"/>
          </a:p>
          <a:p>
            <a:pPr algn="l" indent="0" marL="0">
              <a:buNone/>
            </a:pPr>
            <a:r>
              <a:rPr lang="en-US" sz="1200" dirty="0">
                <a:solidFill>
                  <a:srgbClr val="3A7BA8"/>
                </a:solidFill>
                <a:latin typeface="Consolas" pitchFamily="34" charset="0"/>
                <a:ea typeface="Consolas" pitchFamily="34" charset="-122"/>
                <a:cs typeface="Consolas" pitchFamily="34" charset="-120"/>
              </a:rPr>
              <a:t>PASS / FAIL / SKIP applied</a:t>
            </a:r>
            <a:endParaRPr lang="en-US" sz="1200" dirty="0"/>
          </a:p>
          <a:p>
            <a:pPr algn="l" indent="0" marL="0">
              <a:buNone/>
            </a:pPr>
            <a:r>
              <a:rPr lang="en-US" sz="1200" dirty="0">
                <a:solidFill>
                  <a:srgbClr val="3A7BA8"/>
                </a:solidFill>
                <a:latin typeface="Consolas" pitchFamily="34" charset="0"/>
                <a:ea typeface="Consolas" pitchFamily="34" charset="-122"/>
                <a:cs typeface="Consolas" pitchFamily="34" charset="-120"/>
              </a:rPr>
              <a:t>Logs &amp; evidence attached</a:t>
            </a:r>
            <a:endParaRPr lang="en-US" sz="1200" dirty="0"/>
          </a:p>
        </p:txBody>
      </p:sp>
      <p:sp>
        <p:nvSpPr>
          <p:cNvPr id="7" name="Text 5"/>
          <p:cNvSpPr/>
          <p:nvPr/>
        </p:nvSpPr>
        <p:spPr>
          <a:xfrm>
            <a:off x="6080760" y="1143000"/>
            <a:ext cx="2834640" cy="365760"/>
          </a:xfrm>
          <a:prstGeom prst="rect">
            <a:avLst/>
          </a:prstGeom>
          <a:noFill/>
          <a:ln/>
        </p:spPr>
        <p:txBody>
          <a:bodyPr wrap="square" lIns="0" tIns="0" rIns="0" bIns="0"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Live results:</a:t>
            </a:r>
            <a:endParaRPr lang="en-US" sz="1200" dirty="0"/>
          </a:p>
        </p:txBody>
      </p:sp>
      <p:sp>
        <p:nvSpPr>
          <p:cNvPr id="8" name="Shape 6"/>
          <p:cNvSpPr/>
          <p:nvPr/>
        </p:nvSpPr>
        <p:spPr>
          <a:xfrm>
            <a:off x="6080760" y="1645920"/>
            <a:ext cx="2788920" cy="731520"/>
          </a:xfrm>
          <a:prstGeom prst="rect">
            <a:avLst/>
          </a:prstGeom>
          <a:solidFill>
            <a:srgbClr val="0F2133"/>
          </a:solidFill>
          <a:ln w="25400">
            <a:solidFill>
              <a:srgbClr val="16A34A"/>
            </a:solidFill>
            <a:prstDash val="solid"/>
          </a:ln>
        </p:spPr>
      </p:sp>
      <p:sp>
        <p:nvSpPr>
          <p:cNvPr id="9" name="Shape 7"/>
          <p:cNvSpPr/>
          <p:nvPr/>
        </p:nvSpPr>
        <p:spPr>
          <a:xfrm>
            <a:off x="6080760" y="1645920"/>
            <a:ext cx="109728" cy="731520"/>
          </a:xfrm>
          <a:prstGeom prst="rect">
            <a:avLst/>
          </a:prstGeom>
          <a:solidFill>
            <a:srgbClr val="16A34A"/>
          </a:solidFill>
          <a:ln w="12700">
            <a:solidFill>
              <a:srgbClr val="16A34A"/>
            </a:solidFill>
            <a:prstDash val="solid"/>
          </a:ln>
        </p:spPr>
      </p:sp>
      <p:sp>
        <p:nvSpPr>
          <p:cNvPr id="10" name="Text 8"/>
          <p:cNvSpPr/>
          <p:nvPr/>
        </p:nvSpPr>
        <p:spPr>
          <a:xfrm>
            <a:off x="6217920" y="1645920"/>
            <a:ext cx="594360" cy="731520"/>
          </a:xfrm>
          <a:prstGeom prst="rect">
            <a:avLst/>
          </a:prstGeom>
          <a:noFill/>
          <a:ln/>
        </p:spPr>
        <p:txBody>
          <a:bodyPr wrap="square" lIns="0" tIns="0" rIns="0" bIns="0" rtlCol="0" anchor="ctr"/>
          <a:lstStyle/>
          <a:p>
            <a:pPr algn="ctr" indent="0" marL="0">
              <a:buNone/>
            </a:pPr>
            <a:r>
              <a:rPr lang="en-US" sz="2600" b="1" dirty="0">
                <a:solidFill>
                  <a:srgbClr val="16A34A"/>
                </a:solidFill>
                <a:latin typeface="Calibri" pitchFamily="34" charset="0"/>
                <a:ea typeface="Calibri" pitchFamily="34" charset="-122"/>
                <a:cs typeface="Calibri" pitchFamily="34" charset="-120"/>
              </a:rPr>
              <a:t>6</a:t>
            </a:r>
            <a:endParaRPr lang="en-US" sz="2600" dirty="0"/>
          </a:p>
        </p:txBody>
      </p:sp>
      <p:sp>
        <p:nvSpPr>
          <p:cNvPr id="11" name="Text 9"/>
          <p:cNvSpPr/>
          <p:nvPr/>
        </p:nvSpPr>
        <p:spPr>
          <a:xfrm>
            <a:off x="6839712" y="1645920"/>
            <a:ext cx="1828800" cy="7315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PASSED</a:t>
            </a:r>
            <a:endParaRPr lang="en-US" sz="1400" dirty="0"/>
          </a:p>
        </p:txBody>
      </p:sp>
      <p:sp>
        <p:nvSpPr>
          <p:cNvPr id="12" name="Shape 10"/>
          <p:cNvSpPr/>
          <p:nvPr/>
        </p:nvSpPr>
        <p:spPr>
          <a:xfrm>
            <a:off x="6080760" y="2542032"/>
            <a:ext cx="2788920" cy="731520"/>
          </a:xfrm>
          <a:prstGeom prst="rect">
            <a:avLst/>
          </a:prstGeom>
          <a:solidFill>
            <a:srgbClr val="0F2133"/>
          </a:solidFill>
          <a:ln w="25400">
            <a:solidFill>
              <a:srgbClr val="E53E3E"/>
            </a:solidFill>
            <a:prstDash val="solid"/>
          </a:ln>
        </p:spPr>
      </p:sp>
      <p:sp>
        <p:nvSpPr>
          <p:cNvPr id="13" name="Shape 11"/>
          <p:cNvSpPr/>
          <p:nvPr/>
        </p:nvSpPr>
        <p:spPr>
          <a:xfrm>
            <a:off x="6080760" y="2542032"/>
            <a:ext cx="109728" cy="731520"/>
          </a:xfrm>
          <a:prstGeom prst="rect">
            <a:avLst/>
          </a:prstGeom>
          <a:solidFill>
            <a:srgbClr val="E53E3E"/>
          </a:solidFill>
          <a:ln w="12700">
            <a:solidFill>
              <a:srgbClr val="E53E3E"/>
            </a:solidFill>
            <a:prstDash val="solid"/>
          </a:ln>
        </p:spPr>
      </p:sp>
      <p:sp>
        <p:nvSpPr>
          <p:cNvPr id="14" name="Text 12"/>
          <p:cNvSpPr/>
          <p:nvPr/>
        </p:nvSpPr>
        <p:spPr>
          <a:xfrm>
            <a:off x="6217920" y="2542032"/>
            <a:ext cx="594360" cy="731520"/>
          </a:xfrm>
          <a:prstGeom prst="rect">
            <a:avLst/>
          </a:prstGeom>
          <a:noFill/>
          <a:ln/>
        </p:spPr>
        <p:txBody>
          <a:bodyPr wrap="square" lIns="0" tIns="0" rIns="0" bIns="0" rtlCol="0" anchor="ctr"/>
          <a:lstStyle/>
          <a:p>
            <a:pPr algn="ctr" indent="0" marL="0">
              <a:buNone/>
            </a:pPr>
            <a:r>
              <a:rPr lang="en-US" sz="2600" b="1" dirty="0">
                <a:solidFill>
                  <a:srgbClr val="E53E3E"/>
                </a:solidFill>
                <a:latin typeface="Calibri" pitchFamily="34" charset="0"/>
                <a:ea typeface="Calibri" pitchFamily="34" charset="-122"/>
                <a:cs typeface="Calibri" pitchFamily="34" charset="-120"/>
              </a:rPr>
              <a:t>1</a:t>
            </a:r>
            <a:endParaRPr lang="en-US" sz="2600" dirty="0"/>
          </a:p>
        </p:txBody>
      </p:sp>
      <p:sp>
        <p:nvSpPr>
          <p:cNvPr id="15" name="Text 13"/>
          <p:cNvSpPr/>
          <p:nvPr/>
        </p:nvSpPr>
        <p:spPr>
          <a:xfrm>
            <a:off x="6839712" y="2542032"/>
            <a:ext cx="1828800" cy="7315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FAILED</a:t>
            </a:r>
            <a:endParaRPr lang="en-US" sz="1400" dirty="0"/>
          </a:p>
        </p:txBody>
      </p:sp>
      <p:sp>
        <p:nvSpPr>
          <p:cNvPr id="16" name="Shape 14"/>
          <p:cNvSpPr/>
          <p:nvPr/>
        </p:nvSpPr>
        <p:spPr>
          <a:xfrm>
            <a:off x="6080760" y="3438144"/>
            <a:ext cx="2788920" cy="731520"/>
          </a:xfrm>
          <a:prstGeom prst="rect">
            <a:avLst/>
          </a:prstGeom>
          <a:solidFill>
            <a:srgbClr val="0F2133"/>
          </a:solidFill>
          <a:ln w="25400">
            <a:solidFill>
              <a:srgbClr val="D97706"/>
            </a:solidFill>
            <a:prstDash val="solid"/>
          </a:ln>
        </p:spPr>
      </p:sp>
      <p:sp>
        <p:nvSpPr>
          <p:cNvPr id="17" name="Shape 15"/>
          <p:cNvSpPr/>
          <p:nvPr/>
        </p:nvSpPr>
        <p:spPr>
          <a:xfrm>
            <a:off x="6080760" y="3438144"/>
            <a:ext cx="109728" cy="731520"/>
          </a:xfrm>
          <a:prstGeom prst="rect">
            <a:avLst/>
          </a:prstGeom>
          <a:solidFill>
            <a:srgbClr val="D97706"/>
          </a:solidFill>
          <a:ln w="12700">
            <a:solidFill>
              <a:srgbClr val="D97706"/>
            </a:solidFill>
            <a:prstDash val="solid"/>
          </a:ln>
        </p:spPr>
      </p:sp>
      <p:sp>
        <p:nvSpPr>
          <p:cNvPr id="18" name="Text 16"/>
          <p:cNvSpPr/>
          <p:nvPr/>
        </p:nvSpPr>
        <p:spPr>
          <a:xfrm>
            <a:off x="6217920" y="3438144"/>
            <a:ext cx="594360" cy="731520"/>
          </a:xfrm>
          <a:prstGeom prst="rect">
            <a:avLst/>
          </a:prstGeom>
          <a:noFill/>
          <a:ln/>
        </p:spPr>
        <p:txBody>
          <a:bodyPr wrap="square" lIns="0" tIns="0" rIns="0" bIns="0" rtlCol="0" anchor="ctr"/>
          <a:lstStyle/>
          <a:p>
            <a:pPr algn="ctr" indent="0" marL="0">
              <a:buNone/>
            </a:pPr>
            <a:r>
              <a:rPr lang="en-US" sz="2600" b="1" dirty="0">
                <a:solidFill>
                  <a:srgbClr val="D97706"/>
                </a:solidFill>
                <a:latin typeface="Calibri" pitchFamily="34" charset="0"/>
                <a:ea typeface="Calibri" pitchFamily="34" charset="-122"/>
                <a:cs typeface="Calibri" pitchFamily="34" charset="-120"/>
              </a:rPr>
              <a:t>1</a:t>
            </a:r>
            <a:endParaRPr lang="en-US" sz="2600" dirty="0"/>
          </a:p>
        </p:txBody>
      </p:sp>
      <p:sp>
        <p:nvSpPr>
          <p:cNvPr id="19" name="Text 17"/>
          <p:cNvSpPr/>
          <p:nvPr/>
        </p:nvSpPr>
        <p:spPr>
          <a:xfrm>
            <a:off x="6839712" y="3438144"/>
            <a:ext cx="1828800" cy="7315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SKIPPED</a:t>
            </a:r>
            <a:endParaRPr lang="en-US" sz="1400" dirty="0"/>
          </a:p>
        </p:txBody>
      </p:sp>
      <p:sp>
        <p:nvSpPr>
          <p:cNvPr id="20" name="Text 18"/>
          <p:cNvSpPr/>
          <p:nvPr/>
        </p:nvSpPr>
        <p:spPr>
          <a:xfrm>
            <a:off x="6080760" y="4434840"/>
            <a:ext cx="2834640" cy="320040"/>
          </a:xfrm>
          <a:prstGeom prst="rect">
            <a:avLst/>
          </a:prstGeom>
          <a:noFill/>
          <a:ln/>
        </p:spPr>
        <p:txBody>
          <a:bodyPr wrap="square" rtlCol="0" anchor="ctr"/>
          <a:lstStyle/>
          <a:p>
            <a:pPr indent="0" marL="0">
              <a:buNone/>
            </a:pPr>
            <a:r>
              <a:rPr lang="en-US" sz="1100" dirty="0">
                <a:solidFill>
                  <a:srgbClr val="16A34A"/>
                </a:solidFill>
                <a:latin typeface="Calibri" pitchFamily="34" charset="0"/>
                <a:ea typeface="Calibri" pitchFamily="34" charset="-122"/>
                <a:cs typeface="Calibri" pitchFamily="34" charset="-120"/>
              </a:rPr>
              <a:t>✓  Evidence attached per test case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64592"/>
            <a:ext cx="8595360" cy="50292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What We're Seeing So Far</a:t>
            </a:r>
            <a:endParaRPr lang="en-US" sz="2600" dirty="0"/>
          </a:p>
        </p:txBody>
      </p:sp>
      <p:sp>
        <p:nvSpPr>
          <p:cNvPr id="4" name="Shape 2"/>
          <p:cNvSpPr/>
          <p:nvPr/>
        </p:nvSpPr>
        <p:spPr>
          <a:xfrm>
            <a:off x="256032" y="731520"/>
            <a:ext cx="8595360" cy="27432"/>
          </a:xfrm>
          <a:prstGeom prst="rect">
            <a:avLst/>
          </a:prstGeom>
          <a:solidFill>
            <a:srgbClr val="E2E8F0"/>
          </a:solidFill>
          <a:ln w="12700">
            <a:solidFill>
              <a:srgbClr val="E2E8F0"/>
            </a:solidFill>
            <a:prstDash val="solid"/>
          </a:ln>
        </p:spPr>
      </p:sp>
      <p:sp>
        <p:nvSpPr>
          <p:cNvPr id="5" name="Shape 3"/>
          <p:cNvSpPr/>
          <p:nvPr/>
        </p:nvSpPr>
        <p:spPr>
          <a:xfrm>
            <a:off x="256032" y="960120"/>
            <a:ext cx="2697480" cy="2011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56032" y="960120"/>
            <a:ext cx="2697480" cy="128016"/>
          </a:xfrm>
          <a:prstGeom prst="rect">
            <a:avLst/>
          </a:prstGeom>
          <a:solidFill>
            <a:srgbClr val="065A82"/>
          </a:solidFill>
          <a:ln w="12700">
            <a:solidFill>
              <a:srgbClr val="065A82"/>
            </a:solidFill>
            <a:prstDash val="solid"/>
          </a:ln>
        </p:spPr>
      </p:sp>
      <p:sp>
        <p:nvSpPr>
          <p:cNvPr id="7" name="Text 5"/>
          <p:cNvSpPr/>
          <p:nvPr/>
        </p:nvSpPr>
        <p:spPr>
          <a:xfrm>
            <a:off x="256032" y="1115568"/>
            <a:ext cx="2697480" cy="841248"/>
          </a:xfrm>
          <a:prstGeom prst="rect">
            <a:avLst/>
          </a:prstGeom>
          <a:noFill/>
          <a:ln/>
        </p:spPr>
        <p:txBody>
          <a:bodyPr wrap="square" lIns="0" tIns="0" rIns="0" bIns="0" rtlCol="0" anchor="ctr"/>
          <a:lstStyle/>
          <a:p>
            <a:pPr algn="ctr" indent="0" marL="0">
              <a:buNone/>
            </a:pPr>
            <a:r>
              <a:rPr lang="en-US" sz="4400" b="1" dirty="0">
                <a:solidFill>
                  <a:srgbClr val="065A82"/>
                </a:solidFill>
                <a:latin typeface="Calibri" pitchFamily="34" charset="0"/>
                <a:ea typeface="Calibri" pitchFamily="34" charset="-122"/>
                <a:cs typeface="Calibri" pitchFamily="34" charset="-120"/>
              </a:rPr>
              <a:t>Hours</a:t>
            </a:r>
            <a:endParaRPr lang="en-US" sz="4400" dirty="0"/>
          </a:p>
        </p:txBody>
      </p:sp>
      <p:sp>
        <p:nvSpPr>
          <p:cNvPr id="8" name="Text 6"/>
          <p:cNvSpPr/>
          <p:nvPr/>
        </p:nvSpPr>
        <p:spPr>
          <a:xfrm>
            <a:off x="347472" y="1993392"/>
            <a:ext cx="2514600" cy="777240"/>
          </a:xfrm>
          <a:prstGeom prst="rect">
            <a:avLst/>
          </a:prstGeom>
          <a:noFill/>
          <a:ln/>
        </p:spPr>
        <p:txBody>
          <a:bodyPr wrap="square"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Saved per feature</a:t>
            </a:r>
            <a:endParaRPr lang="en-US" sz="1300" dirty="0"/>
          </a:p>
          <a:p>
            <a:pPr algn="ctr" indent="0" marL="0">
              <a:buNone/>
            </a:pPr>
            <a:r>
              <a:rPr lang="en-US" sz="1300" dirty="0">
                <a:solidFill>
                  <a:srgbClr val="4A5568"/>
                </a:solidFill>
                <a:latin typeface="Calibri" pitchFamily="34" charset="0"/>
                <a:ea typeface="Calibri" pitchFamily="34" charset="-122"/>
                <a:cs typeface="Calibri" pitchFamily="34" charset="-120"/>
              </a:rPr>
              <a:t>vs. manual process</a:t>
            </a:r>
            <a:endParaRPr lang="en-US" sz="1300" dirty="0"/>
          </a:p>
        </p:txBody>
      </p:sp>
      <p:sp>
        <p:nvSpPr>
          <p:cNvPr id="9" name="Shape 7"/>
          <p:cNvSpPr/>
          <p:nvPr/>
        </p:nvSpPr>
        <p:spPr>
          <a:xfrm>
            <a:off x="3163824" y="960120"/>
            <a:ext cx="2697480" cy="2011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163824" y="960120"/>
            <a:ext cx="2697480" cy="128016"/>
          </a:xfrm>
          <a:prstGeom prst="rect">
            <a:avLst/>
          </a:prstGeom>
          <a:solidFill>
            <a:srgbClr val="16A34A"/>
          </a:solidFill>
          <a:ln w="12700">
            <a:solidFill>
              <a:srgbClr val="16A34A"/>
            </a:solidFill>
            <a:prstDash val="solid"/>
          </a:ln>
        </p:spPr>
      </p:sp>
      <p:sp>
        <p:nvSpPr>
          <p:cNvPr id="11" name="Text 9"/>
          <p:cNvSpPr/>
          <p:nvPr/>
        </p:nvSpPr>
        <p:spPr>
          <a:xfrm>
            <a:off x="3163824" y="1115568"/>
            <a:ext cx="2697480" cy="841248"/>
          </a:xfrm>
          <a:prstGeom prst="rect">
            <a:avLst/>
          </a:prstGeom>
          <a:noFill/>
          <a:ln/>
        </p:spPr>
        <p:txBody>
          <a:bodyPr wrap="square" lIns="0" tIns="0" rIns="0" bIns="0" rtlCol="0" anchor="ctr"/>
          <a:lstStyle/>
          <a:p>
            <a:pPr algn="ctr" indent="0" marL="0">
              <a:buNone/>
            </a:pPr>
            <a:r>
              <a:rPr lang="en-US" sz="4400" b="1" dirty="0">
                <a:solidFill>
                  <a:srgbClr val="16A34A"/>
                </a:solidFill>
                <a:latin typeface="Calibri" pitchFamily="34" charset="0"/>
                <a:ea typeface="Calibri" pitchFamily="34" charset="-122"/>
                <a:cs typeface="Calibri" pitchFamily="34" charset="-120"/>
              </a:rPr>
              <a:t>100%</a:t>
            </a:r>
            <a:endParaRPr lang="en-US" sz="4400" dirty="0"/>
          </a:p>
        </p:txBody>
      </p:sp>
      <p:sp>
        <p:nvSpPr>
          <p:cNvPr id="12" name="Text 10"/>
          <p:cNvSpPr/>
          <p:nvPr/>
        </p:nvSpPr>
        <p:spPr>
          <a:xfrm>
            <a:off x="3255264" y="1993392"/>
            <a:ext cx="2514600" cy="777240"/>
          </a:xfrm>
          <a:prstGeom prst="rect">
            <a:avLst/>
          </a:prstGeom>
          <a:noFill/>
          <a:ln/>
        </p:spPr>
        <p:txBody>
          <a:bodyPr wrap="square"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Traceability in</a:t>
            </a:r>
            <a:endParaRPr lang="en-US" sz="1300" dirty="0"/>
          </a:p>
          <a:p>
            <a:pPr algn="ctr" indent="0" marL="0">
              <a:buNone/>
            </a:pPr>
            <a:r>
              <a:rPr lang="en-US" sz="1300" dirty="0">
                <a:solidFill>
                  <a:srgbClr val="4A5568"/>
                </a:solidFill>
                <a:latin typeface="Calibri" pitchFamily="34" charset="0"/>
                <a:ea typeface="Calibri" pitchFamily="34" charset="-122"/>
                <a:cs typeface="Calibri" pitchFamily="34" charset="-120"/>
              </a:rPr>
              <a:t>Polarion, automatically</a:t>
            </a:r>
            <a:endParaRPr lang="en-US" sz="1300" dirty="0"/>
          </a:p>
        </p:txBody>
      </p:sp>
      <p:sp>
        <p:nvSpPr>
          <p:cNvPr id="13" name="Shape 11"/>
          <p:cNvSpPr/>
          <p:nvPr/>
        </p:nvSpPr>
        <p:spPr>
          <a:xfrm>
            <a:off x="6071616" y="960120"/>
            <a:ext cx="2697480" cy="2011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071616" y="960120"/>
            <a:ext cx="2697480" cy="128016"/>
          </a:xfrm>
          <a:prstGeom prst="rect">
            <a:avLst/>
          </a:prstGeom>
          <a:solidFill>
            <a:srgbClr val="7C3AED"/>
          </a:solidFill>
          <a:ln w="12700">
            <a:solidFill>
              <a:srgbClr val="7C3AED"/>
            </a:solidFill>
            <a:prstDash val="solid"/>
          </a:ln>
        </p:spPr>
      </p:sp>
      <p:sp>
        <p:nvSpPr>
          <p:cNvPr id="15" name="Text 13"/>
          <p:cNvSpPr/>
          <p:nvPr/>
        </p:nvSpPr>
        <p:spPr>
          <a:xfrm>
            <a:off x="6071616" y="1115568"/>
            <a:ext cx="2697480" cy="841248"/>
          </a:xfrm>
          <a:prstGeom prst="rect">
            <a:avLst/>
          </a:prstGeom>
          <a:noFill/>
          <a:ln/>
        </p:spPr>
        <p:txBody>
          <a:bodyPr wrap="square" lIns="0" tIns="0" rIns="0" bIns="0" rtlCol="0" anchor="ctr"/>
          <a:lstStyle/>
          <a:p>
            <a:pPr algn="ctr" indent="0" marL="0">
              <a:buNone/>
            </a:pPr>
            <a:r>
              <a:rPr lang="en-US" sz="4400" b="1" dirty="0">
                <a:solidFill>
                  <a:srgbClr val="7C3AED"/>
                </a:solidFill>
                <a:latin typeface="Calibri" pitchFamily="34" charset="0"/>
                <a:ea typeface="Calibri" pitchFamily="34" charset="-122"/>
                <a:cs typeface="Calibri" pitchFamily="34" charset="-120"/>
              </a:rPr>
              <a:t>Minutes</a:t>
            </a:r>
            <a:endParaRPr lang="en-US" sz="4400" dirty="0"/>
          </a:p>
        </p:txBody>
      </p:sp>
      <p:sp>
        <p:nvSpPr>
          <p:cNvPr id="16" name="Text 14"/>
          <p:cNvSpPr/>
          <p:nvPr/>
        </p:nvSpPr>
        <p:spPr>
          <a:xfrm>
            <a:off x="6163056" y="1993392"/>
            <a:ext cx="2514600" cy="777240"/>
          </a:xfrm>
          <a:prstGeom prst="rect">
            <a:avLst/>
          </a:prstGeom>
          <a:noFill/>
          <a:ln/>
        </p:spPr>
        <p:txBody>
          <a:bodyPr wrap="square"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End-to-end loop</a:t>
            </a:r>
            <a:endParaRPr lang="en-US" sz="1300" dirty="0"/>
          </a:p>
          <a:p>
            <a:pPr algn="ctr" indent="0" marL="0">
              <a:buNone/>
            </a:pPr>
            <a:r>
              <a:rPr lang="en-US" sz="1300" dirty="0">
                <a:solidFill>
                  <a:srgbClr val="4A5568"/>
                </a:solidFill>
                <a:latin typeface="Calibri" pitchFamily="34" charset="0"/>
                <a:ea typeface="Calibri" pitchFamily="34" charset="-122"/>
                <a:cs typeface="Calibri" pitchFamily="34" charset="-120"/>
              </a:rPr>
              <a:t>per requirement</a:t>
            </a:r>
            <a:endParaRPr lang="en-US" sz="1300" dirty="0"/>
          </a:p>
        </p:txBody>
      </p:sp>
      <p:sp>
        <p:nvSpPr>
          <p:cNvPr id="17" name="Shape 15"/>
          <p:cNvSpPr/>
          <p:nvPr/>
        </p:nvSpPr>
        <p:spPr>
          <a:xfrm>
            <a:off x="256032" y="3246120"/>
            <a:ext cx="269748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56032" y="3246120"/>
            <a:ext cx="91440" cy="1600200"/>
          </a:xfrm>
          <a:prstGeom prst="rect">
            <a:avLst/>
          </a:prstGeom>
          <a:solidFill>
            <a:srgbClr val="065A82"/>
          </a:solidFill>
          <a:ln w="12700">
            <a:solidFill>
              <a:srgbClr val="065A82"/>
            </a:solidFill>
            <a:prstDash val="solid"/>
          </a:ln>
        </p:spPr>
      </p:sp>
      <p:sp>
        <p:nvSpPr>
          <p:cNvPr id="19" name="Text 17"/>
          <p:cNvSpPr/>
          <p:nvPr/>
        </p:nvSpPr>
        <p:spPr>
          <a:xfrm>
            <a:off x="457200" y="3337560"/>
            <a:ext cx="2377440" cy="38404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More Consistent</a:t>
            </a:r>
            <a:endParaRPr lang="en-US" sz="1300" dirty="0"/>
          </a:p>
        </p:txBody>
      </p:sp>
      <p:sp>
        <p:nvSpPr>
          <p:cNvPr id="20" name="Text 18"/>
          <p:cNvSpPr/>
          <p:nvPr/>
        </p:nvSpPr>
        <p:spPr>
          <a:xfrm>
            <a:off x="457200" y="3767328"/>
            <a:ext cx="2377440" cy="91440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Test coverage &amp; risk ID</a:t>
            </a:r>
            <a:endParaRPr lang="en-US" sz="1200" dirty="0"/>
          </a:p>
          <a:p>
            <a:pPr indent="0" marL="0">
              <a:buNone/>
            </a:pPr>
            <a:r>
              <a:rPr lang="en-US" sz="1200" dirty="0">
                <a:solidFill>
                  <a:srgbClr val="4A5568"/>
                </a:solidFill>
                <a:latin typeface="Calibri" pitchFamily="34" charset="0"/>
                <a:ea typeface="Calibri" pitchFamily="34" charset="-122"/>
                <a:cs typeface="Calibri" pitchFamily="34" charset="-120"/>
              </a:rPr>
              <a:t>no longer author-dependent</a:t>
            </a:r>
            <a:endParaRPr lang="en-US" sz="1200" dirty="0"/>
          </a:p>
        </p:txBody>
      </p:sp>
      <p:sp>
        <p:nvSpPr>
          <p:cNvPr id="21" name="Shape 19"/>
          <p:cNvSpPr/>
          <p:nvPr/>
        </p:nvSpPr>
        <p:spPr>
          <a:xfrm>
            <a:off x="3163824" y="3246120"/>
            <a:ext cx="269748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163824" y="3246120"/>
            <a:ext cx="91440" cy="1600200"/>
          </a:xfrm>
          <a:prstGeom prst="rect">
            <a:avLst/>
          </a:prstGeom>
          <a:solidFill>
            <a:srgbClr val="7C3AED"/>
          </a:solidFill>
          <a:ln w="12700">
            <a:solidFill>
              <a:srgbClr val="7C3AED"/>
            </a:solidFill>
            <a:prstDash val="solid"/>
          </a:ln>
        </p:spPr>
      </p:sp>
      <p:sp>
        <p:nvSpPr>
          <p:cNvPr id="23" name="Text 21"/>
          <p:cNvSpPr/>
          <p:nvPr/>
        </p:nvSpPr>
        <p:spPr>
          <a:xfrm>
            <a:off x="3364992" y="3337560"/>
            <a:ext cx="2377440" cy="38404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Higher-Value Work</a:t>
            </a:r>
            <a:endParaRPr lang="en-US" sz="1300" dirty="0"/>
          </a:p>
        </p:txBody>
      </p:sp>
      <p:sp>
        <p:nvSpPr>
          <p:cNvPr id="24" name="Text 22"/>
          <p:cNvSpPr/>
          <p:nvPr/>
        </p:nvSpPr>
        <p:spPr>
          <a:xfrm>
            <a:off x="3364992" y="3767328"/>
            <a:ext cx="2377440" cy="91440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Engineers focus on</a:t>
            </a:r>
            <a:endParaRPr lang="en-US" sz="1200" dirty="0"/>
          </a:p>
          <a:p>
            <a:pPr indent="0" marL="0">
              <a:buNone/>
            </a:pPr>
            <a:r>
              <a:rPr lang="en-US" sz="1200" dirty="0">
                <a:solidFill>
                  <a:srgbClr val="4A5568"/>
                </a:solidFill>
                <a:latin typeface="Calibri" pitchFamily="34" charset="0"/>
                <a:ea typeface="Calibri" pitchFamily="34" charset="-122"/>
                <a:cs typeface="Calibri" pitchFamily="34" charset="-120"/>
              </a:rPr>
              <a:t>review, logic &amp; complex cases</a:t>
            </a:r>
            <a:endParaRPr lang="en-US" sz="1200" dirty="0"/>
          </a:p>
        </p:txBody>
      </p:sp>
      <p:sp>
        <p:nvSpPr>
          <p:cNvPr id="25" name="Shape 23"/>
          <p:cNvSpPr/>
          <p:nvPr/>
        </p:nvSpPr>
        <p:spPr>
          <a:xfrm>
            <a:off x="6071616" y="3246120"/>
            <a:ext cx="269748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071616" y="3246120"/>
            <a:ext cx="91440" cy="1600200"/>
          </a:xfrm>
          <a:prstGeom prst="rect">
            <a:avLst/>
          </a:prstGeom>
          <a:solidFill>
            <a:srgbClr val="16A34A"/>
          </a:solidFill>
          <a:ln w="12700">
            <a:solidFill>
              <a:srgbClr val="16A34A"/>
            </a:solidFill>
            <a:prstDash val="solid"/>
          </a:ln>
        </p:spPr>
      </p:sp>
      <p:sp>
        <p:nvSpPr>
          <p:cNvPr id="27" name="Text 25"/>
          <p:cNvSpPr/>
          <p:nvPr/>
        </p:nvSpPr>
        <p:spPr>
          <a:xfrm>
            <a:off x="6272784" y="3337560"/>
            <a:ext cx="2377440" cy="38404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No New Vendor</a:t>
            </a:r>
            <a:endParaRPr lang="en-US" sz="1300" dirty="0"/>
          </a:p>
        </p:txBody>
      </p:sp>
      <p:sp>
        <p:nvSpPr>
          <p:cNvPr id="28" name="Text 26"/>
          <p:cNvSpPr/>
          <p:nvPr/>
        </p:nvSpPr>
        <p:spPr>
          <a:xfrm>
            <a:off x="6272784" y="3767328"/>
            <a:ext cx="2377440" cy="91440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Built entirely on</a:t>
            </a:r>
            <a:endParaRPr lang="en-US" sz="1200" dirty="0"/>
          </a:p>
          <a:p>
            <a:pPr indent="0" marL="0">
              <a:buNone/>
            </a:pPr>
            <a:r>
              <a:rPr lang="en-US" sz="1200" dirty="0">
                <a:solidFill>
                  <a:srgbClr val="4A5568"/>
                </a:solidFill>
                <a:latin typeface="Calibri" pitchFamily="34" charset="0"/>
                <a:ea typeface="Calibri" pitchFamily="34" charset="-122"/>
                <a:cs typeface="Calibri" pitchFamily="34" charset="-120"/>
              </a:rPr>
              <a:t>tools we already own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720840" y="0"/>
            <a:ext cx="2423160" cy="5143500"/>
          </a:xfrm>
          <a:prstGeom prst="rect">
            <a:avLst/>
          </a:prstGeom>
          <a:solidFill>
            <a:srgbClr val="065A82"/>
          </a:solidFill>
          <a:ln w="12700">
            <a:solidFill>
              <a:srgbClr val="065A82"/>
            </a:solidFill>
            <a:prstDash val="solid"/>
          </a:ln>
        </p:spPr>
      </p:sp>
      <p:sp>
        <p:nvSpPr>
          <p:cNvPr id="3" name="Shape 1"/>
          <p:cNvSpPr/>
          <p:nvPr/>
        </p:nvSpPr>
        <p:spPr>
          <a:xfrm>
            <a:off x="6647688" y="0"/>
            <a:ext cx="73152" cy="5143500"/>
          </a:xfrm>
          <a:prstGeom prst="rect">
            <a:avLst/>
          </a:prstGeom>
          <a:solidFill>
            <a:srgbClr val="02C39A"/>
          </a:solidFill>
          <a:ln w="12700">
            <a:solidFill>
              <a:srgbClr val="02C39A"/>
            </a:solidFill>
            <a:prstDash val="solid"/>
          </a:ln>
        </p:spPr>
      </p:sp>
      <p:sp>
        <p:nvSpPr>
          <p:cNvPr id="4" name="Shape 2"/>
          <p:cNvSpPr/>
          <p:nvPr/>
        </p:nvSpPr>
        <p:spPr>
          <a:xfrm>
            <a:off x="0" y="0"/>
            <a:ext cx="91440" cy="5143500"/>
          </a:xfrm>
          <a:prstGeom prst="rect">
            <a:avLst/>
          </a:prstGeom>
          <a:solidFill>
            <a:srgbClr val="02C39A"/>
          </a:solidFill>
          <a:ln w="12700">
            <a:solidFill>
              <a:srgbClr val="02C39A"/>
            </a:solidFill>
            <a:prstDash val="solid"/>
          </a:ln>
        </p:spPr>
      </p:sp>
      <p:sp>
        <p:nvSpPr>
          <p:cNvPr id="5" name="Text 3"/>
          <p:cNvSpPr/>
          <p:nvPr/>
        </p:nvSpPr>
        <p:spPr>
          <a:xfrm>
            <a:off x="256032" y="155448"/>
            <a:ext cx="6217920" cy="347472"/>
          </a:xfrm>
          <a:prstGeom prst="rect">
            <a:avLst/>
          </a:prstGeom>
          <a:noFill/>
          <a:ln/>
        </p:spPr>
        <p:txBody>
          <a:bodyPr wrap="square" rtlCol="0" anchor="ctr"/>
          <a:lstStyle/>
          <a:p>
            <a:pPr indent="0" marL="0">
              <a:buNone/>
            </a:pPr>
            <a:r>
              <a:rPr lang="en-US" sz="1000" b="1" spc="300" kern="0" dirty="0">
                <a:solidFill>
                  <a:srgbClr val="02C39A"/>
                </a:solidFill>
                <a:latin typeface="Calibri" pitchFamily="34" charset="0"/>
                <a:ea typeface="Calibri" pitchFamily="34" charset="-122"/>
                <a:cs typeface="Calibri" pitchFamily="34" charset="-120"/>
              </a:rPr>
              <a:t>NEXT STEPS</a:t>
            </a:r>
            <a:endParaRPr lang="en-US" sz="1000" dirty="0"/>
          </a:p>
        </p:txBody>
      </p:sp>
      <p:sp>
        <p:nvSpPr>
          <p:cNvPr id="6" name="Text 4"/>
          <p:cNvSpPr/>
          <p:nvPr/>
        </p:nvSpPr>
        <p:spPr>
          <a:xfrm>
            <a:off x="256032" y="457200"/>
            <a:ext cx="6217920"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Let's Make This Useful for Everyone</a:t>
            </a:r>
            <a:endParaRPr lang="en-US" sz="2400" dirty="0"/>
          </a:p>
        </p:txBody>
      </p:sp>
      <p:pic>
        <p:nvPicPr>
          <p:cNvPr id="7" name="Image 0" descr="preencoded.png">    </p:cNvPr>
          <p:cNvPicPr>
            <a:picLocks noChangeAspect="1"/>
          </p:cNvPicPr>
          <p:nvPr/>
        </p:nvPicPr>
        <p:blipFill>
          <a:blip r:embed="rId1"/>
          <a:stretch>
            <a:fillRect/>
          </a:stretch>
        </p:blipFill>
        <p:spPr>
          <a:xfrm>
            <a:off x="256032" y="1261872"/>
            <a:ext cx="347472" cy="347472"/>
          </a:xfrm>
          <a:prstGeom prst="rect">
            <a:avLst/>
          </a:prstGeom>
        </p:spPr>
      </p:pic>
      <p:sp>
        <p:nvSpPr>
          <p:cNvPr id="8" name="Text 5"/>
          <p:cNvSpPr/>
          <p:nvPr/>
        </p:nvSpPr>
        <p:spPr>
          <a:xfrm>
            <a:off x="749808" y="1207008"/>
            <a:ext cx="56692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 can share templates + CLI examples</a:t>
            </a:r>
            <a:endParaRPr lang="en-US" sz="1500" dirty="0"/>
          </a:p>
        </p:txBody>
      </p:sp>
      <p:sp>
        <p:nvSpPr>
          <p:cNvPr id="9" name="Text 6"/>
          <p:cNvSpPr/>
          <p:nvPr/>
        </p:nvSpPr>
        <p:spPr>
          <a:xfrm>
            <a:off x="749808" y="1572768"/>
            <a:ext cx="56692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Agent prompts, setup guide, walkthrough doc</a:t>
            </a:r>
            <a:endParaRPr lang="en-US" sz="1100" dirty="0"/>
          </a:p>
        </p:txBody>
      </p:sp>
      <p:pic>
        <p:nvPicPr>
          <p:cNvPr id="10" name="Image 1" descr="preencoded.png">    </p:cNvPr>
          <p:cNvPicPr>
            <a:picLocks noChangeAspect="1"/>
          </p:cNvPicPr>
          <p:nvPr/>
        </p:nvPicPr>
        <p:blipFill>
          <a:blip r:embed="rId2"/>
          <a:stretch>
            <a:fillRect/>
          </a:stretch>
        </p:blipFill>
        <p:spPr>
          <a:xfrm>
            <a:off x="256032" y="2121408"/>
            <a:ext cx="347472" cy="347472"/>
          </a:xfrm>
          <a:prstGeom prst="rect">
            <a:avLst/>
          </a:prstGeom>
        </p:spPr>
      </p:pic>
      <p:sp>
        <p:nvSpPr>
          <p:cNvPr id="11" name="Text 7"/>
          <p:cNvSpPr/>
          <p:nvPr/>
        </p:nvSpPr>
        <p:spPr>
          <a:xfrm>
            <a:off x="749808" y="2066544"/>
            <a:ext cx="56692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Feedback wanted</a:t>
            </a:r>
            <a:endParaRPr lang="en-US" sz="1500" dirty="0"/>
          </a:p>
        </p:txBody>
      </p:sp>
      <p:sp>
        <p:nvSpPr>
          <p:cNvPr id="12" name="Text 8"/>
          <p:cNvSpPr/>
          <p:nvPr/>
        </p:nvSpPr>
        <p:spPr>
          <a:xfrm>
            <a:off x="749808" y="2432304"/>
            <a:ext cx="56692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Which requirement types should we test next?</a:t>
            </a:r>
            <a:endParaRPr lang="en-US" sz="1100" dirty="0"/>
          </a:p>
        </p:txBody>
      </p:sp>
      <p:pic>
        <p:nvPicPr>
          <p:cNvPr id="13" name="Image 2" descr="preencoded.png">    </p:cNvPr>
          <p:cNvPicPr>
            <a:picLocks noChangeAspect="1"/>
          </p:cNvPicPr>
          <p:nvPr/>
        </p:nvPicPr>
        <p:blipFill>
          <a:blip r:embed="rId3"/>
          <a:stretch>
            <a:fillRect/>
          </a:stretch>
        </p:blipFill>
        <p:spPr>
          <a:xfrm>
            <a:off x="256032" y="2980944"/>
            <a:ext cx="347472" cy="347472"/>
          </a:xfrm>
          <a:prstGeom prst="rect">
            <a:avLst/>
          </a:prstGeom>
        </p:spPr>
      </p:pic>
      <p:sp>
        <p:nvSpPr>
          <p:cNvPr id="14" name="Text 9"/>
          <p:cNvSpPr/>
          <p:nvPr/>
        </p:nvSpPr>
        <p:spPr>
          <a:xfrm>
            <a:off x="749808" y="2926080"/>
            <a:ext cx="56692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Ideas for extensions?</a:t>
            </a:r>
            <a:endParaRPr lang="en-US" sz="1500" dirty="0"/>
          </a:p>
        </p:txBody>
      </p:sp>
      <p:sp>
        <p:nvSpPr>
          <p:cNvPr id="15" name="Text 10"/>
          <p:cNvSpPr/>
          <p:nvPr/>
        </p:nvSpPr>
        <p:spPr>
          <a:xfrm>
            <a:off x="749808" y="3291840"/>
            <a:ext cx="56692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Self-healing tests, req updates, CI integration</a:t>
            </a:r>
            <a:endParaRPr lang="en-US" sz="1100" dirty="0"/>
          </a:p>
        </p:txBody>
      </p:sp>
      <p:pic>
        <p:nvPicPr>
          <p:cNvPr id="16" name="Image 3" descr="preencoded.png">    </p:cNvPr>
          <p:cNvPicPr>
            <a:picLocks noChangeAspect="1"/>
          </p:cNvPicPr>
          <p:nvPr/>
        </p:nvPicPr>
        <p:blipFill>
          <a:blip r:embed="rId4"/>
          <a:stretch>
            <a:fillRect/>
          </a:stretch>
        </p:blipFill>
        <p:spPr>
          <a:xfrm>
            <a:off x="256032" y="3840480"/>
            <a:ext cx="347472" cy="347472"/>
          </a:xfrm>
          <a:prstGeom prst="rect">
            <a:avLst/>
          </a:prstGeom>
        </p:spPr>
      </p:pic>
      <p:sp>
        <p:nvSpPr>
          <p:cNvPr id="17" name="Text 11"/>
          <p:cNvSpPr/>
          <p:nvPr/>
        </p:nvSpPr>
        <p:spPr>
          <a:xfrm>
            <a:off x="749808" y="3785616"/>
            <a:ext cx="56692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Questions?</a:t>
            </a:r>
            <a:endParaRPr lang="en-US" sz="1500" dirty="0"/>
          </a:p>
        </p:txBody>
      </p:sp>
      <p:sp>
        <p:nvSpPr>
          <p:cNvPr id="18" name="Text 12"/>
          <p:cNvSpPr/>
          <p:nvPr/>
        </p:nvSpPr>
        <p:spPr>
          <a:xfrm>
            <a:off x="749808" y="4151376"/>
            <a:ext cx="56692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Happy to do a deeper session with your team</a:t>
            </a:r>
            <a:endParaRPr lang="en-US" sz="1100" dirty="0"/>
          </a:p>
        </p:txBody>
      </p:sp>
      <p:sp>
        <p:nvSpPr>
          <p:cNvPr id="19" name="Text 13"/>
          <p:cNvSpPr/>
          <p:nvPr/>
        </p:nvSpPr>
        <p:spPr>
          <a:xfrm>
            <a:off x="6858000" y="868680"/>
            <a:ext cx="210312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Resources</a:t>
            </a:r>
            <a:endParaRPr lang="en-US" sz="1500" dirty="0"/>
          </a:p>
        </p:txBody>
      </p:sp>
      <p:sp>
        <p:nvSpPr>
          <p:cNvPr id="20" name="Shape 14"/>
          <p:cNvSpPr/>
          <p:nvPr/>
        </p:nvSpPr>
        <p:spPr>
          <a:xfrm>
            <a:off x="6949440" y="1417320"/>
            <a:ext cx="1920240" cy="1920240"/>
          </a:xfrm>
          <a:prstGeom prst="rect">
            <a:avLst/>
          </a:prstGeom>
          <a:solidFill>
            <a:srgbClr val="0F2133"/>
          </a:solidFill>
          <a:ln w="25400">
            <a:solidFill>
              <a:srgbClr val="02C39A"/>
            </a:solidFill>
            <a:prstDash val="solid"/>
          </a:ln>
        </p:spPr>
      </p:sp>
      <p:sp>
        <p:nvSpPr>
          <p:cNvPr id="21" name="Text 15"/>
          <p:cNvSpPr/>
          <p:nvPr/>
        </p:nvSpPr>
        <p:spPr>
          <a:xfrm>
            <a:off x="6949440" y="1417320"/>
            <a:ext cx="1920240" cy="19202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 QR Code ]</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or link to</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Confluence / wiki</a:t>
            </a:r>
            <a:endParaRPr lang="en-US" sz="1100" dirty="0"/>
          </a:p>
        </p:txBody>
      </p:sp>
      <p:sp>
        <p:nvSpPr>
          <p:cNvPr id="22" name="Text 16"/>
          <p:cNvSpPr/>
          <p:nvPr/>
        </p:nvSpPr>
        <p:spPr>
          <a:xfrm>
            <a:off x="6858000" y="4160520"/>
            <a:ext cx="2103120" cy="502920"/>
          </a:xfrm>
          <a:prstGeom prst="rect">
            <a:avLst/>
          </a:prstGeom>
          <a:noFill/>
          <a:ln/>
        </p:spPr>
        <p:txBody>
          <a:bodyPr wrap="square" rtlCol="0" anchor="ctr"/>
          <a:lstStyle/>
          <a:p>
            <a:pPr algn="ctr" indent="0" marL="0">
              <a:buNone/>
            </a:pPr>
            <a:r>
              <a:rPr lang="en-US" sz="1600" b="1" dirty="0">
                <a:solidFill>
                  <a:srgbClr val="02C39A"/>
                </a:solidFill>
                <a:latin typeface="Calibri" pitchFamily="34" charset="0"/>
                <a:ea typeface="Calibri" pitchFamily="34" charset="-122"/>
                <a:cs typeface="Calibri"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QA Orchestration with Polarion</dc:title>
  <dc:subject>PptxGenJS Presentation</dc:subject>
  <dc:creator>QA Engineering Team</dc:creator>
  <cp:lastModifiedBy>QA Engineering Team</cp:lastModifiedBy>
  <cp:revision>1</cp:revision>
  <dcterms:created xsi:type="dcterms:W3CDTF">2026-04-03T13:10:10Z</dcterms:created>
  <dcterms:modified xsi:type="dcterms:W3CDTF">2026-04-03T13:10:10Z</dcterms:modified>
</cp:coreProperties>
</file>