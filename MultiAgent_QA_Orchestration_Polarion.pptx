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everyone.
Today I'm showing something I've built that's already saving me time on QA: a multi-agent system that reads Polarion requirements, generates test cases and risks, runs our automated tests, and closes the loop by updating test runs — all with one command in VS Code.
Let's see how it works and how it can help all of us.
[~20–30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felt this. Turning a requirement into solid test cases takes hours. Risks get missed when we're busy. And after tests run, someone still has to create or update the test run in Polarion.
This process is exactly what I wanted to automate — while keeping everything traceable and secure inside our tools.
[~45–60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AI evolve quickly — from autocomplete, to chat, to single agents. I'm not waiting for the future — I'm already using multi-agent orchestration in VS Code with our polarion-cli to handle the full QA cycle.
The goal is simple: agents handle the repetitive loop so we can focus on judgment, edge cases, and business logic — the work only we can do.
[~40–50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stays inside our environment. Nothing new to procure.
Polarion is the source of truth for requirements, test cases and results. The CLI handles authentication and permissions safely — agents call the CLI to read and write in Polarion without ever exposing credentials directly.
VS Code is where the agents live. And our existing pytest suite does the actual test execution — nothing changed there.
[~50–60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team — both humans and agents.
Three humans are in the loop at key decision points:
The Human Analyst creates the requirement in Polarion — that's the starting point for everything.
The QA Engineer is the first review gate — they read the agent-generated test cases and risks, approve them, and add them to the Polarion TPS.
The Developer reads the requirement plus the approved test cases and risks, then implements the feature using TDD — writing unit and integration tests with Polarion test case IDs embedded so they wire up automatically.
Five agents then handle all the mechanical work:
Orchestrator plans. Test Designer generates. Risk Analyst identifies gaps. Test Executor runs the suite. Polarion Updater publishes results with evidence.
Humans own the judgment. Agents own the repetition.
[~1.5–2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flow — let me walk through it.
Phase 1 is automated. The Orchestrator reads the requirement and creates a plan. The Test Designer and Risk Analyst write test case and risk work items directly into Polarion.
Then the pipeline pauses for Human Gate 1: the QA Engineer opens those Polarion work items, reads through the generated test cases and risks, and makes a judgment call. They approve — or send back for revision. Only approved items move forward.
Human Gate 2: the Developer reads the requirement plus the approved test cases and risks, and uses them as a TDD guide to implement the feature or bugfix. They write unit and integration tests referencing the Polarion test case IDs — this is what makes automated execution traceable back to Polarion later.
Phase 2 resumes automatically: the Test Executor runs the test suite, and the Polarion Updater publishes the Test Run with PASS/FAIL/SKIP results and attached evidence — screenshots, logs, whatever is available.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START — approx 2 minutes]
I'm in VS Code on a [feature name or anonymized] branch. I type one command…
Watch the Orchestrator kick off — it connects to Polarion and pulls the requirement.
Here the Test Designer is pulling the requirement text and generating structured test cases with preconditions.
Risk Analyst identifies edge cases the Test Designer flagged.
Test Executor is now running the suite — you can watch the results stream in.
Keep the demo tight — focus on the magic of the handoffs between agents.
[~2 minutes — live or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continues — approx 2 more minutes]
Now let me quickly switch over to show the actual Test Run in Polarion.
Here's the fresh Test Run — created moments ago, linked directly to our requirement.
You can see the test cases are linked, PASS/FAIL/SKIP statuses are already applied, and the logs are attached as evidence — all done automatically by the Polarion Updater.
Nothing was touched manually. The traceability chain is complete: requirement → test cases → test run → results → evidence. All in Polarion.
[~2 minutes — demo ends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runs show clear wins in speed and consistency.
Hours saved per feature — the exact number depends on complexity, but the difference is significant and immediate. 100% traceability in Polarion without anyone touching it manually. And the loop runs in minutes.
Most importantly: this frees us up for higher-value work. Engineers review the output, catch the business logic the agent missed, and focus on the complex cases that genuinely need human judgment.
And we built it entirely on tools we already own — no new vendor, no new procurement.
[~60–75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starting point — built on tools we already own.
I'd love to share the agent prompt templates, polarion-cli examples, and setup guide with anyone who wants to try it. Everything is documented and ready.
Most importantly: I want your feedback. Which requirement types should we throw at the agents next? What broke, what surprised you, what did the agents get wrong?
There are also some obvious extensions to explore — self-healing tests, automatic requirement updates, CI/CD integration. Happy to work on those together.
Thank you — happy to take any questions now, or set up a deeper session with your team.
[~60–90 seconds +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834640" cy="5143500"/>
          </a:xfrm>
          <a:prstGeom prst="rect">
            <a:avLst/>
          </a:prstGeom>
          <a:solidFill>
            <a:srgbClr val="065A82"/>
          </a:solidFill>
          <a:ln w="12700">
            <a:solidFill>
              <a:srgbClr val="065A82"/>
            </a:solidFill>
            <a:prstDash val="solid"/>
          </a:ln>
        </p:spPr>
      </p:sp>
      <p:sp>
        <p:nvSpPr>
          <p:cNvPr id="3" name="Shape 1"/>
          <p:cNvSpPr/>
          <p:nvPr/>
        </p:nvSpPr>
        <p:spPr>
          <a:xfrm>
            <a:off x="2834640" y="0"/>
            <a:ext cx="73152" cy="5143500"/>
          </a:xfrm>
          <a:prstGeom prst="rect">
            <a:avLst/>
          </a:prstGeom>
          <a:solidFill>
            <a:srgbClr val="02C39A"/>
          </a:solidFill>
          <a:ln w="12700">
            <a:solidFill>
              <a:srgbClr val="02C39A"/>
            </a:solidFill>
            <a:prstDash val="solid"/>
          </a:ln>
        </p:spPr>
      </p:sp>
      <p:sp>
        <p:nvSpPr>
          <p:cNvPr id="4" name="Text 2"/>
          <p:cNvSpPr/>
          <p:nvPr/>
        </p:nvSpPr>
        <p:spPr>
          <a:xfrm>
            <a:off x="228600" y="292608"/>
            <a:ext cx="2423160" cy="347472"/>
          </a:xfrm>
          <a:prstGeom prst="rect">
            <a:avLst/>
          </a:prstGeom>
          <a:noFill/>
          <a:ln/>
        </p:spPr>
        <p:txBody>
          <a:bodyPr wrap="square" rtlCol="0" anchor="ctr"/>
          <a:lstStyle/>
          <a:p>
            <a:pPr algn="l" indent="0" marL="0">
              <a:buNone/>
            </a:pPr>
            <a:r>
              <a:rPr lang="en-US" sz="1000" b="1" spc="300" kern="0" dirty="0">
                <a:solidFill>
                  <a:srgbClr val="02C39A"/>
                </a:solidFill>
                <a:latin typeface="Calibri" pitchFamily="34" charset="0"/>
                <a:ea typeface="Calibri" pitchFamily="34" charset="-122"/>
                <a:cs typeface="Calibri" pitchFamily="34" charset="-120"/>
              </a:rPr>
              <a:t>INTERNAL DEMO</a:t>
            </a:r>
            <a:endParaRPr lang="en-US" sz="1000" dirty="0"/>
          </a:p>
        </p:txBody>
      </p:sp>
      <p:sp>
        <p:nvSpPr>
          <p:cNvPr id="5" name="Text 3"/>
          <p:cNvSpPr/>
          <p:nvPr/>
        </p:nvSpPr>
        <p:spPr>
          <a:xfrm>
            <a:off x="228600" y="4434840"/>
            <a:ext cx="2423160" cy="548640"/>
          </a:xfrm>
          <a:prstGeom prst="rect">
            <a:avLst/>
          </a:prstGeom>
          <a:noFill/>
          <a:ln/>
        </p:spPr>
        <p:txBody>
          <a:bodyPr wrap="square" rtlCol="0" anchor="ctr"/>
          <a:lstStyle/>
          <a:p>
            <a:pPr algn="l" indent="0" marL="0">
              <a:buNone/>
            </a:pPr>
            <a:r>
              <a:rPr lang="en-US" sz="1100" dirty="0">
                <a:solidFill>
                  <a:srgbClr val="A8D8F0"/>
                </a:solidFill>
                <a:latin typeface="Calibri" pitchFamily="34" charset="0"/>
                <a:ea typeface="Calibri" pitchFamily="34" charset="-122"/>
                <a:cs typeface="Calibri" pitchFamily="34" charset="-120"/>
              </a:rPr>
              <a:t>QA Engineering Team</a:t>
            </a:r>
            <a:endParaRPr lang="en-US" sz="1100" dirty="0"/>
          </a:p>
          <a:p>
            <a:pPr algn="l" indent="0" marL="0">
              <a:buNone/>
            </a:pPr>
            <a:r>
              <a:rPr lang="en-US" sz="1100" dirty="0">
                <a:solidFill>
                  <a:srgbClr val="A8D8F0"/>
                </a:solidFill>
                <a:latin typeface="Calibri" pitchFamily="34" charset="0"/>
                <a:ea typeface="Calibri" pitchFamily="34" charset="-122"/>
                <a:cs typeface="Calibri" pitchFamily="34" charset="-120"/>
              </a:rPr>
              <a:t>2025</a:t>
            </a:r>
            <a:endParaRPr lang="en-US" sz="1100" dirty="0"/>
          </a:p>
        </p:txBody>
      </p:sp>
      <p:pic>
        <p:nvPicPr>
          <p:cNvPr id="6" name="Image 0" descr="preencoded.png">    </p:cNvPr>
          <p:cNvPicPr>
            <a:picLocks noChangeAspect="1"/>
          </p:cNvPicPr>
          <p:nvPr/>
        </p:nvPicPr>
        <p:blipFill>
          <a:blip r:embed="rId1">
            <a:alphaModFix amt="80000"/>
          </a:blip>
          <a:stretch>
            <a:fillRect/>
          </a:stretch>
        </p:blipFill>
        <p:spPr>
          <a:xfrm>
            <a:off x="960120" y="1371600"/>
            <a:ext cx="914400" cy="914400"/>
          </a:xfrm>
          <a:prstGeom prst="rect">
            <a:avLst/>
          </a:prstGeom>
        </p:spPr>
      </p:pic>
      <p:sp>
        <p:nvSpPr>
          <p:cNvPr id="7" name="Text 4"/>
          <p:cNvSpPr/>
          <p:nvPr/>
        </p:nvSpPr>
        <p:spPr>
          <a:xfrm>
            <a:off x="3154680" y="411480"/>
            <a:ext cx="5669280" cy="246888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Multi-Agent QA</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Orchestration</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with Polarion</a:t>
            </a:r>
            <a:endParaRPr lang="en-US" sz="3600" dirty="0"/>
          </a:p>
        </p:txBody>
      </p:sp>
      <p:sp>
        <p:nvSpPr>
          <p:cNvPr id="8" name="Text 5"/>
          <p:cNvSpPr/>
          <p:nvPr/>
        </p:nvSpPr>
        <p:spPr>
          <a:xfrm>
            <a:off x="3154680" y="2944368"/>
            <a:ext cx="5669280" cy="658368"/>
          </a:xfrm>
          <a:prstGeom prst="rect">
            <a:avLst/>
          </a:prstGeom>
          <a:noFill/>
          <a:ln/>
        </p:spPr>
        <p:txBody>
          <a:bodyPr wrap="square" rtlCol="0" anchor="ctr"/>
          <a:lstStyle/>
          <a:p>
            <a:pPr algn="l" indent="0" marL="0">
              <a:buNone/>
            </a:pPr>
            <a:r>
              <a:rPr lang="en-US" sz="1450" dirty="0">
                <a:solidFill>
                  <a:srgbClr val="A8D8F0"/>
                </a:solidFill>
                <a:latin typeface="Calibri" pitchFamily="34" charset="0"/>
                <a:ea typeface="Calibri" pitchFamily="34" charset="-122"/>
                <a:cs typeface="Calibri" pitchFamily="34" charset="-120"/>
              </a:rPr>
              <a:t>From Requirements to Automated Test Runs</a:t>
            </a:r>
            <a:endParaRPr lang="en-US" sz="1450" dirty="0"/>
          </a:p>
          <a:p>
            <a:pPr algn="l" indent="0" marL="0">
              <a:buNone/>
            </a:pPr>
            <a:r>
              <a:rPr lang="en-US" sz="1450" dirty="0">
                <a:solidFill>
                  <a:srgbClr val="A8D8F0"/>
                </a:solidFill>
                <a:latin typeface="Calibri" pitchFamily="34" charset="0"/>
                <a:ea typeface="Calibri" pitchFamily="34" charset="-122"/>
                <a:cs typeface="Calibri" pitchFamily="34" charset="-120"/>
              </a:rPr>
              <a:t>— Already Running in Our Team</a:t>
            </a:r>
            <a:endParaRPr lang="en-US" sz="1450" dirty="0"/>
          </a:p>
        </p:txBody>
      </p:sp>
      <p:sp>
        <p:nvSpPr>
          <p:cNvPr id="9" name="Text 6"/>
          <p:cNvSpPr/>
          <p:nvPr/>
        </p:nvSpPr>
        <p:spPr>
          <a:xfrm>
            <a:off x="3154680" y="3703320"/>
            <a:ext cx="5669280" cy="475488"/>
          </a:xfrm>
          <a:prstGeom prst="rect">
            <a:avLst/>
          </a:prstGeom>
          <a:noFill/>
          <a:ln/>
        </p:spPr>
        <p:txBody>
          <a:bodyPr wrap="square" rtlCol="0" anchor="ctr"/>
          <a:lstStyle/>
          <a:p>
            <a:pPr algn="l" indent="0" marL="0">
              <a:buNone/>
            </a:pPr>
            <a:r>
              <a:rPr lang="en-US" sz="1200" i="1" dirty="0">
                <a:solidFill>
                  <a:srgbClr val="02C39A"/>
                </a:solidFill>
                <a:latin typeface="Calibri" pitchFamily="34" charset="0"/>
                <a:ea typeface="Calibri" pitchFamily="34" charset="-122"/>
                <a:cs typeface="Calibri" pitchFamily="34" charset="-120"/>
              </a:rPr>
              <a:t>"Turning repetitive QA work into minutes instead of hours"</a:t>
            </a:r>
            <a:endParaRPr lang="en-US" sz="1200" dirty="0"/>
          </a:p>
        </p:txBody>
      </p:sp>
      <p:sp>
        <p:nvSpPr>
          <p:cNvPr id="10" name="Text 7"/>
          <p:cNvSpPr/>
          <p:nvPr/>
        </p:nvSpPr>
        <p:spPr>
          <a:xfrm>
            <a:off x="3154680" y="4663440"/>
            <a:ext cx="5669280" cy="32004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Your Name  ·  Internal Demo – March 2026  ·  VS Code Agents + polarion-cli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QA Pain We All Know</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20624" y="1490472"/>
            <a:ext cx="548640" cy="548640"/>
          </a:xfrm>
          <a:prstGeom prst="ellipse">
            <a:avLst/>
          </a:prstGeom>
          <a:solidFill>
            <a:srgbClr val="F5F8FA"/>
          </a:solidFill>
          <a:ln w="12700">
            <a:solidFill>
              <a:srgbClr val="E2E8F0"/>
            </a:solidFill>
            <a:prstDash val="solid"/>
          </a:ln>
        </p:spPr>
      </p:sp>
      <p:pic>
        <p:nvPicPr>
          <p:cNvPr id="7" name="Image 0" descr="preencoded.png">    </p:cNvPr>
          <p:cNvPicPr>
            <a:picLocks noChangeAspect="1"/>
          </p:cNvPicPr>
          <p:nvPr/>
        </p:nvPicPr>
        <p:blipFill>
          <a:blip r:embed="rId1"/>
          <a:stretch>
            <a:fillRect/>
          </a:stretch>
        </p:blipFill>
        <p:spPr>
          <a:xfrm>
            <a:off x="466344" y="1536192"/>
            <a:ext cx="457200" cy="457200"/>
          </a:xfrm>
          <a:prstGeom prst="rect">
            <a:avLst/>
          </a:prstGeom>
        </p:spPr>
      </p:pic>
      <p:sp>
        <p:nvSpPr>
          <p:cNvPr id="8" name="Text 5"/>
          <p:cNvSpPr/>
          <p:nvPr/>
        </p:nvSpPr>
        <p:spPr>
          <a:xfrm>
            <a:off x="1078992" y="11247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Manual &amp; Time-Consuming</a:t>
            </a:r>
            <a:endParaRPr lang="en-US" sz="1400" dirty="0"/>
          </a:p>
        </p:txBody>
      </p:sp>
      <p:sp>
        <p:nvSpPr>
          <p:cNvPr id="9" name="Text 6"/>
          <p:cNvSpPr/>
          <p:nvPr/>
        </p:nvSpPr>
        <p:spPr>
          <a:xfrm>
            <a:off x="1078992" y="15544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Test case creation:</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hours per requirement</a:t>
            </a:r>
            <a:endParaRPr lang="en-US" sz="1250" dirty="0"/>
          </a:p>
        </p:txBody>
      </p:sp>
      <p:sp>
        <p:nvSpPr>
          <p:cNvPr id="10" name="Shape 7"/>
          <p:cNvSpPr/>
          <p:nvPr/>
        </p:nvSpPr>
        <p:spPr>
          <a:xfrm>
            <a:off x="4709160" y="9601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4873752" y="1490472"/>
            <a:ext cx="548640" cy="548640"/>
          </a:xfrm>
          <a:prstGeom prst="ellipse">
            <a:avLst/>
          </a:prstGeom>
          <a:solidFill>
            <a:srgbClr val="F5F8FA"/>
          </a:solidFill>
          <a:ln w="12700">
            <a:solidFill>
              <a:srgbClr val="E2E8F0"/>
            </a:solidFill>
            <a:prstDash val="solid"/>
          </a:ln>
        </p:spPr>
      </p:sp>
      <p:pic>
        <p:nvPicPr>
          <p:cNvPr id="12" name="Image 1" descr="preencoded.png">    </p:cNvPr>
          <p:cNvPicPr>
            <a:picLocks noChangeAspect="1"/>
          </p:cNvPicPr>
          <p:nvPr/>
        </p:nvPicPr>
        <p:blipFill>
          <a:blip r:embed="rId2"/>
          <a:stretch>
            <a:fillRect/>
          </a:stretch>
        </p:blipFill>
        <p:spPr>
          <a:xfrm>
            <a:off x="4919472" y="1536192"/>
            <a:ext cx="457200" cy="457200"/>
          </a:xfrm>
          <a:prstGeom prst="rect">
            <a:avLst/>
          </a:prstGeom>
        </p:spPr>
      </p:pic>
      <p:sp>
        <p:nvSpPr>
          <p:cNvPr id="13" name="Text 9"/>
          <p:cNvSpPr/>
          <p:nvPr/>
        </p:nvSpPr>
        <p:spPr>
          <a:xfrm>
            <a:off x="5532120" y="11247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Inconsistent Risk ID</a:t>
            </a:r>
            <a:endParaRPr lang="en-US" sz="1400" dirty="0"/>
          </a:p>
        </p:txBody>
      </p:sp>
      <p:sp>
        <p:nvSpPr>
          <p:cNvPr id="14" name="Text 10"/>
          <p:cNvSpPr/>
          <p:nvPr/>
        </p:nvSpPr>
        <p:spPr>
          <a:xfrm>
            <a:off x="5532120" y="15544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Risks missed when</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team is under pressure</a:t>
            </a:r>
            <a:endParaRPr lang="en-US" sz="1250" dirty="0"/>
          </a:p>
        </p:txBody>
      </p:sp>
      <p:sp>
        <p:nvSpPr>
          <p:cNvPr id="15" name="Shape 11"/>
          <p:cNvSpPr/>
          <p:nvPr/>
        </p:nvSpPr>
        <p:spPr>
          <a:xfrm>
            <a:off x="256032" y="27889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2"/>
          <p:cNvSpPr/>
          <p:nvPr/>
        </p:nvSpPr>
        <p:spPr>
          <a:xfrm>
            <a:off x="420624" y="3319272"/>
            <a:ext cx="548640" cy="548640"/>
          </a:xfrm>
          <a:prstGeom prst="ellipse">
            <a:avLst/>
          </a:prstGeom>
          <a:solidFill>
            <a:srgbClr val="F5F8FA"/>
          </a:solidFill>
          <a:ln w="12700">
            <a:solidFill>
              <a:srgbClr val="E2E8F0"/>
            </a:solidFill>
            <a:prstDash val="solid"/>
          </a:ln>
        </p:spPr>
      </p:sp>
      <p:pic>
        <p:nvPicPr>
          <p:cNvPr id="17" name="Image 2" descr="preencoded.png">    </p:cNvPr>
          <p:cNvPicPr>
            <a:picLocks noChangeAspect="1"/>
          </p:cNvPicPr>
          <p:nvPr/>
        </p:nvPicPr>
        <p:blipFill>
          <a:blip r:embed="rId3"/>
          <a:stretch>
            <a:fillRect/>
          </a:stretch>
        </p:blipFill>
        <p:spPr>
          <a:xfrm>
            <a:off x="466344" y="3364992"/>
            <a:ext cx="457200" cy="457200"/>
          </a:xfrm>
          <a:prstGeom prst="rect">
            <a:avLst/>
          </a:prstGeom>
        </p:spPr>
      </p:pic>
      <p:sp>
        <p:nvSpPr>
          <p:cNvPr id="18" name="Text 13"/>
          <p:cNvSpPr/>
          <p:nvPr/>
        </p:nvSpPr>
        <p:spPr>
          <a:xfrm>
            <a:off x="1078992" y="29535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Traceability Gaps</a:t>
            </a:r>
            <a:endParaRPr lang="en-US" sz="1400" dirty="0"/>
          </a:p>
        </p:txBody>
      </p:sp>
      <p:sp>
        <p:nvSpPr>
          <p:cNvPr id="19" name="Text 14"/>
          <p:cNvSpPr/>
          <p:nvPr/>
        </p:nvSpPr>
        <p:spPr>
          <a:xfrm>
            <a:off x="1078992" y="33832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Reqs, tests &amp; results</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often drift apart</a:t>
            </a:r>
            <a:endParaRPr lang="en-US" sz="1250" dirty="0"/>
          </a:p>
        </p:txBody>
      </p:sp>
      <p:sp>
        <p:nvSpPr>
          <p:cNvPr id="20" name="Shape 15"/>
          <p:cNvSpPr/>
          <p:nvPr/>
        </p:nvSpPr>
        <p:spPr>
          <a:xfrm>
            <a:off x="4709160" y="2788920"/>
            <a:ext cx="425196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6"/>
          <p:cNvSpPr/>
          <p:nvPr/>
        </p:nvSpPr>
        <p:spPr>
          <a:xfrm>
            <a:off x="4873752" y="3319272"/>
            <a:ext cx="548640" cy="548640"/>
          </a:xfrm>
          <a:prstGeom prst="ellipse">
            <a:avLst/>
          </a:prstGeom>
          <a:solidFill>
            <a:srgbClr val="F5F8FA"/>
          </a:solidFill>
          <a:ln w="12700">
            <a:solidFill>
              <a:srgbClr val="E2E8F0"/>
            </a:solidFill>
            <a:prstDash val="solid"/>
          </a:ln>
        </p:spPr>
      </p:sp>
      <p:pic>
        <p:nvPicPr>
          <p:cNvPr id="22" name="Image 3" descr="preencoded.png">    </p:cNvPr>
          <p:cNvPicPr>
            <a:picLocks noChangeAspect="1"/>
          </p:cNvPicPr>
          <p:nvPr/>
        </p:nvPicPr>
        <p:blipFill>
          <a:blip r:embed="rId4"/>
          <a:stretch>
            <a:fillRect/>
          </a:stretch>
        </p:blipFill>
        <p:spPr>
          <a:xfrm>
            <a:off x="4919472" y="3364992"/>
            <a:ext cx="457200" cy="457200"/>
          </a:xfrm>
          <a:prstGeom prst="rect">
            <a:avLst/>
          </a:prstGeom>
        </p:spPr>
      </p:pic>
      <p:sp>
        <p:nvSpPr>
          <p:cNvPr id="23" name="Text 17"/>
          <p:cNvSpPr/>
          <p:nvPr/>
        </p:nvSpPr>
        <p:spPr>
          <a:xfrm>
            <a:off x="5532120" y="2953512"/>
            <a:ext cx="3291840" cy="38404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Manual Test Run Updates</a:t>
            </a:r>
            <a:endParaRPr lang="en-US" sz="1400" dirty="0"/>
          </a:p>
        </p:txBody>
      </p:sp>
      <p:sp>
        <p:nvSpPr>
          <p:cNvPr id="24" name="Text 18"/>
          <p:cNvSpPr/>
          <p:nvPr/>
        </p:nvSpPr>
        <p:spPr>
          <a:xfrm>
            <a:off x="5532120" y="3383280"/>
            <a:ext cx="3291840" cy="822960"/>
          </a:xfrm>
          <a:prstGeom prst="rect">
            <a:avLst/>
          </a:prstGeom>
          <a:noFill/>
          <a:ln/>
        </p:spPr>
        <p:txBody>
          <a:bodyPr wrap="square" rtlCol="0" anchor="ctr"/>
          <a:lstStyle/>
          <a:p>
            <a:pPr indent="0" marL="0">
              <a:buNone/>
            </a:pPr>
            <a:r>
              <a:rPr lang="en-US" sz="1250" dirty="0">
                <a:solidFill>
                  <a:srgbClr val="4A5568"/>
                </a:solidFill>
                <a:latin typeface="Calibri" pitchFamily="34" charset="0"/>
                <a:ea typeface="Calibri" pitchFamily="34" charset="-122"/>
                <a:cs typeface="Calibri" pitchFamily="34" charset="-120"/>
              </a:rPr>
              <a:t>Someone still updates</a:t>
            </a:r>
            <a:endParaRPr lang="en-US" sz="1250" dirty="0"/>
          </a:p>
          <a:p>
            <a:pPr indent="0" marL="0">
              <a:buNone/>
            </a:pPr>
            <a:r>
              <a:rPr lang="en-US" sz="1250" dirty="0">
                <a:solidFill>
                  <a:srgbClr val="4A5568"/>
                </a:solidFill>
                <a:latin typeface="Calibri" pitchFamily="34" charset="0"/>
                <a:ea typeface="Calibri" pitchFamily="34" charset="-122"/>
                <a:cs typeface="Calibri" pitchFamily="34" charset="-120"/>
              </a:rPr>
              <a:t>Polarion after each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Where We Are in AI-Assisted Development</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3794760" cy="3657600"/>
          </a:xfrm>
          <a:prstGeom prst="rect">
            <a:avLst/>
          </a:prstGeom>
          <a:solidFill>
            <a:srgbClr val="FEF2F2"/>
          </a:solidFill>
          <a:ln w="12700">
            <a:solidFill>
              <a:srgbClr val="FECACA"/>
            </a:solidFill>
            <a:prstDash val="solid"/>
          </a:ln>
        </p:spPr>
      </p:sp>
      <p:sp>
        <p:nvSpPr>
          <p:cNvPr id="6" name="Text 4"/>
          <p:cNvSpPr/>
          <p:nvPr/>
        </p:nvSpPr>
        <p:spPr>
          <a:xfrm>
            <a:off x="256032" y="1005840"/>
            <a:ext cx="3794760" cy="384048"/>
          </a:xfrm>
          <a:prstGeom prst="rect">
            <a:avLst/>
          </a:prstGeom>
          <a:noFill/>
          <a:ln/>
        </p:spPr>
        <p:txBody>
          <a:bodyPr wrap="square" rtlCol="0" anchor="ctr"/>
          <a:lstStyle/>
          <a:p>
            <a:pPr algn="ctr" indent="0" marL="0">
              <a:buNone/>
            </a:pPr>
            <a:r>
              <a:rPr lang="en-US" sz="1200" b="1" spc="200" kern="0" dirty="0">
                <a:solidFill>
                  <a:srgbClr val="E53E3E"/>
                </a:solidFill>
                <a:latin typeface="Calibri" pitchFamily="34" charset="0"/>
                <a:ea typeface="Calibri" pitchFamily="34" charset="-122"/>
                <a:cs typeface="Calibri" pitchFamily="34" charset="-120"/>
              </a:rPr>
              <a:t>BEFORE</a:t>
            </a:r>
            <a:endParaRPr lang="en-US" sz="1200" dirty="0"/>
          </a:p>
        </p:txBody>
      </p:sp>
      <p:sp>
        <p:nvSpPr>
          <p:cNvPr id="7" name="Text 5"/>
          <p:cNvSpPr/>
          <p:nvPr/>
        </p:nvSpPr>
        <p:spPr>
          <a:xfrm>
            <a:off x="438912" y="1463040"/>
            <a:ext cx="3429000" cy="28346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Code completion only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Chat-based generation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Single agent tasks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Repetitive manual loop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QA as bottleneck</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Polarion updated last</a:t>
            </a:r>
            <a:endParaRPr lang="en-US" sz="1300" dirty="0"/>
          </a:p>
        </p:txBody>
      </p:sp>
      <p:sp>
        <p:nvSpPr>
          <p:cNvPr id="8" name="Text 6"/>
          <p:cNvSpPr/>
          <p:nvPr/>
        </p:nvSpPr>
        <p:spPr>
          <a:xfrm>
            <a:off x="4160520" y="2514600"/>
            <a:ext cx="822960" cy="685800"/>
          </a:xfrm>
          <a:prstGeom prst="rect">
            <a:avLst/>
          </a:prstGeom>
          <a:noFill/>
          <a:ln/>
        </p:spPr>
        <p:txBody>
          <a:bodyPr wrap="square" rtlCol="0" anchor="ctr"/>
          <a:lstStyle/>
          <a:p>
            <a:pPr algn="ctr" indent="0" marL="0">
              <a:buNone/>
            </a:pPr>
            <a:r>
              <a:rPr lang="en-US" sz="3800" b="1" dirty="0">
                <a:solidFill>
                  <a:srgbClr val="02C39A"/>
                </a:solidFill>
                <a:latin typeface="Calibri" pitchFamily="34" charset="0"/>
                <a:ea typeface="Calibri" pitchFamily="34" charset="-122"/>
                <a:cs typeface="Calibri" pitchFamily="34" charset="-120"/>
              </a:rPr>
              <a:t>→</a:t>
            </a:r>
            <a:endParaRPr lang="en-US" sz="3800" dirty="0"/>
          </a:p>
        </p:txBody>
      </p:sp>
      <p:sp>
        <p:nvSpPr>
          <p:cNvPr id="9" name="Shape 7"/>
          <p:cNvSpPr/>
          <p:nvPr/>
        </p:nvSpPr>
        <p:spPr>
          <a:xfrm>
            <a:off x="5093208" y="960120"/>
            <a:ext cx="3794760" cy="3657600"/>
          </a:xfrm>
          <a:prstGeom prst="rect">
            <a:avLst/>
          </a:prstGeom>
          <a:solidFill>
            <a:srgbClr val="F0FDF4"/>
          </a:solidFill>
          <a:ln w="12700">
            <a:solidFill>
              <a:srgbClr val="86EFAC"/>
            </a:solidFill>
            <a:prstDash val="solid"/>
          </a:ln>
        </p:spPr>
      </p:sp>
      <p:sp>
        <p:nvSpPr>
          <p:cNvPr id="10" name="Text 8"/>
          <p:cNvSpPr/>
          <p:nvPr/>
        </p:nvSpPr>
        <p:spPr>
          <a:xfrm>
            <a:off x="5093208" y="1005840"/>
            <a:ext cx="3794760" cy="384048"/>
          </a:xfrm>
          <a:prstGeom prst="rect">
            <a:avLst/>
          </a:prstGeom>
          <a:noFill/>
          <a:ln/>
        </p:spPr>
        <p:txBody>
          <a:bodyPr wrap="square" rtlCol="0" anchor="ctr"/>
          <a:lstStyle/>
          <a:p>
            <a:pPr algn="ctr" indent="0" marL="0">
              <a:buNone/>
            </a:pPr>
            <a:r>
              <a:rPr lang="en-US" sz="1200" b="1" spc="200" kern="0" dirty="0">
                <a:solidFill>
                  <a:srgbClr val="16A34A"/>
                </a:solidFill>
                <a:latin typeface="Calibri" pitchFamily="34" charset="0"/>
                <a:ea typeface="Calibri" pitchFamily="34" charset="-122"/>
                <a:cs typeface="Calibri" pitchFamily="34" charset="-120"/>
              </a:rPr>
              <a:t>AFTER</a:t>
            </a:r>
            <a:endParaRPr lang="en-US" sz="1200" dirty="0"/>
          </a:p>
        </p:txBody>
      </p:sp>
      <p:sp>
        <p:nvSpPr>
          <p:cNvPr id="11" name="Text 9"/>
          <p:cNvSpPr/>
          <p:nvPr/>
        </p:nvSpPr>
        <p:spPr>
          <a:xfrm>
            <a:off x="5276088" y="1463040"/>
            <a:ext cx="3429000" cy="28346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Coordinated multi-agent teams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Agents handle the repetitive loop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We focus on judgment &amp; edge cases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Full traceability by default</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Already running in our team</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No new vendor needed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Tools We're Already Using</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56032" y="1005840"/>
            <a:ext cx="1965960" cy="201168"/>
          </a:xfrm>
          <a:prstGeom prst="rect">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960120" y="1353312"/>
            <a:ext cx="548640" cy="548640"/>
          </a:xfrm>
          <a:prstGeom prst="rect">
            <a:avLst/>
          </a:prstGeom>
        </p:spPr>
      </p:pic>
      <p:sp>
        <p:nvSpPr>
          <p:cNvPr id="8" name="Text 5"/>
          <p:cNvSpPr/>
          <p:nvPr/>
        </p:nvSpPr>
        <p:spPr>
          <a:xfrm>
            <a:off x="347472"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Polarion ALM</a:t>
            </a:r>
            <a:endParaRPr lang="en-US" sz="1300" dirty="0"/>
          </a:p>
        </p:txBody>
      </p:sp>
      <p:sp>
        <p:nvSpPr>
          <p:cNvPr id="9" name="Text 6"/>
          <p:cNvSpPr/>
          <p:nvPr/>
        </p:nvSpPr>
        <p:spPr>
          <a:xfrm>
            <a:off x="347472"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Requirements,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test cases, test runs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full traceability</a:t>
            </a:r>
            <a:endParaRPr lang="en-US" sz="1100" dirty="0"/>
          </a:p>
        </p:txBody>
      </p:sp>
      <p:sp>
        <p:nvSpPr>
          <p:cNvPr id="10" name="Shape 7"/>
          <p:cNvSpPr/>
          <p:nvPr/>
        </p:nvSpPr>
        <p:spPr>
          <a:xfrm>
            <a:off x="960120" y="3767328"/>
            <a:ext cx="548640" cy="548640"/>
          </a:xfrm>
          <a:prstGeom prst="ellipse">
            <a:avLst/>
          </a:prstGeom>
          <a:solidFill>
            <a:srgbClr val="065A82"/>
          </a:solidFill>
          <a:ln w="12700">
            <a:solidFill>
              <a:srgbClr val="065A82"/>
            </a:solidFill>
            <a:prstDash val="solid"/>
          </a:ln>
        </p:spPr>
      </p:sp>
      <p:sp>
        <p:nvSpPr>
          <p:cNvPr id="11" name="Text 8"/>
          <p:cNvSpPr/>
          <p:nvPr/>
        </p:nvSpPr>
        <p:spPr>
          <a:xfrm>
            <a:off x="960120"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Shape 9"/>
          <p:cNvSpPr/>
          <p:nvPr/>
        </p:nvSpPr>
        <p:spPr>
          <a:xfrm>
            <a:off x="2432304"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2432304" y="1005840"/>
            <a:ext cx="1965960" cy="201168"/>
          </a:xfrm>
          <a:prstGeom prst="rect">
            <a:avLst/>
          </a:prstGeom>
          <a:solidFill>
            <a:srgbClr val="1C7293"/>
          </a:solidFill>
          <a:ln w="12700">
            <a:solidFill>
              <a:srgbClr val="1C7293"/>
            </a:solidFill>
            <a:prstDash val="solid"/>
          </a:ln>
        </p:spPr>
      </p:sp>
      <p:pic>
        <p:nvPicPr>
          <p:cNvPr id="14" name="Image 1" descr="preencoded.png">    </p:cNvPr>
          <p:cNvPicPr>
            <a:picLocks noChangeAspect="1"/>
          </p:cNvPicPr>
          <p:nvPr/>
        </p:nvPicPr>
        <p:blipFill>
          <a:blip r:embed="rId2"/>
          <a:stretch>
            <a:fillRect/>
          </a:stretch>
        </p:blipFill>
        <p:spPr>
          <a:xfrm>
            <a:off x="3136392" y="1353312"/>
            <a:ext cx="548640" cy="548640"/>
          </a:xfrm>
          <a:prstGeom prst="rect">
            <a:avLst/>
          </a:prstGeom>
        </p:spPr>
      </p:pic>
      <p:sp>
        <p:nvSpPr>
          <p:cNvPr id="15" name="Text 11"/>
          <p:cNvSpPr/>
          <p:nvPr/>
        </p:nvSpPr>
        <p:spPr>
          <a:xfrm>
            <a:off x="2523744"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polarion-cli</a:t>
            </a:r>
            <a:endParaRPr lang="en-US" sz="1300" dirty="0"/>
          </a:p>
        </p:txBody>
      </p:sp>
      <p:sp>
        <p:nvSpPr>
          <p:cNvPr id="16" name="Text 12"/>
          <p:cNvSpPr/>
          <p:nvPr/>
        </p:nvSpPr>
        <p:spPr>
          <a:xfrm>
            <a:off x="2523744"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Python CLI — secure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bridge to Polarion</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no exposed credentials</a:t>
            </a:r>
            <a:endParaRPr lang="en-US" sz="1100" dirty="0"/>
          </a:p>
        </p:txBody>
      </p:sp>
      <p:sp>
        <p:nvSpPr>
          <p:cNvPr id="17" name="Shape 13"/>
          <p:cNvSpPr/>
          <p:nvPr/>
        </p:nvSpPr>
        <p:spPr>
          <a:xfrm>
            <a:off x="3136392" y="3767328"/>
            <a:ext cx="548640" cy="548640"/>
          </a:xfrm>
          <a:prstGeom prst="ellipse">
            <a:avLst/>
          </a:prstGeom>
          <a:solidFill>
            <a:srgbClr val="1C7293"/>
          </a:solidFill>
          <a:ln w="12700">
            <a:solidFill>
              <a:srgbClr val="1C7293"/>
            </a:solidFill>
            <a:prstDash val="solid"/>
          </a:ln>
        </p:spPr>
      </p:sp>
      <p:sp>
        <p:nvSpPr>
          <p:cNvPr id="18" name="Text 14"/>
          <p:cNvSpPr/>
          <p:nvPr/>
        </p:nvSpPr>
        <p:spPr>
          <a:xfrm>
            <a:off x="3136392"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5"/>
          <p:cNvSpPr/>
          <p:nvPr/>
        </p:nvSpPr>
        <p:spPr>
          <a:xfrm>
            <a:off x="4608576"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6"/>
          <p:cNvSpPr/>
          <p:nvPr/>
        </p:nvSpPr>
        <p:spPr>
          <a:xfrm>
            <a:off x="4608576" y="1005840"/>
            <a:ext cx="1965960" cy="201168"/>
          </a:xfrm>
          <a:prstGeom prst="rect">
            <a:avLst/>
          </a:prstGeom>
          <a:solidFill>
            <a:srgbClr val="7C3AED"/>
          </a:solidFill>
          <a:ln w="12700">
            <a:solidFill>
              <a:srgbClr val="7C3AED"/>
            </a:solidFill>
            <a:prstDash val="solid"/>
          </a:ln>
        </p:spPr>
      </p:sp>
      <p:pic>
        <p:nvPicPr>
          <p:cNvPr id="21" name="Image 2" descr="preencoded.png">    </p:cNvPr>
          <p:cNvPicPr>
            <a:picLocks noChangeAspect="1"/>
          </p:cNvPicPr>
          <p:nvPr/>
        </p:nvPicPr>
        <p:blipFill>
          <a:blip r:embed="rId3"/>
          <a:stretch>
            <a:fillRect/>
          </a:stretch>
        </p:blipFill>
        <p:spPr>
          <a:xfrm>
            <a:off x="5312664" y="1353312"/>
            <a:ext cx="548640" cy="548640"/>
          </a:xfrm>
          <a:prstGeom prst="rect">
            <a:avLst/>
          </a:prstGeom>
        </p:spPr>
      </p:pic>
      <p:sp>
        <p:nvSpPr>
          <p:cNvPr id="22" name="Text 17"/>
          <p:cNvSpPr/>
          <p:nvPr/>
        </p:nvSpPr>
        <p:spPr>
          <a:xfrm>
            <a:off x="4700016"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VS Code Agents</a:t>
            </a:r>
            <a:endParaRPr lang="en-US" sz="1300" dirty="0"/>
          </a:p>
        </p:txBody>
      </p:sp>
      <p:sp>
        <p:nvSpPr>
          <p:cNvPr id="23" name="Text 18"/>
          <p:cNvSpPr/>
          <p:nvPr/>
        </p:nvSpPr>
        <p:spPr>
          <a:xfrm>
            <a:off x="4700016"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Where agents live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and collaborate</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(Copilot / custom)</a:t>
            </a:r>
            <a:endParaRPr lang="en-US" sz="1100" dirty="0"/>
          </a:p>
        </p:txBody>
      </p:sp>
      <p:sp>
        <p:nvSpPr>
          <p:cNvPr id="24" name="Shape 19"/>
          <p:cNvSpPr/>
          <p:nvPr/>
        </p:nvSpPr>
        <p:spPr>
          <a:xfrm>
            <a:off x="5312664" y="3767328"/>
            <a:ext cx="548640" cy="548640"/>
          </a:xfrm>
          <a:prstGeom prst="ellipse">
            <a:avLst/>
          </a:prstGeom>
          <a:solidFill>
            <a:srgbClr val="7C3AED"/>
          </a:solidFill>
          <a:ln w="12700">
            <a:solidFill>
              <a:srgbClr val="7C3AED"/>
            </a:solidFill>
            <a:prstDash val="solid"/>
          </a:ln>
        </p:spPr>
      </p:sp>
      <p:sp>
        <p:nvSpPr>
          <p:cNvPr id="25" name="Text 20"/>
          <p:cNvSpPr/>
          <p:nvPr/>
        </p:nvSpPr>
        <p:spPr>
          <a:xfrm>
            <a:off x="5312664"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Shape 21"/>
          <p:cNvSpPr/>
          <p:nvPr/>
        </p:nvSpPr>
        <p:spPr>
          <a:xfrm>
            <a:off x="6784848" y="1005840"/>
            <a:ext cx="1965960" cy="3520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2"/>
          <p:cNvSpPr/>
          <p:nvPr/>
        </p:nvSpPr>
        <p:spPr>
          <a:xfrm>
            <a:off x="6784848" y="1005840"/>
            <a:ext cx="1965960" cy="201168"/>
          </a:xfrm>
          <a:prstGeom prst="rect">
            <a:avLst/>
          </a:prstGeom>
          <a:solidFill>
            <a:srgbClr val="D97706"/>
          </a:solidFill>
          <a:ln w="12700">
            <a:solidFill>
              <a:srgbClr val="D97706"/>
            </a:solidFill>
            <a:prstDash val="solid"/>
          </a:ln>
        </p:spPr>
      </p:sp>
      <p:pic>
        <p:nvPicPr>
          <p:cNvPr id="28" name="Image 3" descr="preencoded.png">    </p:cNvPr>
          <p:cNvPicPr>
            <a:picLocks noChangeAspect="1"/>
          </p:cNvPicPr>
          <p:nvPr/>
        </p:nvPicPr>
        <p:blipFill>
          <a:blip r:embed="rId4"/>
          <a:stretch>
            <a:fillRect/>
          </a:stretch>
        </p:blipFill>
        <p:spPr>
          <a:xfrm>
            <a:off x="7488936" y="1353312"/>
            <a:ext cx="548640" cy="548640"/>
          </a:xfrm>
          <a:prstGeom prst="rect">
            <a:avLst/>
          </a:prstGeom>
        </p:spPr>
      </p:pic>
      <p:sp>
        <p:nvSpPr>
          <p:cNvPr id="29" name="Text 23"/>
          <p:cNvSpPr/>
          <p:nvPr/>
        </p:nvSpPr>
        <p:spPr>
          <a:xfrm>
            <a:off x="6876288" y="1984248"/>
            <a:ext cx="178308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Test Suite</a:t>
            </a:r>
            <a:endParaRPr lang="en-US" sz="1300" dirty="0"/>
          </a:p>
        </p:txBody>
      </p:sp>
      <p:sp>
        <p:nvSpPr>
          <p:cNvPr id="30" name="Text 24"/>
          <p:cNvSpPr/>
          <p:nvPr/>
        </p:nvSpPr>
        <p:spPr>
          <a:xfrm>
            <a:off x="6876288" y="2487168"/>
            <a:ext cx="1783080" cy="1005840"/>
          </a:xfrm>
          <a:prstGeom prst="rect">
            <a:avLst/>
          </a:prstGeom>
          <a:noFill/>
          <a:ln/>
        </p:spPr>
        <p:txBody>
          <a:bodyPr wrap="square" rtlCol="0" anchor="ctr"/>
          <a:lstStyle/>
          <a:p>
            <a:pPr algn="ctr" indent="0" marL="0">
              <a:buNone/>
            </a:pPr>
            <a:r>
              <a:rPr lang="en-US" sz="1100" dirty="0">
                <a:solidFill>
                  <a:srgbClr val="4A5568"/>
                </a:solidFill>
                <a:latin typeface="Calibri" pitchFamily="34" charset="0"/>
                <a:ea typeface="Calibri" pitchFamily="34" charset="-122"/>
                <a:cs typeface="Calibri" pitchFamily="34" charset="-120"/>
              </a:rPr>
              <a:t>pytest / your framework</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automated tests</a:t>
            </a:r>
            <a:endParaRPr lang="en-US" sz="1100" dirty="0"/>
          </a:p>
          <a:p>
            <a:pPr algn="ctr" indent="0" marL="0">
              <a:buNone/>
            </a:pPr>
            <a:r>
              <a:rPr lang="en-US" sz="1100" dirty="0">
                <a:solidFill>
                  <a:srgbClr val="4A5568"/>
                </a:solidFill>
                <a:latin typeface="Calibri" pitchFamily="34" charset="0"/>
                <a:ea typeface="Calibri" pitchFamily="34" charset="-122"/>
                <a:cs typeface="Calibri" pitchFamily="34" charset="-120"/>
              </a:rPr>
              <a:t>marked with IDs</a:t>
            </a:r>
            <a:endParaRPr lang="en-US" sz="1100" dirty="0"/>
          </a:p>
        </p:txBody>
      </p:sp>
      <p:sp>
        <p:nvSpPr>
          <p:cNvPr id="31" name="Shape 25"/>
          <p:cNvSpPr/>
          <p:nvPr/>
        </p:nvSpPr>
        <p:spPr>
          <a:xfrm>
            <a:off x="7488936" y="3767328"/>
            <a:ext cx="548640" cy="548640"/>
          </a:xfrm>
          <a:prstGeom prst="ellipse">
            <a:avLst/>
          </a:prstGeom>
          <a:solidFill>
            <a:srgbClr val="D97706"/>
          </a:solidFill>
          <a:ln w="12700">
            <a:solidFill>
              <a:srgbClr val="D97706"/>
            </a:solidFill>
            <a:prstDash val="solid"/>
          </a:ln>
        </p:spPr>
      </p:sp>
      <p:sp>
        <p:nvSpPr>
          <p:cNvPr id="32" name="Text 26"/>
          <p:cNvSpPr/>
          <p:nvPr/>
        </p:nvSpPr>
        <p:spPr>
          <a:xfrm>
            <a:off x="7488936" y="37673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27"/>
          <p:cNvSpPr/>
          <p:nvPr/>
        </p:nvSpPr>
        <p:spPr>
          <a:xfrm>
            <a:off x="2221992"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34" name="Text 28"/>
          <p:cNvSpPr/>
          <p:nvPr/>
        </p:nvSpPr>
        <p:spPr>
          <a:xfrm>
            <a:off x="4398264"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35" name="Text 29"/>
          <p:cNvSpPr/>
          <p:nvPr/>
        </p:nvSpPr>
        <p:spPr>
          <a:xfrm>
            <a:off x="6574536" y="2560320"/>
            <a:ext cx="21031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Full Team — Humans + Agents</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786384"/>
            <a:ext cx="8631936" cy="274320"/>
          </a:xfrm>
          <a:prstGeom prst="rect">
            <a:avLst/>
          </a:prstGeom>
          <a:solidFill>
            <a:srgbClr val="FEF9EE"/>
          </a:solidFill>
          <a:ln w="12700">
            <a:solidFill>
              <a:srgbClr val="FDE68A"/>
            </a:solidFill>
            <a:prstDash val="solid"/>
          </a:ln>
        </p:spPr>
      </p:sp>
      <p:sp>
        <p:nvSpPr>
          <p:cNvPr id="6" name="Text 4"/>
          <p:cNvSpPr/>
          <p:nvPr/>
        </p:nvSpPr>
        <p:spPr>
          <a:xfrm>
            <a:off x="347472" y="804672"/>
            <a:ext cx="8412480" cy="237744"/>
          </a:xfrm>
          <a:prstGeom prst="rect">
            <a:avLst/>
          </a:prstGeom>
          <a:noFill/>
          <a:ln/>
        </p:spPr>
        <p:txBody>
          <a:bodyPr wrap="square" lIns="0" tIns="0" rIns="0" bIns="0" rtlCol="0" anchor="ctr"/>
          <a:lstStyle/>
          <a:p>
            <a:pPr indent="0" marL="0">
              <a:buNone/>
            </a:pPr>
            <a:r>
              <a:rPr lang="en-US" sz="1000" b="1" spc="200" kern="0" dirty="0">
                <a:solidFill>
                  <a:srgbClr val="92400E"/>
                </a:solidFill>
                <a:latin typeface="Calibri" pitchFamily="34" charset="0"/>
                <a:ea typeface="Calibri" pitchFamily="34" charset="-122"/>
                <a:cs typeface="Calibri" pitchFamily="34" charset="-120"/>
              </a:rPr>
              <a:t>👤  HUMAN ROLES</a:t>
            </a:r>
            <a:endParaRPr lang="en-US" sz="1000" dirty="0"/>
          </a:p>
        </p:txBody>
      </p:sp>
      <p:sp>
        <p:nvSpPr>
          <p:cNvPr id="7" name="Shape 5"/>
          <p:cNvSpPr/>
          <p:nvPr/>
        </p:nvSpPr>
        <p:spPr>
          <a:xfrm>
            <a:off x="256032" y="1097280"/>
            <a:ext cx="2706624" cy="1572768"/>
          </a:xfrm>
          <a:prstGeom prst="rect">
            <a:avLst/>
          </a:prstGeom>
          <a:solidFill>
            <a:srgbClr val="EFF6FF"/>
          </a:solidFill>
          <a:ln w="19050">
            <a:solidFill>
              <a:srgbClr val="065A82"/>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56032" y="1097280"/>
            <a:ext cx="109728" cy="1572768"/>
          </a:xfrm>
          <a:prstGeom prst="rect">
            <a:avLst/>
          </a:prstGeom>
          <a:solidFill>
            <a:srgbClr val="065A82"/>
          </a:solidFill>
          <a:ln w="12700">
            <a:solidFill>
              <a:srgbClr val="065A82"/>
            </a:solidFill>
            <a:prstDash val="solid"/>
          </a:ln>
        </p:spPr>
      </p:sp>
      <p:sp>
        <p:nvSpPr>
          <p:cNvPr id="9" name="Shape 7"/>
          <p:cNvSpPr/>
          <p:nvPr/>
        </p:nvSpPr>
        <p:spPr>
          <a:xfrm>
            <a:off x="457200" y="1188720"/>
            <a:ext cx="347472" cy="347472"/>
          </a:xfrm>
          <a:prstGeom prst="ellipse">
            <a:avLst/>
          </a:prstGeom>
          <a:solidFill>
            <a:srgbClr val="065A82"/>
          </a:solidFill>
          <a:ln w="12700">
            <a:solidFill>
              <a:srgbClr val="065A82"/>
            </a:solidFill>
            <a:prstDash val="solid"/>
          </a:ln>
        </p:spPr>
      </p:sp>
      <p:sp>
        <p:nvSpPr>
          <p:cNvPr id="10" name="Text 8"/>
          <p:cNvSpPr/>
          <p:nvPr/>
        </p:nvSpPr>
        <p:spPr>
          <a:xfrm>
            <a:off x="457200" y="118872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pic>
        <p:nvPicPr>
          <p:cNvPr id="11" name="Image 0" descr="preencoded.png">    </p:cNvPr>
          <p:cNvPicPr>
            <a:picLocks noChangeAspect="1"/>
          </p:cNvPicPr>
          <p:nvPr/>
        </p:nvPicPr>
        <p:blipFill>
          <a:blip r:embed="rId1"/>
          <a:stretch>
            <a:fillRect/>
          </a:stretch>
        </p:blipFill>
        <p:spPr>
          <a:xfrm>
            <a:off x="2450592" y="1170432"/>
            <a:ext cx="384048" cy="384048"/>
          </a:xfrm>
          <a:prstGeom prst="rect">
            <a:avLst/>
          </a:prstGeom>
        </p:spPr>
      </p:pic>
      <p:sp>
        <p:nvSpPr>
          <p:cNvPr id="12" name="Text 9"/>
          <p:cNvSpPr/>
          <p:nvPr/>
        </p:nvSpPr>
        <p:spPr>
          <a:xfrm>
            <a:off x="457200" y="1591056"/>
            <a:ext cx="2414016" cy="347472"/>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Human Analyst</a:t>
            </a:r>
            <a:endParaRPr lang="en-US" sz="1300" dirty="0"/>
          </a:p>
        </p:txBody>
      </p:sp>
      <p:sp>
        <p:nvSpPr>
          <p:cNvPr id="13" name="Text 10"/>
          <p:cNvSpPr/>
          <p:nvPr/>
        </p:nvSpPr>
        <p:spPr>
          <a:xfrm>
            <a:off x="457200" y="1975104"/>
            <a:ext cx="2414016" cy="74980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Writes requirement in</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Polarion (POL-XXXX)</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Defines acceptance criteria</a:t>
            </a:r>
            <a:endParaRPr lang="en-US" sz="1050" dirty="0"/>
          </a:p>
        </p:txBody>
      </p:sp>
      <p:sp>
        <p:nvSpPr>
          <p:cNvPr id="14" name="Text 11"/>
          <p:cNvSpPr/>
          <p:nvPr/>
        </p:nvSpPr>
        <p:spPr>
          <a:xfrm>
            <a:off x="2962656" y="1700784"/>
            <a:ext cx="25603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15" name="Shape 12"/>
          <p:cNvSpPr/>
          <p:nvPr/>
        </p:nvSpPr>
        <p:spPr>
          <a:xfrm>
            <a:off x="3218688" y="1097280"/>
            <a:ext cx="2706624" cy="1572768"/>
          </a:xfrm>
          <a:prstGeom prst="rect">
            <a:avLst/>
          </a:prstGeom>
          <a:solidFill>
            <a:srgbClr val="FFFBEB"/>
          </a:solidFill>
          <a:ln w="19050">
            <a:solidFill>
              <a:srgbClr val="D97706"/>
            </a:solidFill>
            <a:prstDash val="solid"/>
          </a:ln>
          <a:effectLst>
            <a:outerShdw sx="100000" sy="100000" kx="0" ky="0" algn="bl" rotWithShape="0" blurRad="101600" dist="38100" dir="8100000">
              <a:srgbClr val="000000">
                <a:alpha val="12000"/>
              </a:srgbClr>
            </a:outerShdw>
          </a:effectLst>
        </p:spPr>
      </p:sp>
      <p:sp>
        <p:nvSpPr>
          <p:cNvPr id="16" name="Shape 13"/>
          <p:cNvSpPr/>
          <p:nvPr/>
        </p:nvSpPr>
        <p:spPr>
          <a:xfrm>
            <a:off x="3218688" y="1097280"/>
            <a:ext cx="109728" cy="1572768"/>
          </a:xfrm>
          <a:prstGeom prst="rect">
            <a:avLst/>
          </a:prstGeom>
          <a:solidFill>
            <a:srgbClr val="D97706"/>
          </a:solidFill>
          <a:ln w="12700">
            <a:solidFill>
              <a:srgbClr val="D97706"/>
            </a:solidFill>
            <a:prstDash val="solid"/>
          </a:ln>
        </p:spPr>
      </p:sp>
      <p:sp>
        <p:nvSpPr>
          <p:cNvPr id="17" name="Shape 14"/>
          <p:cNvSpPr/>
          <p:nvPr/>
        </p:nvSpPr>
        <p:spPr>
          <a:xfrm>
            <a:off x="3419856" y="1188720"/>
            <a:ext cx="347472" cy="347472"/>
          </a:xfrm>
          <a:prstGeom prst="ellipse">
            <a:avLst/>
          </a:prstGeom>
          <a:solidFill>
            <a:srgbClr val="D97706"/>
          </a:solidFill>
          <a:ln w="12700">
            <a:solidFill>
              <a:srgbClr val="D97706"/>
            </a:solidFill>
            <a:prstDash val="solid"/>
          </a:ln>
        </p:spPr>
      </p:sp>
      <p:sp>
        <p:nvSpPr>
          <p:cNvPr id="18" name="Text 15"/>
          <p:cNvSpPr/>
          <p:nvPr/>
        </p:nvSpPr>
        <p:spPr>
          <a:xfrm>
            <a:off x="3419856" y="118872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H2</a:t>
            </a:r>
            <a:endParaRPr lang="en-US" sz="1000" dirty="0"/>
          </a:p>
        </p:txBody>
      </p:sp>
      <p:pic>
        <p:nvPicPr>
          <p:cNvPr id="19" name="Image 1" descr="preencoded.png">    </p:cNvPr>
          <p:cNvPicPr>
            <a:picLocks noChangeAspect="1"/>
          </p:cNvPicPr>
          <p:nvPr/>
        </p:nvPicPr>
        <p:blipFill>
          <a:blip r:embed="rId2"/>
          <a:stretch>
            <a:fillRect/>
          </a:stretch>
        </p:blipFill>
        <p:spPr>
          <a:xfrm>
            <a:off x="5413248" y="1170432"/>
            <a:ext cx="384048" cy="384048"/>
          </a:xfrm>
          <a:prstGeom prst="rect">
            <a:avLst/>
          </a:prstGeom>
        </p:spPr>
      </p:pic>
      <p:sp>
        <p:nvSpPr>
          <p:cNvPr id="20" name="Text 16"/>
          <p:cNvSpPr/>
          <p:nvPr/>
        </p:nvSpPr>
        <p:spPr>
          <a:xfrm>
            <a:off x="3419856" y="1591056"/>
            <a:ext cx="2414016" cy="347472"/>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QA Engineer</a:t>
            </a:r>
            <a:endParaRPr lang="en-US" sz="1300" dirty="0"/>
          </a:p>
        </p:txBody>
      </p:sp>
      <p:sp>
        <p:nvSpPr>
          <p:cNvPr id="21" name="Text 17"/>
          <p:cNvSpPr/>
          <p:nvPr/>
        </p:nvSpPr>
        <p:spPr>
          <a:xfrm>
            <a:off x="3419856" y="1975104"/>
            <a:ext cx="2414016" cy="74980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Reviews test cases &amp; risks</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Approves &amp; adds them</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to Polarion TPS</a:t>
            </a:r>
            <a:endParaRPr lang="en-US" sz="1050" dirty="0"/>
          </a:p>
        </p:txBody>
      </p:sp>
      <p:sp>
        <p:nvSpPr>
          <p:cNvPr id="22" name="Text 18"/>
          <p:cNvSpPr/>
          <p:nvPr/>
        </p:nvSpPr>
        <p:spPr>
          <a:xfrm>
            <a:off x="5925312" y="1700784"/>
            <a:ext cx="256032" cy="36576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23" name="Shape 19"/>
          <p:cNvSpPr/>
          <p:nvPr/>
        </p:nvSpPr>
        <p:spPr>
          <a:xfrm>
            <a:off x="6181344" y="1097280"/>
            <a:ext cx="2706624" cy="1572768"/>
          </a:xfrm>
          <a:prstGeom prst="rect">
            <a:avLst/>
          </a:prstGeom>
          <a:solidFill>
            <a:srgbClr val="F5F3FF"/>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24" name="Shape 20"/>
          <p:cNvSpPr/>
          <p:nvPr/>
        </p:nvSpPr>
        <p:spPr>
          <a:xfrm>
            <a:off x="6181344" y="1097280"/>
            <a:ext cx="109728" cy="1572768"/>
          </a:xfrm>
          <a:prstGeom prst="rect">
            <a:avLst/>
          </a:prstGeom>
          <a:solidFill>
            <a:srgbClr val="7C3AED"/>
          </a:solidFill>
          <a:ln w="12700">
            <a:solidFill>
              <a:srgbClr val="7C3AED"/>
            </a:solidFill>
            <a:prstDash val="solid"/>
          </a:ln>
        </p:spPr>
      </p:sp>
      <p:sp>
        <p:nvSpPr>
          <p:cNvPr id="25" name="Shape 21"/>
          <p:cNvSpPr/>
          <p:nvPr/>
        </p:nvSpPr>
        <p:spPr>
          <a:xfrm>
            <a:off x="6382512" y="1188720"/>
            <a:ext cx="347472" cy="347472"/>
          </a:xfrm>
          <a:prstGeom prst="ellipse">
            <a:avLst/>
          </a:prstGeom>
          <a:solidFill>
            <a:srgbClr val="7C3AED"/>
          </a:solidFill>
          <a:ln w="12700">
            <a:solidFill>
              <a:srgbClr val="7C3AED"/>
            </a:solidFill>
            <a:prstDash val="solid"/>
          </a:ln>
        </p:spPr>
      </p:sp>
      <p:sp>
        <p:nvSpPr>
          <p:cNvPr id="26" name="Text 22"/>
          <p:cNvSpPr/>
          <p:nvPr/>
        </p:nvSpPr>
        <p:spPr>
          <a:xfrm>
            <a:off x="6382512" y="118872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pic>
        <p:nvPicPr>
          <p:cNvPr id="27" name="Image 2" descr="preencoded.png">    </p:cNvPr>
          <p:cNvPicPr>
            <a:picLocks noChangeAspect="1"/>
          </p:cNvPicPr>
          <p:nvPr/>
        </p:nvPicPr>
        <p:blipFill>
          <a:blip r:embed="rId3"/>
          <a:stretch>
            <a:fillRect/>
          </a:stretch>
        </p:blipFill>
        <p:spPr>
          <a:xfrm>
            <a:off x="8375904" y="1170432"/>
            <a:ext cx="384048" cy="384048"/>
          </a:xfrm>
          <a:prstGeom prst="rect">
            <a:avLst/>
          </a:prstGeom>
        </p:spPr>
      </p:pic>
      <p:sp>
        <p:nvSpPr>
          <p:cNvPr id="28" name="Text 23"/>
          <p:cNvSpPr/>
          <p:nvPr/>
        </p:nvSpPr>
        <p:spPr>
          <a:xfrm>
            <a:off x="6382512" y="1591056"/>
            <a:ext cx="2414016" cy="347472"/>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Developer</a:t>
            </a:r>
            <a:endParaRPr lang="en-US" sz="1300" dirty="0"/>
          </a:p>
        </p:txBody>
      </p:sp>
      <p:sp>
        <p:nvSpPr>
          <p:cNvPr id="29" name="Text 24"/>
          <p:cNvSpPr/>
          <p:nvPr/>
        </p:nvSpPr>
        <p:spPr>
          <a:xfrm>
            <a:off x="6382512" y="1975104"/>
            <a:ext cx="2414016" cy="74980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Reads req + cases + risks</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Implements feature (TDD)</a:t>
            </a:r>
            <a:endParaRPr lang="en-US" sz="1050" dirty="0"/>
          </a:p>
          <a:p>
            <a:pPr indent="0" marL="0">
              <a:buNone/>
            </a:pPr>
            <a:r>
              <a:rPr lang="en-US" sz="1050" dirty="0">
                <a:solidFill>
                  <a:srgbClr val="4A5568"/>
                </a:solidFill>
                <a:latin typeface="Calibri" pitchFamily="34" charset="0"/>
                <a:ea typeface="Calibri" pitchFamily="34" charset="-122"/>
                <a:cs typeface="Calibri" pitchFamily="34" charset="-120"/>
              </a:rPr>
              <a:t>Writes tests w/ Polarion IDs</a:t>
            </a:r>
            <a:endParaRPr lang="en-US" sz="1050" dirty="0"/>
          </a:p>
        </p:txBody>
      </p:sp>
      <p:sp>
        <p:nvSpPr>
          <p:cNvPr id="30" name="Shape 25"/>
          <p:cNvSpPr/>
          <p:nvPr/>
        </p:nvSpPr>
        <p:spPr>
          <a:xfrm>
            <a:off x="256032" y="2770632"/>
            <a:ext cx="8631936" cy="274320"/>
          </a:xfrm>
          <a:prstGeom prst="rect">
            <a:avLst/>
          </a:prstGeom>
          <a:solidFill>
            <a:srgbClr val="EFF6FF"/>
          </a:solidFill>
          <a:ln w="12700">
            <a:solidFill>
              <a:srgbClr val="BFDBFE"/>
            </a:solidFill>
            <a:prstDash val="solid"/>
          </a:ln>
        </p:spPr>
      </p:sp>
      <p:sp>
        <p:nvSpPr>
          <p:cNvPr id="31" name="Text 26"/>
          <p:cNvSpPr/>
          <p:nvPr/>
        </p:nvSpPr>
        <p:spPr>
          <a:xfrm>
            <a:off x="347472" y="2788920"/>
            <a:ext cx="8412480" cy="237744"/>
          </a:xfrm>
          <a:prstGeom prst="rect">
            <a:avLst/>
          </a:prstGeom>
          <a:noFill/>
          <a:ln/>
        </p:spPr>
        <p:txBody>
          <a:bodyPr wrap="square" lIns="0" tIns="0" rIns="0" bIns="0" rtlCol="0" anchor="ctr"/>
          <a:lstStyle/>
          <a:p>
            <a:pPr indent="0" marL="0">
              <a:buNone/>
            </a:pPr>
            <a:r>
              <a:rPr lang="en-US" sz="1000" b="1" spc="200" kern="0" dirty="0">
                <a:solidFill>
                  <a:srgbClr val="065A82"/>
                </a:solidFill>
                <a:latin typeface="Calibri" pitchFamily="34" charset="0"/>
                <a:ea typeface="Calibri" pitchFamily="34" charset="-122"/>
                <a:cs typeface="Calibri" pitchFamily="34" charset="-120"/>
              </a:rPr>
              <a:t>🤖  AGENT ROLES</a:t>
            </a:r>
            <a:endParaRPr lang="en-US" sz="1000" dirty="0"/>
          </a:p>
        </p:txBody>
      </p:sp>
      <p:sp>
        <p:nvSpPr>
          <p:cNvPr id="32" name="Shape 27"/>
          <p:cNvSpPr/>
          <p:nvPr/>
        </p:nvSpPr>
        <p:spPr>
          <a:xfrm>
            <a:off x="256032" y="3090672"/>
            <a:ext cx="1572768" cy="18105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3" name="Shape 28"/>
          <p:cNvSpPr/>
          <p:nvPr/>
        </p:nvSpPr>
        <p:spPr>
          <a:xfrm>
            <a:off x="256032" y="3090672"/>
            <a:ext cx="1572768" cy="384048"/>
          </a:xfrm>
          <a:prstGeom prst="rect">
            <a:avLst/>
          </a:prstGeom>
          <a:solidFill>
            <a:srgbClr val="065A82"/>
          </a:solidFill>
          <a:ln w="12700">
            <a:solidFill>
              <a:srgbClr val="065A82"/>
            </a:solidFill>
            <a:prstDash val="solid"/>
          </a:ln>
        </p:spPr>
      </p:sp>
      <p:sp>
        <p:nvSpPr>
          <p:cNvPr id="34" name="Text 29"/>
          <p:cNvSpPr/>
          <p:nvPr/>
        </p:nvSpPr>
        <p:spPr>
          <a:xfrm>
            <a:off x="256032" y="3090672"/>
            <a:ext cx="157276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A1</a:t>
            </a:r>
            <a:endParaRPr lang="en-US" sz="1300" dirty="0"/>
          </a:p>
        </p:txBody>
      </p:sp>
      <p:pic>
        <p:nvPicPr>
          <p:cNvPr id="35" name="Image 3" descr="preencoded.png">    </p:cNvPr>
          <p:cNvPicPr>
            <a:picLocks noChangeAspect="1"/>
          </p:cNvPicPr>
          <p:nvPr/>
        </p:nvPicPr>
        <p:blipFill>
          <a:blip r:embed="rId4"/>
          <a:stretch>
            <a:fillRect/>
          </a:stretch>
        </p:blipFill>
        <p:spPr>
          <a:xfrm>
            <a:off x="768096" y="3566160"/>
            <a:ext cx="548640" cy="548640"/>
          </a:xfrm>
          <a:prstGeom prst="rect">
            <a:avLst/>
          </a:prstGeom>
        </p:spPr>
      </p:pic>
      <p:sp>
        <p:nvSpPr>
          <p:cNvPr id="36" name="Text 30"/>
          <p:cNvSpPr/>
          <p:nvPr/>
        </p:nvSpPr>
        <p:spPr>
          <a:xfrm>
            <a:off x="310896" y="4169664"/>
            <a:ext cx="1463040" cy="4572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Orchestrator</a:t>
            </a:r>
            <a:endParaRPr lang="en-US" sz="1100" dirty="0"/>
          </a:p>
        </p:txBody>
      </p:sp>
      <p:sp>
        <p:nvSpPr>
          <p:cNvPr id="37" name="Text 31"/>
          <p:cNvSpPr/>
          <p:nvPr/>
        </p:nvSpPr>
        <p:spPr>
          <a:xfrm>
            <a:off x="310896" y="4626864"/>
            <a:ext cx="1463040" cy="786384"/>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Reads req</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creates plan</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delegates</a:t>
            </a:r>
            <a:endParaRPr lang="en-US" sz="950" dirty="0"/>
          </a:p>
        </p:txBody>
      </p:sp>
      <p:sp>
        <p:nvSpPr>
          <p:cNvPr id="38" name="Text 32"/>
          <p:cNvSpPr/>
          <p:nvPr/>
        </p:nvSpPr>
        <p:spPr>
          <a:xfrm>
            <a:off x="1828800" y="3831336"/>
            <a:ext cx="164592" cy="329184"/>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a:t>
            </a:r>
            <a:endParaRPr lang="en-US" sz="1100" dirty="0"/>
          </a:p>
        </p:txBody>
      </p:sp>
      <p:sp>
        <p:nvSpPr>
          <p:cNvPr id="39" name="Shape 33"/>
          <p:cNvSpPr/>
          <p:nvPr/>
        </p:nvSpPr>
        <p:spPr>
          <a:xfrm>
            <a:off x="1993392" y="3090672"/>
            <a:ext cx="1572768" cy="18105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0" name="Shape 34"/>
          <p:cNvSpPr/>
          <p:nvPr/>
        </p:nvSpPr>
        <p:spPr>
          <a:xfrm>
            <a:off x="1993392" y="3090672"/>
            <a:ext cx="1572768" cy="384048"/>
          </a:xfrm>
          <a:prstGeom prst="rect">
            <a:avLst/>
          </a:prstGeom>
          <a:solidFill>
            <a:srgbClr val="7C3AED"/>
          </a:solidFill>
          <a:ln w="12700">
            <a:solidFill>
              <a:srgbClr val="7C3AED"/>
            </a:solidFill>
            <a:prstDash val="solid"/>
          </a:ln>
        </p:spPr>
      </p:sp>
      <p:sp>
        <p:nvSpPr>
          <p:cNvPr id="41" name="Text 35"/>
          <p:cNvSpPr/>
          <p:nvPr/>
        </p:nvSpPr>
        <p:spPr>
          <a:xfrm>
            <a:off x="1993392" y="3090672"/>
            <a:ext cx="157276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A2</a:t>
            </a:r>
            <a:endParaRPr lang="en-US" sz="1300" dirty="0"/>
          </a:p>
        </p:txBody>
      </p:sp>
      <p:pic>
        <p:nvPicPr>
          <p:cNvPr id="42" name="Image 4" descr="preencoded.png">    </p:cNvPr>
          <p:cNvPicPr>
            <a:picLocks noChangeAspect="1"/>
          </p:cNvPicPr>
          <p:nvPr/>
        </p:nvPicPr>
        <p:blipFill>
          <a:blip r:embed="rId5"/>
          <a:stretch>
            <a:fillRect/>
          </a:stretch>
        </p:blipFill>
        <p:spPr>
          <a:xfrm>
            <a:off x="2505456" y="3566160"/>
            <a:ext cx="548640" cy="548640"/>
          </a:xfrm>
          <a:prstGeom prst="rect">
            <a:avLst/>
          </a:prstGeom>
        </p:spPr>
      </p:pic>
      <p:sp>
        <p:nvSpPr>
          <p:cNvPr id="43" name="Text 36"/>
          <p:cNvSpPr/>
          <p:nvPr/>
        </p:nvSpPr>
        <p:spPr>
          <a:xfrm>
            <a:off x="2048256" y="4169664"/>
            <a:ext cx="1463040" cy="4572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Test</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Designer</a:t>
            </a:r>
            <a:endParaRPr lang="en-US" sz="1100" dirty="0"/>
          </a:p>
        </p:txBody>
      </p:sp>
      <p:sp>
        <p:nvSpPr>
          <p:cNvPr id="44" name="Text 37"/>
          <p:cNvSpPr/>
          <p:nvPr/>
        </p:nvSpPr>
        <p:spPr>
          <a:xfrm>
            <a:off x="2048256" y="4626864"/>
            <a:ext cx="1463040" cy="786384"/>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Generates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test cases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 preconditions</a:t>
            </a:r>
            <a:endParaRPr lang="en-US" sz="950" dirty="0"/>
          </a:p>
        </p:txBody>
      </p:sp>
      <p:sp>
        <p:nvSpPr>
          <p:cNvPr id="45" name="Text 38"/>
          <p:cNvSpPr/>
          <p:nvPr/>
        </p:nvSpPr>
        <p:spPr>
          <a:xfrm>
            <a:off x="3566160" y="3831336"/>
            <a:ext cx="164592" cy="329184"/>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a:t>
            </a:r>
            <a:endParaRPr lang="en-US" sz="1100" dirty="0"/>
          </a:p>
        </p:txBody>
      </p:sp>
      <p:sp>
        <p:nvSpPr>
          <p:cNvPr id="46" name="Shape 39"/>
          <p:cNvSpPr/>
          <p:nvPr/>
        </p:nvSpPr>
        <p:spPr>
          <a:xfrm>
            <a:off x="3730752" y="3090672"/>
            <a:ext cx="1572768" cy="18105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7" name="Shape 40"/>
          <p:cNvSpPr/>
          <p:nvPr/>
        </p:nvSpPr>
        <p:spPr>
          <a:xfrm>
            <a:off x="3730752" y="3090672"/>
            <a:ext cx="1572768" cy="384048"/>
          </a:xfrm>
          <a:prstGeom prst="rect">
            <a:avLst/>
          </a:prstGeom>
          <a:solidFill>
            <a:srgbClr val="1C7293"/>
          </a:solidFill>
          <a:ln w="12700">
            <a:solidFill>
              <a:srgbClr val="1C7293"/>
            </a:solidFill>
            <a:prstDash val="solid"/>
          </a:ln>
        </p:spPr>
      </p:sp>
      <p:sp>
        <p:nvSpPr>
          <p:cNvPr id="48" name="Text 41"/>
          <p:cNvSpPr/>
          <p:nvPr/>
        </p:nvSpPr>
        <p:spPr>
          <a:xfrm>
            <a:off x="3730752" y="3090672"/>
            <a:ext cx="157276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A3</a:t>
            </a:r>
            <a:endParaRPr lang="en-US" sz="1300" dirty="0"/>
          </a:p>
        </p:txBody>
      </p:sp>
      <p:pic>
        <p:nvPicPr>
          <p:cNvPr id="49" name="Image 5" descr="preencoded.png">    </p:cNvPr>
          <p:cNvPicPr>
            <a:picLocks noChangeAspect="1"/>
          </p:cNvPicPr>
          <p:nvPr/>
        </p:nvPicPr>
        <p:blipFill>
          <a:blip r:embed="rId6"/>
          <a:stretch>
            <a:fillRect/>
          </a:stretch>
        </p:blipFill>
        <p:spPr>
          <a:xfrm>
            <a:off x="4242816" y="3566160"/>
            <a:ext cx="548640" cy="548640"/>
          </a:xfrm>
          <a:prstGeom prst="rect">
            <a:avLst/>
          </a:prstGeom>
        </p:spPr>
      </p:pic>
      <p:sp>
        <p:nvSpPr>
          <p:cNvPr id="50" name="Text 42"/>
          <p:cNvSpPr/>
          <p:nvPr/>
        </p:nvSpPr>
        <p:spPr>
          <a:xfrm>
            <a:off x="3785616" y="4169664"/>
            <a:ext cx="1463040" cy="4572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Risk</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Analyst</a:t>
            </a:r>
            <a:endParaRPr lang="en-US" sz="1100" dirty="0"/>
          </a:p>
        </p:txBody>
      </p:sp>
      <p:sp>
        <p:nvSpPr>
          <p:cNvPr id="51" name="Text 43"/>
          <p:cNvSpPr/>
          <p:nvPr/>
        </p:nvSpPr>
        <p:spPr>
          <a:xfrm>
            <a:off x="3785616" y="4626864"/>
            <a:ext cx="1463040" cy="786384"/>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Identifies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risks &amp; edge</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cases</a:t>
            </a:r>
            <a:endParaRPr lang="en-US" sz="950" dirty="0"/>
          </a:p>
        </p:txBody>
      </p:sp>
      <p:sp>
        <p:nvSpPr>
          <p:cNvPr id="52" name="Text 44"/>
          <p:cNvSpPr/>
          <p:nvPr/>
        </p:nvSpPr>
        <p:spPr>
          <a:xfrm>
            <a:off x="5303520" y="3831336"/>
            <a:ext cx="164592" cy="329184"/>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a:t>
            </a:r>
            <a:endParaRPr lang="en-US" sz="1100" dirty="0"/>
          </a:p>
        </p:txBody>
      </p:sp>
      <p:sp>
        <p:nvSpPr>
          <p:cNvPr id="53" name="Shape 45"/>
          <p:cNvSpPr/>
          <p:nvPr/>
        </p:nvSpPr>
        <p:spPr>
          <a:xfrm>
            <a:off x="5468112" y="3090672"/>
            <a:ext cx="1572768" cy="18105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4" name="Shape 46"/>
          <p:cNvSpPr/>
          <p:nvPr/>
        </p:nvSpPr>
        <p:spPr>
          <a:xfrm>
            <a:off x="5468112" y="3090672"/>
            <a:ext cx="1572768" cy="384048"/>
          </a:xfrm>
          <a:prstGeom prst="rect">
            <a:avLst/>
          </a:prstGeom>
          <a:solidFill>
            <a:srgbClr val="D97706"/>
          </a:solidFill>
          <a:ln w="12700">
            <a:solidFill>
              <a:srgbClr val="D97706"/>
            </a:solidFill>
            <a:prstDash val="solid"/>
          </a:ln>
        </p:spPr>
      </p:sp>
      <p:sp>
        <p:nvSpPr>
          <p:cNvPr id="55" name="Text 47"/>
          <p:cNvSpPr/>
          <p:nvPr/>
        </p:nvSpPr>
        <p:spPr>
          <a:xfrm>
            <a:off x="5468112" y="3090672"/>
            <a:ext cx="157276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A4</a:t>
            </a:r>
            <a:endParaRPr lang="en-US" sz="1300" dirty="0"/>
          </a:p>
        </p:txBody>
      </p:sp>
      <p:pic>
        <p:nvPicPr>
          <p:cNvPr id="56" name="Image 6" descr="preencoded.png">    </p:cNvPr>
          <p:cNvPicPr>
            <a:picLocks noChangeAspect="1"/>
          </p:cNvPicPr>
          <p:nvPr/>
        </p:nvPicPr>
        <p:blipFill>
          <a:blip r:embed="rId7"/>
          <a:stretch>
            <a:fillRect/>
          </a:stretch>
        </p:blipFill>
        <p:spPr>
          <a:xfrm>
            <a:off x="5980176" y="3566160"/>
            <a:ext cx="548640" cy="548640"/>
          </a:xfrm>
          <a:prstGeom prst="rect">
            <a:avLst/>
          </a:prstGeom>
        </p:spPr>
      </p:pic>
      <p:sp>
        <p:nvSpPr>
          <p:cNvPr id="57" name="Text 48"/>
          <p:cNvSpPr/>
          <p:nvPr/>
        </p:nvSpPr>
        <p:spPr>
          <a:xfrm>
            <a:off x="5522976" y="4169664"/>
            <a:ext cx="1463040" cy="4572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Test</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Executor</a:t>
            </a:r>
            <a:endParaRPr lang="en-US" sz="1100" dirty="0"/>
          </a:p>
        </p:txBody>
      </p:sp>
      <p:sp>
        <p:nvSpPr>
          <p:cNvPr id="58" name="Text 49"/>
          <p:cNvSpPr/>
          <p:nvPr/>
        </p:nvSpPr>
        <p:spPr>
          <a:xfrm>
            <a:off x="5522976" y="4626864"/>
            <a:ext cx="1463040" cy="786384"/>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Runs tests</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PASS/FAIL</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/SKIP</a:t>
            </a:r>
            <a:endParaRPr lang="en-US" sz="950" dirty="0"/>
          </a:p>
        </p:txBody>
      </p:sp>
      <p:sp>
        <p:nvSpPr>
          <p:cNvPr id="59" name="Text 50"/>
          <p:cNvSpPr/>
          <p:nvPr/>
        </p:nvSpPr>
        <p:spPr>
          <a:xfrm>
            <a:off x="7040880" y="3831336"/>
            <a:ext cx="164592" cy="329184"/>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a:t>
            </a:r>
            <a:endParaRPr lang="en-US" sz="1100" dirty="0"/>
          </a:p>
        </p:txBody>
      </p:sp>
      <p:sp>
        <p:nvSpPr>
          <p:cNvPr id="60" name="Shape 51"/>
          <p:cNvSpPr/>
          <p:nvPr/>
        </p:nvSpPr>
        <p:spPr>
          <a:xfrm>
            <a:off x="7205472" y="3090672"/>
            <a:ext cx="1572768" cy="18105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1" name="Shape 52"/>
          <p:cNvSpPr/>
          <p:nvPr/>
        </p:nvSpPr>
        <p:spPr>
          <a:xfrm>
            <a:off x="7205472" y="3090672"/>
            <a:ext cx="1572768" cy="384048"/>
          </a:xfrm>
          <a:prstGeom prst="rect">
            <a:avLst/>
          </a:prstGeom>
          <a:solidFill>
            <a:srgbClr val="16A34A"/>
          </a:solidFill>
          <a:ln w="12700">
            <a:solidFill>
              <a:srgbClr val="16A34A"/>
            </a:solidFill>
            <a:prstDash val="solid"/>
          </a:ln>
        </p:spPr>
      </p:sp>
      <p:sp>
        <p:nvSpPr>
          <p:cNvPr id="62" name="Text 53"/>
          <p:cNvSpPr/>
          <p:nvPr/>
        </p:nvSpPr>
        <p:spPr>
          <a:xfrm>
            <a:off x="7205472" y="3090672"/>
            <a:ext cx="157276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A5</a:t>
            </a:r>
            <a:endParaRPr lang="en-US" sz="1300" dirty="0"/>
          </a:p>
        </p:txBody>
      </p:sp>
      <p:pic>
        <p:nvPicPr>
          <p:cNvPr id="63" name="Image 7" descr="preencoded.png">    </p:cNvPr>
          <p:cNvPicPr>
            <a:picLocks noChangeAspect="1"/>
          </p:cNvPicPr>
          <p:nvPr/>
        </p:nvPicPr>
        <p:blipFill>
          <a:blip r:embed="rId8"/>
          <a:stretch>
            <a:fillRect/>
          </a:stretch>
        </p:blipFill>
        <p:spPr>
          <a:xfrm>
            <a:off x="7717536" y="3566160"/>
            <a:ext cx="548640" cy="548640"/>
          </a:xfrm>
          <a:prstGeom prst="rect">
            <a:avLst/>
          </a:prstGeom>
        </p:spPr>
      </p:pic>
      <p:sp>
        <p:nvSpPr>
          <p:cNvPr id="64" name="Text 54"/>
          <p:cNvSpPr/>
          <p:nvPr/>
        </p:nvSpPr>
        <p:spPr>
          <a:xfrm>
            <a:off x="7260336" y="4169664"/>
            <a:ext cx="1463040" cy="4572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Polarion</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Updater</a:t>
            </a:r>
            <a:endParaRPr lang="en-US" sz="1100" dirty="0"/>
          </a:p>
        </p:txBody>
      </p:sp>
      <p:sp>
        <p:nvSpPr>
          <p:cNvPr id="65" name="Text 55"/>
          <p:cNvSpPr/>
          <p:nvPr/>
        </p:nvSpPr>
        <p:spPr>
          <a:xfrm>
            <a:off x="7260336" y="4626864"/>
            <a:ext cx="1463040" cy="786384"/>
          </a:xfrm>
          <a:prstGeom prst="rect">
            <a:avLst/>
          </a:prstGeom>
          <a:noFill/>
          <a:ln/>
        </p:spPr>
        <p:txBody>
          <a:bodyPr wrap="square" rtlCol="0" anchor="ctr"/>
          <a:lstStyle/>
          <a:p>
            <a:pPr algn="ctr" indent="0" marL="0">
              <a:buNone/>
            </a:pPr>
            <a:r>
              <a:rPr lang="en-US" sz="950" dirty="0">
                <a:solidFill>
                  <a:srgbClr val="4A5568"/>
                </a:solidFill>
                <a:latin typeface="Calibri" pitchFamily="34" charset="0"/>
                <a:ea typeface="Calibri" pitchFamily="34" charset="-122"/>
                <a:cs typeface="Calibri" pitchFamily="34" charset="-120"/>
              </a:rPr>
              <a:t>Creates run</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links evidence</a:t>
            </a:r>
            <a:endParaRPr lang="en-US" sz="950" dirty="0"/>
          </a:p>
          <a:p>
            <a:pPr algn="ctr" indent="0" marL="0">
              <a:buNone/>
            </a:pPr>
            <a:r>
              <a:rPr lang="en-US" sz="950" dirty="0">
                <a:solidFill>
                  <a:srgbClr val="4A5568"/>
                </a:solidFill>
                <a:latin typeface="Calibri" pitchFamily="34" charset="0"/>
                <a:ea typeface="Calibri" pitchFamily="34" charset="-122"/>
                <a:cs typeface="Calibri" pitchFamily="34" charset="-120"/>
              </a:rPr>
              <a:t>adds comments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End-to-End Flow — Humans + Agents, Complete Loop</a:t>
            </a:r>
            <a:endParaRPr lang="en-US" sz="2400" dirty="0"/>
          </a:p>
        </p:txBody>
      </p:sp>
      <p:sp>
        <p:nvSpPr>
          <p:cNvPr id="4" name="Shape 2"/>
          <p:cNvSpPr/>
          <p:nvPr/>
        </p:nvSpPr>
        <p:spPr>
          <a:xfrm>
            <a:off x="256032" y="713232"/>
            <a:ext cx="8631936" cy="27432"/>
          </a:xfrm>
          <a:prstGeom prst="rect">
            <a:avLst/>
          </a:prstGeom>
          <a:solidFill>
            <a:srgbClr val="E2E8F0"/>
          </a:solidFill>
          <a:ln w="12700">
            <a:solidFill>
              <a:srgbClr val="E2E8F0"/>
            </a:solidFill>
            <a:prstDash val="solid"/>
          </a:ln>
        </p:spPr>
      </p:sp>
      <p:sp>
        <p:nvSpPr>
          <p:cNvPr id="5" name="Shape 3"/>
          <p:cNvSpPr/>
          <p:nvPr/>
        </p:nvSpPr>
        <p:spPr>
          <a:xfrm>
            <a:off x="256032" y="768096"/>
            <a:ext cx="1005840" cy="1078992"/>
          </a:xfrm>
          <a:prstGeom prst="rect">
            <a:avLst/>
          </a:prstGeom>
          <a:solidFill>
            <a:srgbClr val="065A82"/>
          </a:solidFill>
          <a:ln w="12700">
            <a:solidFill>
              <a:srgbClr val="065A82"/>
            </a:solidFill>
            <a:prstDash val="solid"/>
          </a:ln>
        </p:spPr>
      </p:sp>
      <p:sp>
        <p:nvSpPr>
          <p:cNvPr id="6" name="Text 4"/>
          <p:cNvSpPr/>
          <p:nvPr/>
        </p:nvSpPr>
        <p:spPr>
          <a:xfrm>
            <a:off x="256032" y="768096"/>
            <a:ext cx="1005840" cy="1078992"/>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AUTO</a:t>
            </a:r>
            <a:endParaRPr lang="en-US" sz="850" dirty="0"/>
          </a:p>
          <a:p>
            <a:pPr algn="ctr" indent="0" marL="0">
              <a:buNone/>
            </a:pPr>
            <a:r>
              <a:rPr lang="en-US" sz="850" b="1" spc="100" kern="0" dirty="0">
                <a:solidFill>
                  <a:srgbClr val="FFFFFF"/>
                </a:solidFill>
                <a:latin typeface="Calibri" pitchFamily="34" charset="0"/>
                <a:ea typeface="Calibri" pitchFamily="34" charset="-122"/>
                <a:cs typeface="Calibri" pitchFamily="34" charset="-120"/>
              </a:rPr>
              <a:t>PHASE</a:t>
            </a:r>
            <a:endParaRPr lang="en-US" sz="850" dirty="0"/>
          </a:p>
          <a:p>
            <a:pPr algn="ctr" indent="0" marL="0">
              <a:buNone/>
            </a:pPr>
            <a:r>
              <a:rPr lang="en-US" sz="850" b="1" spc="100" kern="0" dirty="0">
                <a:solidFill>
                  <a:srgbClr val="FFFFFF"/>
                </a:solidFill>
                <a:latin typeface="Calibri" pitchFamily="34" charset="0"/>
                <a:ea typeface="Calibri" pitchFamily="34" charset="-122"/>
                <a:cs typeface="Calibri" pitchFamily="34" charset="-120"/>
              </a:rPr>
              <a:t>1</a:t>
            </a:r>
            <a:endParaRPr lang="en-US" sz="850" dirty="0"/>
          </a:p>
        </p:txBody>
      </p:sp>
      <p:sp>
        <p:nvSpPr>
          <p:cNvPr id="7" name="Shape 5"/>
          <p:cNvSpPr/>
          <p:nvPr/>
        </p:nvSpPr>
        <p:spPr>
          <a:xfrm>
            <a:off x="1325880" y="768096"/>
            <a:ext cx="2286000" cy="1078992"/>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1325880" y="877824"/>
            <a:ext cx="22860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Orchestrator</a:t>
            </a:r>
            <a:endParaRPr lang="en-US" sz="1250" dirty="0"/>
          </a:p>
        </p:txBody>
      </p:sp>
      <p:sp>
        <p:nvSpPr>
          <p:cNvPr id="9" name="Text 7"/>
          <p:cNvSpPr/>
          <p:nvPr/>
        </p:nvSpPr>
        <p:spPr>
          <a:xfrm>
            <a:off x="1417320" y="1316736"/>
            <a:ext cx="2103120" cy="475488"/>
          </a:xfrm>
          <a:prstGeom prst="rect">
            <a:avLst/>
          </a:prstGeom>
          <a:noFill/>
          <a:ln/>
        </p:spPr>
        <p:txBody>
          <a:bodyPr wrap="square" rtlCol="0" anchor="ctr"/>
          <a:lstStyle/>
          <a:p>
            <a:pPr algn="ctr" indent="0" marL="0">
              <a:buNone/>
            </a:pPr>
            <a:r>
              <a:rPr lang="en-US" sz="1050" dirty="0">
                <a:solidFill>
                  <a:srgbClr val="D1EAF8"/>
                </a:solidFill>
                <a:latin typeface="Calibri" pitchFamily="34" charset="0"/>
                <a:ea typeface="Calibri" pitchFamily="34" charset="-122"/>
                <a:cs typeface="Calibri" pitchFamily="34" charset="-120"/>
              </a:rPr>
              <a:t>Reads req</a:t>
            </a:r>
            <a:endParaRPr lang="en-US" sz="1050" dirty="0"/>
          </a:p>
          <a:p>
            <a:pPr algn="ctr" indent="0" marL="0">
              <a:buNone/>
            </a:pPr>
            <a:r>
              <a:rPr lang="en-US" sz="1050" dirty="0">
                <a:solidFill>
                  <a:srgbClr val="D1EAF8"/>
                </a:solidFill>
                <a:latin typeface="Calibri" pitchFamily="34" charset="0"/>
                <a:ea typeface="Calibri" pitchFamily="34" charset="-122"/>
                <a:cs typeface="Calibri" pitchFamily="34" charset="-120"/>
              </a:rPr>
              <a:t>Creates plan</a:t>
            </a:r>
            <a:endParaRPr lang="en-US" sz="1050" dirty="0"/>
          </a:p>
        </p:txBody>
      </p:sp>
      <p:sp>
        <p:nvSpPr>
          <p:cNvPr id="10" name="Text 8"/>
          <p:cNvSpPr/>
          <p:nvPr/>
        </p:nvSpPr>
        <p:spPr>
          <a:xfrm>
            <a:off x="3611880" y="1115568"/>
            <a:ext cx="256032" cy="384048"/>
          </a:xfrm>
          <a:prstGeom prst="rect">
            <a:avLst/>
          </a:prstGeom>
          <a:noFill/>
          <a:ln/>
        </p:spPr>
        <p:txBody>
          <a:bodyPr wrap="square"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867912" y="768096"/>
            <a:ext cx="2286000" cy="1078992"/>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867912" y="877824"/>
            <a:ext cx="22860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Test Designer</a:t>
            </a:r>
            <a:endParaRPr lang="en-US" sz="1250" dirty="0"/>
          </a:p>
        </p:txBody>
      </p:sp>
      <p:sp>
        <p:nvSpPr>
          <p:cNvPr id="13" name="Text 11"/>
          <p:cNvSpPr/>
          <p:nvPr/>
        </p:nvSpPr>
        <p:spPr>
          <a:xfrm>
            <a:off x="3959352" y="1316736"/>
            <a:ext cx="2103120" cy="475488"/>
          </a:xfrm>
          <a:prstGeom prst="rect">
            <a:avLst/>
          </a:prstGeom>
          <a:noFill/>
          <a:ln/>
        </p:spPr>
        <p:txBody>
          <a:bodyPr wrap="square" rtlCol="0" anchor="ctr"/>
          <a:lstStyle/>
          <a:p>
            <a:pPr algn="ctr" indent="0" marL="0">
              <a:buNone/>
            </a:pPr>
            <a:r>
              <a:rPr lang="en-US" sz="1050" dirty="0">
                <a:solidFill>
                  <a:srgbClr val="D1EAF8"/>
                </a:solidFill>
                <a:latin typeface="Calibri" pitchFamily="34" charset="0"/>
                <a:ea typeface="Calibri" pitchFamily="34" charset="-122"/>
                <a:cs typeface="Calibri" pitchFamily="34" charset="-120"/>
              </a:rPr>
              <a:t>Writes test</a:t>
            </a:r>
            <a:endParaRPr lang="en-US" sz="1050" dirty="0"/>
          </a:p>
          <a:p>
            <a:pPr algn="ctr" indent="0" marL="0">
              <a:buNone/>
            </a:pPr>
            <a:r>
              <a:rPr lang="en-US" sz="1050" dirty="0">
                <a:solidFill>
                  <a:srgbClr val="D1EAF8"/>
                </a:solidFill>
                <a:latin typeface="Calibri" pitchFamily="34" charset="0"/>
                <a:ea typeface="Calibri" pitchFamily="34" charset="-122"/>
                <a:cs typeface="Calibri" pitchFamily="34" charset="-120"/>
              </a:rPr>
              <a:t>cases to Polarion</a:t>
            </a:r>
            <a:endParaRPr lang="en-US" sz="1050" dirty="0"/>
          </a:p>
        </p:txBody>
      </p:sp>
      <p:sp>
        <p:nvSpPr>
          <p:cNvPr id="14" name="Text 12"/>
          <p:cNvSpPr/>
          <p:nvPr/>
        </p:nvSpPr>
        <p:spPr>
          <a:xfrm>
            <a:off x="6153912" y="1115568"/>
            <a:ext cx="256032" cy="384048"/>
          </a:xfrm>
          <a:prstGeom prst="rect">
            <a:avLst/>
          </a:prstGeom>
          <a:noFill/>
          <a:ln/>
        </p:spPr>
        <p:txBody>
          <a:bodyPr wrap="square"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409944" y="768096"/>
            <a:ext cx="2286000" cy="1078992"/>
          </a:xfrm>
          <a:prstGeom prst="rect">
            <a:avLst/>
          </a:prstGeom>
          <a:solidFill>
            <a:srgbClr val="1C7293"/>
          </a:solidFill>
          <a:ln w="12700">
            <a:solidFill>
              <a:srgbClr val="1C7293"/>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409944" y="877824"/>
            <a:ext cx="22860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Risk Analyst</a:t>
            </a:r>
            <a:endParaRPr lang="en-US" sz="1250" dirty="0"/>
          </a:p>
        </p:txBody>
      </p:sp>
      <p:sp>
        <p:nvSpPr>
          <p:cNvPr id="17" name="Text 15"/>
          <p:cNvSpPr/>
          <p:nvPr/>
        </p:nvSpPr>
        <p:spPr>
          <a:xfrm>
            <a:off x="6501384" y="1316736"/>
            <a:ext cx="2103120" cy="475488"/>
          </a:xfrm>
          <a:prstGeom prst="rect">
            <a:avLst/>
          </a:prstGeom>
          <a:noFill/>
          <a:ln/>
        </p:spPr>
        <p:txBody>
          <a:bodyPr wrap="square" rtlCol="0" anchor="ctr"/>
          <a:lstStyle/>
          <a:p>
            <a:pPr algn="ctr" indent="0" marL="0">
              <a:buNone/>
            </a:pPr>
            <a:r>
              <a:rPr lang="en-US" sz="1050" dirty="0">
                <a:solidFill>
                  <a:srgbClr val="D1EAF8"/>
                </a:solidFill>
                <a:latin typeface="Calibri" pitchFamily="34" charset="0"/>
                <a:ea typeface="Calibri" pitchFamily="34" charset="-122"/>
                <a:cs typeface="Calibri" pitchFamily="34" charset="-120"/>
              </a:rPr>
              <a:t>Writes risk</a:t>
            </a:r>
            <a:endParaRPr lang="en-US" sz="1050" dirty="0"/>
          </a:p>
          <a:p>
            <a:pPr algn="ctr" indent="0" marL="0">
              <a:buNone/>
            </a:pPr>
            <a:r>
              <a:rPr lang="en-US" sz="1050" dirty="0">
                <a:solidFill>
                  <a:srgbClr val="D1EAF8"/>
                </a:solidFill>
                <a:latin typeface="Calibri" pitchFamily="34" charset="0"/>
                <a:ea typeface="Calibri" pitchFamily="34" charset="-122"/>
                <a:cs typeface="Calibri" pitchFamily="34" charset="-120"/>
              </a:rPr>
              <a:t>items to Polarion</a:t>
            </a:r>
            <a:endParaRPr lang="en-US" sz="1050" dirty="0"/>
          </a:p>
        </p:txBody>
      </p:sp>
      <p:sp>
        <p:nvSpPr>
          <p:cNvPr id="18" name="Text 16"/>
          <p:cNvSpPr/>
          <p:nvPr/>
        </p:nvSpPr>
        <p:spPr>
          <a:xfrm>
            <a:off x="4206240" y="1883664"/>
            <a:ext cx="731520" cy="274320"/>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256032" y="2176272"/>
            <a:ext cx="8631936" cy="768096"/>
          </a:xfrm>
          <a:prstGeom prst="rect">
            <a:avLst/>
          </a:prstGeom>
          <a:solidFill>
            <a:srgbClr val="FFFBEB"/>
          </a:solidFill>
          <a:ln w="25400">
            <a:solidFill>
              <a:srgbClr val="D97706"/>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256032" y="2176272"/>
            <a:ext cx="109728" cy="768096"/>
          </a:xfrm>
          <a:prstGeom prst="rect">
            <a:avLst/>
          </a:prstGeom>
          <a:solidFill>
            <a:srgbClr val="D97706"/>
          </a:solidFill>
          <a:ln w="12700">
            <a:solidFill>
              <a:srgbClr val="D97706"/>
            </a:solidFill>
            <a:prstDash val="solid"/>
          </a:ln>
        </p:spPr>
      </p:sp>
      <p:pic>
        <p:nvPicPr>
          <p:cNvPr id="21" name="Image 0" descr="preencoded.png">    </p:cNvPr>
          <p:cNvPicPr>
            <a:picLocks noChangeAspect="1"/>
          </p:cNvPicPr>
          <p:nvPr/>
        </p:nvPicPr>
        <p:blipFill>
          <a:blip r:embed="rId1"/>
          <a:stretch>
            <a:fillRect/>
          </a:stretch>
        </p:blipFill>
        <p:spPr>
          <a:xfrm>
            <a:off x="438912" y="2340864"/>
            <a:ext cx="402336" cy="402336"/>
          </a:xfrm>
          <a:prstGeom prst="rect">
            <a:avLst/>
          </a:prstGeom>
        </p:spPr>
      </p:pic>
      <p:sp>
        <p:nvSpPr>
          <p:cNvPr id="22" name="Text 19"/>
          <p:cNvSpPr/>
          <p:nvPr/>
        </p:nvSpPr>
        <p:spPr>
          <a:xfrm>
            <a:off x="969264" y="2212848"/>
            <a:ext cx="6858000" cy="329184"/>
          </a:xfrm>
          <a:prstGeom prst="rect">
            <a:avLst/>
          </a:prstGeom>
          <a:noFill/>
          <a:ln/>
        </p:spPr>
        <p:txBody>
          <a:bodyPr wrap="square" lIns="0" tIns="0" rIns="0" bIns="0" rtlCol="0" anchor="ctr"/>
          <a:lstStyle/>
          <a:p>
            <a:pPr indent="0" marL="0">
              <a:buNone/>
            </a:pPr>
            <a:r>
              <a:rPr lang="en-US" sz="1150" b="1" dirty="0">
                <a:solidFill>
                  <a:srgbClr val="92400E"/>
                </a:solidFill>
                <a:latin typeface="Calibri" pitchFamily="34" charset="0"/>
                <a:ea typeface="Calibri" pitchFamily="34" charset="-122"/>
                <a:cs typeface="Calibri" pitchFamily="34" charset="-120"/>
              </a:rPr>
              <a:t>⏸  HUMAN GATE 1 — QA Engineer</a:t>
            </a:r>
            <a:endParaRPr lang="en-US" sz="1150" dirty="0"/>
          </a:p>
        </p:txBody>
      </p:sp>
      <p:sp>
        <p:nvSpPr>
          <p:cNvPr id="23" name="Text 20"/>
          <p:cNvSpPr/>
          <p:nvPr/>
        </p:nvSpPr>
        <p:spPr>
          <a:xfrm>
            <a:off x="969264" y="2542032"/>
            <a:ext cx="7772400" cy="329184"/>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Reviews test cases &amp; risk work items in Polarion  ·  Approves &amp; adds to TPS  ·  Rejects / requests changes if needed</a:t>
            </a:r>
            <a:endParaRPr lang="en-US" sz="1000" dirty="0"/>
          </a:p>
        </p:txBody>
      </p:sp>
      <p:sp>
        <p:nvSpPr>
          <p:cNvPr id="24" name="Text 21"/>
          <p:cNvSpPr/>
          <p:nvPr/>
        </p:nvSpPr>
        <p:spPr>
          <a:xfrm>
            <a:off x="4206240" y="2962656"/>
            <a:ext cx="731520" cy="25603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5" name="Shape 22"/>
          <p:cNvSpPr/>
          <p:nvPr/>
        </p:nvSpPr>
        <p:spPr>
          <a:xfrm>
            <a:off x="256032" y="3236976"/>
            <a:ext cx="8631936" cy="768096"/>
          </a:xfrm>
          <a:prstGeom prst="rect">
            <a:avLst/>
          </a:prstGeom>
          <a:solidFill>
            <a:srgbClr val="F5F3FF"/>
          </a:solidFill>
          <a:ln w="25400">
            <a:solidFill>
              <a:srgbClr val="7C3AED"/>
            </a:solidFill>
            <a:prstDash val="solid"/>
          </a:ln>
          <a:effectLst>
            <a:outerShdw sx="100000" sy="100000" kx="0" ky="0" algn="bl" rotWithShape="0" blurRad="101600" dist="38100" dir="8100000">
              <a:srgbClr val="000000">
                <a:alpha val="12000"/>
              </a:srgbClr>
            </a:outerShdw>
          </a:effectLst>
        </p:spPr>
      </p:sp>
      <p:sp>
        <p:nvSpPr>
          <p:cNvPr id="26" name="Shape 23"/>
          <p:cNvSpPr/>
          <p:nvPr/>
        </p:nvSpPr>
        <p:spPr>
          <a:xfrm>
            <a:off x="256032" y="3236976"/>
            <a:ext cx="109728" cy="768096"/>
          </a:xfrm>
          <a:prstGeom prst="rect">
            <a:avLst/>
          </a:prstGeom>
          <a:solidFill>
            <a:srgbClr val="7C3AED"/>
          </a:solidFill>
          <a:ln w="12700">
            <a:solidFill>
              <a:srgbClr val="7C3AED"/>
            </a:solidFill>
            <a:prstDash val="solid"/>
          </a:ln>
        </p:spPr>
      </p:sp>
      <p:pic>
        <p:nvPicPr>
          <p:cNvPr id="27" name="Image 1" descr="preencoded.png">    </p:cNvPr>
          <p:cNvPicPr>
            <a:picLocks noChangeAspect="1"/>
          </p:cNvPicPr>
          <p:nvPr/>
        </p:nvPicPr>
        <p:blipFill>
          <a:blip r:embed="rId2"/>
          <a:stretch>
            <a:fillRect/>
          </a:stretch>
        </p:blipFill>
        <p:spPr>
          <a:xfrm>
            <a:off x="438912" y="3401568"/>
            <a:ext cx="402336" cy="402336"/>
          </a:xfrm>
          <a:prstGeom prst="rect">
            <a:avLst/>
          </a:prstGeom>
        </p:spPr>
      </p:pic>
      <p:sp>
        <p:nvSpPr>
          <p:cNvPr id="28" name="Text 24"/>
          <p:cNvSpPr/>
          <p:nvPr/>
        </p:nvSpPr>
        <p:spPr>
          <a:xfrm>
            <a:off x="969264" y="3273552"/>
            <a:ext cx="6858000" cy="329184"/>
          </a:xfrm>
          <a:prstGeom prst="rect">
            <a:avLst/>
          </a:prstGeom>
          <a:noFill/>
          <a:ln/>
        </p:spPr>
        <p:txBody>
          <a:bodyPr wrap="square" lIns="0" tIns="0" rIns="0" bIns="0" rtlCol="0" anchor="ctr"/>
          <a:lstStyle/>
          <a:p>
            <a:pPr indent="0" marL="0">
              <a:buNone/>
            </a:pPr>
            <a:r>
              <a:rPr lang="en-US" sz="1150" b="1" dirty="0">
                <a:solidFill>
                  <a:srgbClr val="4C1D95"/>
                </a:solidFill>
                <a:latin typeface="Calibri" pitchFamily="34" charset="0"/>
                <a:ea typeface="Calibri" pitchFamily="34" charset="-122"/>
                <a:cs typeface="Calibri" pitchFamily="34" charset="-120"/>
              </a:rPr>
              <a:t>⏸  HUMAN GATE 2 — Developer (TDD)</a:t>
            </a:r>
            <a:endParaRPr lang="en-US" sz="1150" dirty="0"/>
          </a:p>
        </p:txBody>
      </p:sp>
      <p:sp>
        <p:nvSpPr>
          <p:cNvPr id="29" name="Text 25"/>
          <p:cNvSpPr/>
          <p:nvPr/>
        </p:nvSpPr>
        <p:spPr>
          <a:xfrm>
            <a:off x="969264" y="3602736"/>
            <a:ext cx="7772400" cy="329184"/>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Reads req + test cases + risks  ·  Implements feature / bugfix  ·  Writes unit &amp; integration tests with Polarion test case IDs</a:t>
            </a:r>
            <a:endParaRPr lang="en-US" sz="1000" dirty="0"/>
          </a:p>
        </p:txBody>
      </p:sp>
      <p:sp>
        <p:nvSpPr>
          <p:cNvPr id="30" name="Text 26"/>
          <p:cNvSpPr/>
          <p:nvPr/>
        </p:nvSpPr>
        <p:spPr>
          <a:xfrm>
            <a:off x="4206240" y="4023360"/>
            <a:ext cx="731520" cy="25603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31" name="Shape 27"/>
          <p:cNvSpPr/>
          <p:nvPr/>
        </p:nvSpPr>
        <p:spPr>
          <a:xfrm>
            <a:off x="256032" y="4297680"/>
            <a:ext cx="1005840" cy="713232"/>
          </a:xfrm>
          <a:prstGeom prst="rect">
            <a:avLst/>
          </a:prstGeom>
          <a:solidFill>
            <a:srgbClr val="16A34A"/>
          </a:solidFill>
          <a:ln w="12700">
            <a:solidFill>
              <a:srgbClr val="16A34A"/>
            </a:solidFill>
            <a:prstDash val="solid"/>
          </a:ln>
        </p:spPr>
      </p:sp>
      <p:sp>
        <p:nvSpPr>
          <p:cNvPr id="32" name="Text 28"/>
          <p:cNvSpPr/>
          <p:nvPr/>
        </p:nvSpPr>
        <p:spPr>
          <a:xfrm>
            <a:off x="256032" y="4297680"/>
            <a:ext cx="1005840" cy="713232"/>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AUTO</a:t>
            </a:r>
            <a:endParaRPr lang="en-US" sz="850" dirty="0"/>
          </a:p>
          <a:p>
            <a:pPr algn="ctr" indent="0" marL="0">
              <a:buNone/>
            </a:pPr>
            <a:r>
              <a:rPr lang="en-US" sz="850" b="1" spc="100" kern="0" dirty="0">
                <a:solidFill>
                  <a:srgbClr val="FFFFFF"/>
                </a:solidFill>
                <a:latin typeface="Calibri" pitchFamily="34" charset="0"/>
                <a:ea typeface="Calibri" pitchFamily="34" charset="-122"/>
                <a:cs typeface="Calibri" pitchFamily="34" charset="-120"/>
              </a:rPr>
              <a:t>PHASE</a:t>
            </a:r>
            <a:endParaRPr lang="en-US" sz="850" dirty="0"/>
          </a:p>
          <a:p>
            <a:pPr algn="ctr" indent="0" marL="0">
              <a:buNone/>
            </a:pPr>
            <a:r>
              <a:rPr lang="en-US" sz="850" b="1" spc="100" kern="0" dirty="0">
                <a:solidFill>
                  <a:srgbClr val="FFFFFF"/>
                </a:solidFill>
                <a:latin typeface="Calibri" pitchFamily="34" charset="0"/>
                <a:ea typeface="Calibri" pitchFamily="34" charset="-122"/>
                <a:cs typeface="Calibri" pitchFamily="34" charset="-120"/>
              </a:rPr>
              <a:t>2</a:t>
            </a:r>
            <a:endParaRPr lang="en-US" sz="850" dirty="0"/>
          </a:p>
        </p:txBody>
      </p:sp>
      <p:sp>
        <p:nvSpPr>
          <p:cNvPr id="33" name="Shape 29"/>
          <p:cNvSpPr/>
          <p:nvPr/>
        </p:nvSpPr>
        <p:spPr>
          <a:xfrm>
            <a:off x="1325880" y="4297680"/>
            <a:ext cx="3474720" cy="713232"/>
          </a:xfrm>
          <a:prstGeom prst="rect">
            <a:avLst/>
          </a:prstGeom>
          <a:solidFill>
            <a:srgbClr val="D97706"/>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34" name="Text 30"/>
          <p:cNvSpPr/>
          <p:nvPr/>
        </p:nvSpPr>
        <p:spPr>
          <a:xfrm>
            <a:off x="1325880" y="4352544"/>
            <a:ext cx="34747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 Executor</a:t>
            </a:r>
            <a:endParaRPr lang="en-US" sz="1300" dirty="0"/>
          </a:p>
        </p:txBody>
      </p:sp>
      <p:sp>
        <p:nvSpPr>
          <p:cNvPr id="35" name="Text 31"/>
          <p:cNvSpPr/>
          <p:nvPr/>
        </p:nvSpPr>
        <p:spPr>
          <a:xfrm>
            <a:off x="1417320" y="4700016"/>
            <a:ext cx="3291840" cy="274320"/>
          </a:xfrm>
          <a:prstGeom prst="rect">
            <a:avLst/>
          </a:prstGeom>
          <a:noFill/>
          <a:ln/>
        </p:spPr>
        <p:txBody>
          <a:bodyPr wrap="square" rtlCol="0" anchor="ctr"/>
          <a:lstStyle/>
          <a:p>
            <a:pPr algn="ctr" indent="0" marL="0">
              <a:buNone/>
            </a:pPr>
            <a:r>
              <a:rPr lang="en-US" sz="1000" dirty="0">
                <a:solidFill>
                  <a:srgbClr val="FEFCE8"/>
                </a:solidFill>
                <a:latin typeface="Calibri" pitchFamily="34" charset="0"/>
                <a:ea typeface="Calibri" pitchFamily="34" charset="-122"/>
                <a:cs typeface="Calibri" pitchFamily="34" charset="-120"/>
              </a:rPr>
              <a:t>Runs tests · PASS/FAIL/SKIP</a:t>
            </a:r>
            <a:endParaRPr lang="en-US" sz="1000" dirty="0"/>
          </a:p>
        </p:txBody>
      </p:sp>
      <p:sp>
        <p:nvSpPr>
          <p:cNvPr id="36" name="Text 32"/>
          <p:cNvSpPr/>
          <p:nvPr/>
        </p:nvSpPr>
        <p:spPr>
          <a:xfrm>
            <a:off x="4800600" y="4480560"/>
            <a:ext cx="384048" cy="347472"/>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a:t>
            </a:r>
            <a:endParaRPr lang="en-US" sz="1600" dirty="0"/>
          </a:p>
        </p:txBody>
      </p:sp>
      <p:sp>
        <p:nvSpPr>
          <p:cNvPr id="37" name="Shape 33"/>
          <p:cNvSpPr/>
          <p:nvPr/>
        </p:nvSpPr>
        <p:spPr>
          <a:xfrm>
            <a:off x="5184648" y="4297680"/>
            <a:ext cx="3474720" cy="713232"/>
          </a:xfrm>
          <a:prstGeom prst="rect">
            <a:avLst/>
          </a:prstGeom>
          <a:solidFill>
            <a:srgbClr val="16A34A"/>
          </a:solidFill>
          <a:ln w="12700">
            <a:solidFill>
              <a:srgbClr val="16A34A"/>
            </a:solidFill>
            <a:prstDash val="solid"/>
          </a:ln>
          <a:effectLst>
            <a:outerShdw sx="100000" sy="100000" kx="0" ky="0" algn="bl" rotWithShape="0" blurRad="101600" dist="38100" dir="8100000">
              <a:srgbClr val="000000">
                <a:alpha val="12000"/>
              </a:srgbClr>
            </a:outerShdw>
          </a:effectLst>
        </p:spPr>
      </p:sp>
      <p:sp>
        <p:nvSpPr>
          <p:cNvPr id="38" name="Text 34"/>
          <p:cNvSpPr/>
          <p:nvPr/>
        </p:nvSpPr>
        <p:spPr>
          <a:xfrm>
            <a:off x="5184648" y="4352544"/>
            <a:ext cx="34747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Polarion Updater</a:t>
            </a:r>
            <a:endParaRPr lang="en-US" sz="1300" dirty="0"/>
          </a:p>
        </p:txBody>
      </p:sp>
      <p:sp>
        <p:nvSpPr>
          <p:cNvPr id="39" name="Text 35"/>
          <p:cNvSpPr/>
          <p:nvPr/>
        </p:nvSpPr>
        <p:spPr>
          <a:xfrm>
            <a:off x="5276088" y="4700016"/>
            <a:ext cx="3291840" cy="274320"/>
          </a:xfrm>
          <a:prstGeom prst="rect">
            <a:avLst/>
          </a:prstGeom>
          <a:noFill/>
          <a:ln/>
        </p:spPr>
        <p:txBody>
          <a:bodyPr wrap="square" rtlCol="0" anchor="ctr"/>
          <a:lstStyle/>
          <a:p>
            <a:pPr algn="ctr" indent="0" marL="0">
              <a:buNone/>
            </a:pPr>
            <a:r>
              <a:rPr lang="en-US" sz="1000" dirty="0">
                <a:solidFill>
                  <a:srgbClr val="FEFCE8"/>
                </a:solidFill>
                <a:latin typeface="Calibri" pitchFamily="34" charset="0"/>
                <a:ea typeface="Calibri" pitchFamily="34" charset="-122"/>
                <a:cs typeface="Calibri" pitchFamily="34" charset="-120"/>
              </a:rPr>
              <a:t>Publishes Test Run + evidence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55448"/>
            <a:ext cx="859536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DEMO  01 / 02</a:t>
            </a:r>
            <a:endParaRPr lang="en-US" sz="1000" dirty="0"/>
          </a:p>
        </p:txBody>
      </p:sp>
      <p:sp>
        <p:nvSpPr>
          <p:cNvPr id="4" name="Text 2"/>
          <p:cNvSpPr/>
          <p:nvPr/>
        </p:nvSpPr>
        <p:spPr>
          <a:xfrm>
            <a:off x="256032" y="457200"/>
            <a:ext cx="859536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 Action — VS Code Side</a:t>
            </a:r>
            <a:endParaRPr lang="en-US" sz="2600" dirty="0"/>
          </a:p>
        </p:txBody>
      </p:sp>
      <p:sp>
        <p:nvSpPr>
          <p:cNvPr id="5" name="Shape 3"/>
          <p:cNvSpPr/>
          <p:nvPr/>
        </p:nvSpPr>
        <p:spPr>
          <a:xfrm>
            <a:off x="256032" y="1097280"/>
            <a:ext cx="5669280" cy="3566160"/>
          </a:xfrm>
          <a:prstGeom prst="rect">
            <a:avLst/>
          </a:prstGeom>
          <a:solidFill>
            <a:srgbClr val="0F2133"/>
          </a:solidFill>
          <a:ln w="25400">
            <a:solidFill>
              <a:srgbClr val="1C3B5A"/>
            </a:solidFill>
            <a:prstDash val="solid"/>
          </a:ln>
        </p:spPr>
      </p:sp>
      <p:sp>
        <p:nvSpPr>
          <p:cNvPr id="6" name="Text 4"/>
          <p:cNvSpPr/>
          <p:nvPr/>
        </p:nvSpPr>
        <p:spPr>
          <a:xfrm>
            <a:off x="411480" y="1280160"/>
            <a:ext cx="5394960" cy="3200400"/>
          </a:xfrm>
          <a:prstGeom prst="rect">
            <a:avLst/>
          </a:prstGeom>
          <a:noFill/>
          <a:ln/>
        </p:spPr>
        <p:txBody>
          <a:bodyPr wrap="square" rtlCol="0" anchor="t"/>
          <a:lstStyle/>
          <a:p>
            <a:pPr algn="l" indent="0" marL="0">
              <a:buNone/>
            </a:pPr>
            <a:r>
              <a:rPr lang="en-US" sz="1150" dirty="0">
                <a:solidFill>
                  <a:srgbClr val="3A7BA8"/>
                </a:solidFill>
                <a:latin typeface="Consolas" pitchFamily="34" charset="0"/>
                <a:ea typeface="Consolas" pitchFamily="34" charset="-122"/>
                <a:cs typeface="Consolas" pitchFamily="34" charset="-120"/>
              </a:rPr>
              <a:t>[ VS Code Screenshot ]</a:t>
            </a:r>
            <a:endParaRPr lang="en-US" sz="1150" dirty="0"/>
          </a:p>
          <a:p>
            <a:pPr algn="l" indent="0" marL="0">
              <a:buNone/>
            </a:pP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polarion-cli run --req POL-1234</a:t>
            </a:r>
            <a:endParaRPr lang="en-US" sz="1150" dirty="0"/>
          </a:p>
          <a:p>
            <a:pPr algn="l" indent="0" marL="0">
              <a:buNone/>
            </a:pP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Connecting to Polarion...</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Fetched: POL-1234 (Login Flow)</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Generating 8 test cases...</a:t>
            </a:r>
            <a:endParaRPr lang="en-US" sz="1150" dirty="0"/>
          </a:p>
          <a:p>
            <a:pPr algn="l" indent="0" marL="0">
              <a:buNone/>
            </a:pPr>
            <a:r>
              <a:rPr lang="en-US" sz="1150" dirty="0">
                <a:solidFill>
                  <a:srgbClr val="3A7BA8"/>
                </a:solidFill>
                <a:latin typeface="Consolas" pitchFamily="34" charset="0"/>
                <a:ea typeface="Consolas" pitchFamily="34" charset="-122"/>
                <a:cs typeface="Consolas" pitchFamily="34" charset="-120"/>
              </a:rPr>
              <a:t>→  Review &amp; confirm? [y/N]</a:t>
            </a:r>
            <a:endParaRPr lang="en-US" sz="1150" dirty="0"/>
          </a:p>
        </p:txBody>
      </p:sp>
      <p:sp>
        <p:nvSpPr>
          <p:cNvPr id="7" name="Shape 5"/>
          <p:cNvSpPr/>
          <p:nvPr/>
        </p:nvSpPr>
        <p:spPr>
          <a:xfrm>
            <a:off x="6080760" y="1097280"/>
            <a:ext cx="2834640" cy="3566160"/>
          </a:xfrm>
          <a:prstGeom prst="rect">
            <a:avLst/>
          </a:prstGeom>
          <a:solidFill>
            <a:srgbClr val="0F2133"/>
          </a:solidFill>
          <a:ln w="12700">
            <a:solidFill>
              <a:srgbClr val="1C3B5A"/>
            </a:solidFill>
            <a:prstDash val="solid"/>
          </a:ln>
        </p:spPr>
      </p:sp>
      <p:sp>
        <p:nvSpPr>
          <p:cNvPr id="8" name="Text 6"/>
          <p:cNvSpPr/>
          <p:nvPr/>
        </p:nvSpPr>
        <p:spPr>
          <a:xfrm>
            <a:off x="6217920" y="1234440"/>
            <a:ext cx="2560320" cy="36576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What you'll see:</a:t>
            </a:r>
            <a:endParaRPr lang="en-US" sz="1200" dirty="0"/>
          </a:p>
        </p:txBody>
      </p:sp>
      <p:sp>
        <p:nvSpPr>
          <p:cNvPr id="9" name="Text 7"/>
          <p:cNvSpPr/>
          <p:nvPr/>
        </p:nvSpPr>
        <p:spPr>
          <a:xfrm>
            <a:off x="6217920" y="1719072"/>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① Trigger orchestration in VS Code</a:t>
            </a:r>
            <a:endParaRPr lang="en-US" sz="1100" dirty="0"/>
          </a:p>
        </p:txBody>
      </p:sp>
      <p:sp>
        <p:nvSpPr>
          <p:cNvPr id="10" name="Text 8"/>
          <p:cNvSpPr/>
          <p:nvPr/>
        </p:nvSpPr>
        <p:spPr>
          <a:xfrm>
            <a:off x="6217920" y="2231136"/>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② Agents read req via polarion-cli</a:t>
            </a:r>
            <a:endParaRPr lang="en-US" sz="1100" dirty="0"/>
          </a:p>
        </p:txBody>
      </p:sp>
      <p:sp>
        <p:nvSpPr>
          <p:cNvPr id="11" name="Text 9"/>
          <p:cNvSpPr/>
          <p:nvPr/>
        </p:nvSpPr>
        <p:spPr>
          <a:xfrm>
            <a:off x="6217920" y="2743200"/>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③ Test cases &amp; risks generated</a:t>
            </a:r>
            <a:endParaRPr lang="en-US" sz="1100" dirty="0"/>
          </a:p>
        </p:txBody>
      </p:sp>
      <p:sp>
        <p:nvSpPr>
          <p:cNvPr id="12" name="Text 10"/>
          <p:cNvSpPr/>
          <p:nvPr/>
        </p:nvSpPr>
        <p:spPr>
          <a:xfrm>
            <a:off x="6217920" y="3255264"/>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④ Automated tests run</a:t>
            </a:r>
            <a:endParaRPr lang="en-US" sz="1100" dirty="0"/>
          </a:p>
        </p:txBody>
      </p:sp>
      <p:sp>
        <p:nvSpPr>
          <p:cNvPr id="13" name="Text 11"/>
          <p:cNvSpPr/>
          <p:nvPr/>
        </p:nvSpPr>
        <p:spPr>
          <a:xfrm>
            <a:off x="6217920" y="3767328"/>
            <a:ext cx="2560320" cy="438912"/>
          </a:xfrm>
          <a:prstGeom prst="rect">
            <a:avLst/>
          </a:prstGeom>
          <a:noFill/>
          <a:ln/>
        </p:spPr>
        <p:txBody>
          <a:bodyPr wrap="square" rtlCol="0" anchor="ctr"/>
          <a:lstStyle/>
          <a:p>
            <a:pPr indent="0" marL="0">
              <a:buNone/>
            </a:pPr>
            <a:r>
              <a:rPr lang="en-US" sz="1100" dirty="0">
                <a:solidFill>
                  <a:srgbClr val="A8D8F0"/>
                </a:solidFill>
                <a:latin typeface="Calibri" pitchFamily="34" charset="0"/>
                <a:ea typeface="Calibri" pitchFamily="34" charset="-122"/>
                <a:cs typeface="Calibri" pitchFamily="34" charset="-120"/>
              </a:rPr>
              <a:t>⑤ Polarion Test Run updated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55448"/>
            <a:ext cx="859536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DEMO  02 / 02</a:t>
            </a:r>
            <a:endParaRPr lang="en-US" sz="1000" dirty="0"/>
          </a:p>
        </p:txBody>
      </p:sp>
      <p:sp>
        <p:nvSpPr>
          <p:cNvPr id="4" name="Text 2"/>
          <p:cNvSpPr/>
          <p:nvPr/>
        </p:nvSpPr>
        <p:spPr>
          <a:xfrm>
            <a:off x="256032" y="457200"/>
            <a:ext cx="859536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Demo – Results in Polarion</a:t>
            </a:r>
            <a:endParaRPr lang="en-US" sz="2600" dirty="0"/>
          </a:p>
        </p:txBody>
      </p:sp>
      <p:sp>
        <p:nvSpPr>
          <p:cNvPr id="5" name="Shape 3"/>
          <p:cNvSpPr/>
          <p:nvPr/>
        </p:nvSpPr>
        <p:spPr>
          <a:xfrm>
            <a:off x="256032" y="1097280"/>
            <a:ext cx="5669280" cy="3566160"/>
          </a:xfrm>
          <a:prstGeom prst="rect">
            <a:avLst/>
          </a:prstGeom>
          <a:solidFill>
            <a:srgbClr val="0F2133"/>
          </a:solidFill>
          <a:ln w="25400">
            <a:solidFill>
              <a:srgbClr val="1C3B5A"/>
            </a:solidFill>
            <a:prstDash val="solid"/>
          </a:ln>
        </p:spPr>
      </p:sp>
      <p:sp>
        <p:nvSpPr>
          <p:cNvPr id="6" name="Text 4"/>
          <p:cNvSpPr/>
          <p:nvPr/>
        </p:nvSpPr>
        <p:spPr>
          <a:xfrm>
            <a:off x="411480" y="1325880"/>
            <a:ext cx="5394960" cy="3154680"/>
          </a:xfrm>
          <a:prstGeom prst="rect">
            <a:avLst/>
          </a:prstGeom>
          <a:noFill/>
          <a:ln/>
        </p:spPr>
        <p:txBody>
          <a:bodyPr wrap="square" rtlCol="0" anchor="t"/>
          <a:lstStyle/>
          <a:p>
            <a:pPr algn="l" indent="0" marL="0">
              <a:buNone/>
            </a:pPr>
            <a:r>
              <a:rPr lang="en-US" sz="1200" dirty="0">
                <a:solidFill>
                  <a:srgbClr val="3A7BA8"/>
                </a:solidFill>
                <a:latin typeface="Consolas" pitchFamily="34" charset="0"/>
                <a:ea typeface="Consolas" pitchFamily="34" charset="-122"/>
                <a:cs typeface="Consolas" pitchFamily="34" charset="-120"/>
              </a:rPr>
              <a:t>[ Polarion Screenshot ]</a:t>
            </a:r>
            <a:endParaRPr lang="en-US" sz="1200" dirty="0"/>
          </a:p>
          <a:p>
            <a:pPr algn="l" indent="0" marL="0">
              <a:buNone/>
            </a:pP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Fresh Test Run created</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Test cases linked to POL-XXXX</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PASS / FAIL / SKIP applied</a:t>
            </a:r>
            <a:endParaRPr lang="en-US" sz="1200" dirty="0"/>
          </a:p>
          <a:p>
            <a:pPr algn="l" indent="0" marL="0">
              <a:buNone/>
            </a:pPr>
            <a:r>
              <a:rPr lang="en-US" sz="1200" dirty="0">
                <a:solidFill>
                  <a:srgbClr val="3A7BA8"/>
                </a:solidFill>
                <a:latin typeface="Consolas" pitchFamily="34" charset="0"/>
                <a:ea typeface="Consolas" pitchFamily="34" charset="-122"/>
                <a:cs typeface="Consolas" pitchFamily="34" charset="-120"/>
              </a:rPr>
              <a:t>Logs &amp; evidence attached</a:t>
            </a:r>
            <a:endParaRPr lang="en-US" sz="1200" dirty="0"/>
          </a:p>
        </p:txBody>
      </p:sp>
      <p:sp>
        <p:nvSpPr>
          <p:cNvPr id="7" name="Text 5"/>
          <p:cNvSpPr/>
          <p:nvPr/>
        </p:nvSpPr>
        <p:spPr>
          <a:xfrm>
            <a:off x="6080760" y="1143000"/>
            <a:ext cx="2834640" cy="36576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Live results:</a:t>
            </a:r>
            <a:endParaRPr lang="en-US" sz="1200" dirty="0"/>
          </a:p>
        </p:txBody>
      </p:sp>
      <p:sp>
        <p:nvSpPr>
          <p:cNvPr id="8" name="Shape 6"/>
          <p:cNvSpPr/>
          <p:nvPr/>
        </p:nvSpPr>
        <p:spPr>
          <a:xfrm>
            <a:off x="6080760" y="1645920"/>
            <a:ext cx="2788920" cy="731520"/>
          </a:xfrm>
          <a:prstGeom prst="rect">
            <a:avLst/>
          </a:prstGeom>
          <a:solidFill>
            <a:srgbClr val="0F2133"/>
          </a:solidFill>
          <a:ln w="25400">
            <a:solidFill>
              <a:srgbClr val="16A34A"/>
            </a:solidFill>
            <a:prstDash val="solid"/>
          </a:ln>
        </p:spPr>
      </p:sp>
      <p:sp>
        <p:nvSpPr>
          <p:cNvPr id="9" name="Shape 7"/>
          <p:cNvSpPr/>
          <p:nvPr/>
        </p:nvSpPr>
        <p:spPr>
          <a:xfrm>
            <a:off x="6080760" y="1645920"/>
            <a:ext cx="109728" cy="731520"/>
          </a:xfrm>
          <a:prstGeom prst="rect">
            <a:avLst/>
          </a:prstGeom>
          <a:solidFill>
            <a:srgbClr val="16A34A"/>
          </a:solidFill>
          <a:ln w="12700">
            <a:solidFill>
              <a:srgbClr val="16A34A"/>
            </a:solidFill>
            <a:prstDash val="solid"/>
          </a:ln>
        </p:spPr>
      </p:sp>
      <p:sp>
        <p:nvSpPr>
          <p:cNvPr id="10" name="Text 8"/>
          <p:cNvSpPr/>
          <p:nvPr/>
        </p:nvSpPr>
        <p:spPr>
          <a:xfrm>
            <a:off x="6217920" y="1645920"/>
            <a:ext cx="594360" cy="731520"/>
          </a:xfrm>
          <a:prstGeom prst="rect">
            <a:avLst/>
          </a:prstGeom>
          <a:noFill/>
          <a:ln/>
        </p:spPr>
        <p:txBody>
          <a:bodyPr wrap="square" lIns="0" tIns="0" rIns="0" bIns="0" rtlCol="0" anchor="ctr"/>
          <a:lstStyle/>
          <a:p>
            <a:pPr algn="ctr" indent="0" marL="0">
              <a:buNone/>
            </a:pPr>
            <a:r>
              <a:rPr lang="en-US" sz="2600" b="1" dirty="0">
                <a:solidFill>
                  <a:srgbClr val="16A34A"/>
                </a:solidFill>
                <a:latin typeface="Calibri" pitchFamily="34" charset="0"/>
                <a:ea typeface="Calibri" pitchFamily="34" charset="-122"/>
                <a:cs typeface="Calibri" pitchFamily="34" charset="-120"/>
              </a:rPr>
              <a:t>6</a:t>
            </a:r>
            <a:endParaRPr lang="en-US" sz="2600" dirty="0"/>
          </a:p>
        </p:txBody>
      </p:sp>
      <p:sp>
        <p:nvSpPr>
          <p:cNvPr id="11" name="Text 9"/>
          <p:cNvSpPr/>
          <p:nvPr/>
        </p:nvSpPr>
        <p:spPr>
          <a:xfrm>
            <a:off x="6839712" y="1645920"/>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PASSED</a:t>
            </a:r>
            <a:endParaRPr lang="en-US" sz="1400" dirty="0"/>
          </a:p>
        </p:txBody>
      </p:sp>
      <p:sp>
        <p:nvSpPr>
          <p:cNvPr id="12" name="Shape 10"/>
          <p:cNvSpPr/>
          <p:nvPr/>
        </p:nvSpPr>
        <p:spPr>
          <a:xfrm>
            <a:off x="6080760" y="2542032"/>
            <a:ext cx="2788920" cy="731520"/>
          </a:xfrm>
          <a:prstGeom prst="rect">
            <a:avLst/>
          </a:prstGeom>
          <a:solidFill>
            <a:srgbClr val="0F2133"/>
          </a:solidFill>
          <a:ln w="25400">
            <a:solidFill>
              <a:srgbClr val="E53E3E"/>
            </a:solidFill>
            <a:prstDash val="solid"/>
          </a:ln>
        </p:spPr>
      </p:sp>
      <p:sp>
        <p:nvSpPr>
          <p:cNvPr id="13" name="Shape 11"/>
          <p:cNvSpPr/>
          <p:nvPr/>
        </p:nvSpPr>
        <p:spPr>
          <a:xfrm>
            <a:off x="6080760" y="2542032"/>
            <a:ext cx="109728" cy="731520"/>
          </a:xfrm>
          <a:prstGeom prst="rect">
            <a:avLst/>
          </a:prstGeom>
          <a:solidFill>
            <a:srgbClr val="E53E3E"/>
          </a:solidFill>
          <a:ln w="12700">
            <a:solidFill>
              <a:srgbClr val="E53E3E"/>
            </a:solidFill>
            <a:prstDash val="solid"/>
          </a:ln>
        </p:spPr>
      </p:sp>
      <p:sp>
        <p:nvSpPr>
          <p:cNvPr id="14" name="Text 12"/>
          <p:cNvSpPr/>
          <p:nvPr/>
        </p:nvSpPr>
        <p:spPr>
          <a:xfrm>
            <a:off x="6217920" y="2542032"/>
            <a:ext cx="594360" cy="731520"/>
          </a:xfrm>
          <a:prstGeom prst="rect">
            <a:avLst/>
          </a:prstGeom>
          <a:noFill/>
          <a:ln/>
        </p:spPr>
        <p:txBody>
          <a:bodyPr wrap="square" lIns="0" tIns="0" rIns="0" bIns="0" rtlCol="0" anchor="ctr"/>
          <a:lstStyle/>
          <a:p>
            <a:pPr algn="ctr" indent="0" marL="0">
              <a:buNone/>
            </a:pPr>
            <a:r>
              <a:rPr lang="en-US" sz="2600" b="1" dirty="0">
                <a:solidFill>
                  <a:srgbClr val="E53E3E"/>
                </a:solidFill>
                <a:latin typeface="Calibri" pitchFamily="34" charset="0"/>
                <a:ea typeface="Calibri" pitchFamily="34" charset="-122"/>
                <a:cs typeface="Calibri" pitchFamily="34" charset="-120"/>
              </a:rPr>
              <a:t>1</a:t>
            </a:r>
            <a:endParaRPr lang="en-US" sz="2600" dirty="0"/>
          </a:p>
        </p:txBody>
      </p:sp>
      <p:sp>
        <p:nvSpPr>
          <p:cNvPr id="15" name="Text 13"/>
          <p:cNvSpPr/>
          <p:nvPr/>
        </p:nvSpPr>
        <p:spPr>
          <a:xfrm>
            <a:off x="6839712" y="2542032"/>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FAILED</a:t>
            </a:r>
            <a:endParaRPr lang="en-US" sz="1400" dirty="0"/>
          </a:p>
        </p:txBody>
      </p:sp>
      <p:sp>
        <p:nvSpPr>
          <p:cNvPr id="16" name="Shape 14"/>
          <p:cNvSpPr/>
          <p:nvPr/>
        </p:nvSpPr>
        <p:spPr>
          <a:xfrm>
            <a:off x="6080760" y="3438144"/>
            <a:ext cx="2788920" cy="731520"/>
          </a:xfrm>
          <a:prstGeom prst="rect">
            <a:avLst/>
          </a:prstGeom>
          <a:solidFill>
            <a:srgbClr val="0F2133"/>
          </a:solidFill>
          <a:ln w="25400">
            <a:solidFill>
              <a:srgbClr val="D97706"/>
            </a:solidFill>
            <a:prstDash val="solid"/>
          </a:ln>
        </p:spPr>
      </p:sp>
      <p:sp>
        <p:nvSpPr>
          <p:cNvPr id="17" name="Shape 15"/>
          <p:cNvSpPr/>
          <p:nvPr/>
        </p:nvSpPr>
        <p:spPr>
          <a:xfrm>
            <a:off x="6080760" y="3438144"/>
            <a:ext cx="109728" cy="731520"/>
          </a:xfrm>
          <a:prstGeom prst="rect">
            <a:avLst/>
          </a:prstGeom>
          <a:solidFill>
            <a:srgbClr val="D97706"/>
          </a:solidFill>
          <a:ln w="12700">
            <a:solidFill>
              <a:srgbClr val="D97706"/>
            </a:solidFill>
            <a:prstDash val="solid"/>
          </a:ln>
        </p:spPr>
      </p:sp>
      <p:sp>
        <p:nvSpPr>
          <p:cNvPr id="18" name="Text 16"/>
          <p:cNvSpPr/>
          <p:nvPr/>
        </p:nvSpPr>
        <p:spPr>
          <a:xfrm>
            <a:off x="6217920" y="3438144"/>
            <a:ext cx="594360" cy="731520"/>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1</a:t>
            </a:r>
            <a:endParaRPr lang="en-US" sz="2600" dirty="0"/>
          </a:p>
        </p:txBody>
      </p:sp>
      <p:sp>
        <p:nvSpPr>
          <p:cNvPr id="19" name="Text 17"/>
          <p:cNvSpPr/>
          <p:nvPr/>
        </p:nvSpPr>
        <p:spPr>
          <a:xfrm>
            <a:off x="6839712" y="3438144"/>
            <a:ext cx="1828800" cy="7315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SKIPPED</a:t>
            </a:r>
            <a:endParaRPr lang="en-US" sz="1400" dirty="0"/>
          </a:p>
        </p:txBody>
      </p:sp>
      <p:sp>
        <p:nvSpPr>
          <p:cNvPr id="20" name="Text 18"/>
          <p:cNvSpPr/>
          <p:nvPr/>
        </p:nvSpPr>
        <p:spPr>
          <a:xfrm>
            <a:off x="6080760" y="4434840"/>
            <a:ext cx="2834640" cy="320040"/>
          </a:xfrm>
          <a:prstGeom prst="rect">
            <a:avLst/>
          </a:prstGeom>
          <a:noFill/>
          <a:ln/>
        </p:spPr>
        <p:txBody>
          <a:bodyPr wrap="square" rtlCol="0" anchor="ctr"/>
          <a:lstStyle/>
          <a:p>
            <a:pPr indent="0" marL="0">
              <a:buNone/>
            </a:pPr>
            <a:r>
              <a:rPr lang="en-US" sz="1100" dirty="0">
                <a:solidFill>
                  <a:srgbClr val="16A34A"/>
                </a:solidFill>
                <a:latin typeface="Calibri" pitchFamily="34" charset="0"/>
                <a:ea typeface="Calibri" pitchFamily="34" charset="-122"/>
                <a:cs typeface="Calibri" pitchFamily="34" charset="-120"/>
              </a:rPr>
              <a:t>✓  Evidence attached per test case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2C39A"/>
          </a:solidFill>
          <a:ln w="12700">
            <a:solidFill>
              <a:srgbClr val="02C39A"/>
            </a:solidFill>
            <a:prstDash val="solid"/>
          </a:ln>
        </p:spPr>
      </p:sp>
      <p:sp>
        <p:nvSpPr>
          <p:cNvPr id="3" name="Text 1"/>
          <p:cNvSpPr/>
          <p:nvPr/>
        </p:nvSpPr>
        <p:spPr>
          <a:xfrm>
            <a:off x="256032" y="164592"/>
            <a:ext cx="8595360" cy="50292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What We're Seeing So Far</a:t>
            </a:r>
            <a:endParaRPr lang="en-US" sz="2600" dirty="0"/>
          </a:p>
        </p:txBody>
      </p:sp>
      <p:sp>
        <p:nvSpPr>
          <p:cNvPr id="4" name="Shape 2"/>
          <p:cNvSpPr/>
          <p:nvPr/>
        </p:nvSpPr>
        <p:spPr>
          <a:xfrm>
            <a:off x="256032" y="731520"/>
            <a:ext cx="8595360" cy="27432"/>
          </a:xfrm>
          <a:prstGeom prst="rect">
            <a:avLst/>
          </a:prstGeom>
          <a:solidFill>
            <a:srgbClr val="E2E8F0"/>
          </a:solidFill>
          <a:ln w="12700">
            <a:solidFill>
              <a:srgbClr val="E2E8F0"/>
            </a:solidFill>
            <a:prstDash val="solid"/>
          </a:ln>
        </p:spPr>
      </p:sp>
      <p:sp>
        <p:nvSpPr>
          <p:cNvPr id="5" name="Shape 3"/>
          <p:cNvSpPr/>
          <p:nvPr/>
        </p:nvSpPr>
        <p:spPr>
          <a:xfrm>
            <a:off x="256032"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56032" y="960120"/>
            <a:ext cx="2697480" cy="128016"/>
          </a:xfrm>
          <a:prstGeom prst="rect">
            <a:avLst/>
          </a:prstGeom>
          <a:solidFill>
            <a:srgbClr val="065A82"/>
          </a:solidFill>
          <a:ln w="12700">
            <a:solidFill>
              <a:srgbClr val="065A82"/>
            </a:solidFill>
            <a:prstDash val="solid"/>
          </a:ln>
        </p:spPr>
      </p:sp>
      <p:sp>
        <p:nvSpPr>
          <p:cNvPr id="7" name="Text 5"/>
          <p:cNvSpPr/>
          <p:nvPr/>
        </p:nvSpPr>
        <p:spPr>
          <a:xfrm>
            <a:off x="256032" y="1115568"/>
            <a:ext cx="2697480" cy="841248"/>
          </a:xfrm>
          <a:prstGeom prst="rect">
            <a:avLst/>
          </a:prstGeom>
          <a:noFill/>
          <a:ln/>
        </p:spPr>
        <p:txBody>
          <a:bodyPr wrap="square" lIns="0" tIns="0" rIns="0" bIns="0" rtlCol="0" anchor="ctr"/>
          <a:lstStyle/>
          <a:p>
            <a:pPr algn="ctr" indent="0" marL="0">
              <a:buNone/>
            </a:pPr>
            <a:r>
              <a:rPr lang="en-US" sz="4400" b="1" dirty="0">
                <a:solidFill>
                  <a:srgbClr val="065A82"/>
                </a:solidFill>
                <a:latin typeface="Calibri" pitchFamily="34" charset="0"/>
                <a:ea typeface="Calibri" pitchFamily="34" charset="-122"/>
                <a:cs typeface="Calibri" pitchFamily="34" charset="-120"/>
              </a:rPr>
              <a:t>Hours</a:t>
            </a:r>
            <a:endParaRPr lang="en-US" sz="4400" dirty="0"/>
          </a:p>
        </p:txBody>
      </p:sp>
      <p:sp>
        <p:nvSpPr>
          <p:cNvPr id="8" name="Text 6"/>
          <p:cNvSpPr/>
          <p:nvPr/>
        </p:nvSpPr>
        <p:spPr>
          <a:xfrm>
            <a:off x="347472"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Saved per feature</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vs. manual process</a:t>
            </a:r>
            <a:endParaRPr lang="en-US" sz="1300" dirty="0"/>
          </a:p>
        </p:txBody>
      </p:sp>
      <p:sp>
        <p:nvSpPr>
          <p:cNvPr id="9" name="Shape 7"/>
          <p:cNvSpPr/>
          <p:nvPr/>
        </p:nvSpPr>
        <p:spPr>
          <a:xfrm>
            <a:off x="3163824"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163824" y="960120"/>
            <a:ext cx="2697480" cy="128016"/>
          </a:xfrm>
          <a:prstGeom prst="rect">
            <a:avLst/>
          </a:prstGeom>
          <a:solidFill>
            <a:srgbClr val="16A34A"/>
          </a:solidFill>
          <a:ln w="12700">
            <a:solidFill>
              <a:srgbClr val="16A34A"/>
            </a:solidFill>
            <a:prstDash val="solid"/>
          </a:ln>
        </p:spPr>
      </p:sp>
      <p:sp>
        <p:nvSpPr>
          <p:cNvPr id="11" name="Text 9"/>
          <p:cNvSpPr/>
          <p:nvPr/>
        </p:nvSpPr>
        <p:spPr>
          <a:xfrm>
            <a:off x="3163824" y="1115568"/>
            <a:ext cx="2697480" cy="841248"/>
          </a:xfrm>
          <a:prstGeom prst="rect">
            <a:avLst/>
          </a:prstGeom>
          <a:noFill/>
          <a:ln/>
        </p:spPr>
        <p:txBody>
          <a:bodyPr wrap="square" lIns="0" tIns="0" rIns="0" bIns="0" rtlCol="0" anchor="ctr"/>
          <a:lstStyle/>
          <a:p>
            <a:pPr algn="ctr" indent="0" marL="0">
              <a:buNone/>
            </a:pPr>
            <a:r>
              <a:rPr lang="en-US" sz="4400" b="1" dirty="0">
                <a:solidFill>
                  <a:srgbClr val="16A34A"/>
                </a:solidFill>
                <a:latin typeface="Calibri" pitchFamily="34" charset="0"/>
                <a:ea typeface="Calibri" pitchFamily="34" charset="-122"/>
                <a:cs typeface="Calibri" pitchFamily="34" charset="-120"/>
              </a:rPr>
              <a:t>100%</a:t>
            </a:r>
            <a:endParaRPr lang="en-US" sz="4400" dirty="0"/>
          </a:p>
        </p:txBody>
      </p:sp>
      <p:sp>
        <p:nvSpPr>
          <p:cNvPr id="12" name="Text 10"/>
          <p:cNvSpPr/>
          <p:nvPr/>
        </p:nvSpPr>
        <p:spPr>
          <a:xfrm>
            <a:off x="3255264"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Traceability in</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Polarion, automatically</a:t>
            </a:r>
            <a:endParaRPr lang="en-US" sz="1300" dirty="0"/>
          </a:p>
        </p:txBody>
      </p:sp>
      <p:sp>
        <p:nvSpPr>
          <p:cNvPr id="13" name="Shape 11"/>
          <p:cNvSpPr/>
          <p:nvPr/>
        </p:nvSpPr>
        <p:spPr>
          <a:xfrm>
            <a:off x="6071616" y="960120"/>
            <a:ext cx="2697480" cy="2011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71616" y="960120"/>
            <a:ext cx="2697480" cy="128016"/>
          </a:xfrm>
          <a:prstGeom prst="rect">
            <a:avLst/>
          </a:prstGeom>
          <a:solidFill>
            <a:srgbClr val="7C3AED"/>
          </a:solidFill>
          <a:ln w="12700">
            <a:solidFill>
              <a:srgbClr val="7C3AED"/>
            </a:solidFill>
            <a:prstDash val="solid"/>
          </a:ln>
        </p:spPr>
      </p:sp>
      <p:sp>
        <p:nvSpPr>
          <p:cNvPr id="15" name="Text 13"/>
          <p:cNvSpPr/>
          <p:nvPr/>
        </p:nvSpPr>
        <p:spPr>
          <a:xfrm>
            <a:off x="6071616" y="1115568"/>
            <a:ext cx="2697480" cy="841248"/>
          </a:xfrm>
          <a:prstGeom prst="rect">
            <a:avLst/>
          </a:prstGeom>
          <a:noFill/>
          <a:ln/>
        </p:spPr>
        <p:txBody>
          <a:bodyPr wrap="square" lIns="0" tIns="0" rIns="0" bIns="0" rtlCol="0" anchor="ctr"/>
          <a:lstStyle/>
          <a:p>
            <a:pPr algn="ctr" indent="0" marL="0">
              <a:buNone/>
            </a:pPr>
            <a:r>
              <a:rPr lang="en-US" sz="4400" b="1" dirty="0">
                <a:solidFill>
                  <a:srgbClr val="7C3AED"/>
                </a:solidFill>
                <a:latin typeface="Calibri" pitchFamily="34" charset="0"/>
                <a:ea typeface="Calibri" pitchFamily="34" charset="-122"/>
                <a:cs typeface="Calibri" pitchFamily="34" charset="-120"/>
              </a:rPr>
              <a:t>Minutes</a:t>
            </a:r>
            <a:endParaRPr lang="en-US" sz="4400" dirty="0"/>
          </a:p>
        </p:txBody>
      </p:sp>
      <p:sp>
        <p:nvSpPr>
          <p:cNvPr id="16" name="Text 14"/>
          <p:cNvSpPr/>
          <p:nvPr/>
        </p:nvSpPr>
        <p:spPr>
          <a:xfrm>
            <a:off x="6163056" y="1993392"/>
            <a:ext cx="2514600" cy="777240"/>
          </a:xfrm>
          <a:prstGeom prst="rect">
            <a:avLst/>
          </a:prstGeom>
          <a:noFill/>
          <a:ln/>
        </p:spPr>
        <p:txBody>
          <a:bodyPr wrap="square"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End-to-end loop</a:t>
            </a:r>
            <a:endParaRPr lang="en-US" sz="1300" dirty="0"/>
          </a:p>
          <a:p>
            <a:pPr algn="ctr" indent="0" marL="0">
              <a:buNone/>
            </a:pPr>
            <a:r>
              <a:rPr lang="en-US" sz="1300" dirty="0">
                <a:solidFill>
                  <a:srgbClr val="4A5568"/>
                </a:solidFill>
                <a:latin typeface="Calibri" pitchFamily="34" charset="0"/>
                <a:ea typeface="Calibri" pitchFamily="34" charset="-122"/>
                <a:cs typeface="Calibri" pitchFamily="34" charset="-120"/>
              </a:rPr>
              <a:t>per requirement</a:t>
            </a:r>
            <a:endParaRPr lang="en-US" sz="1300" dirty="0"/>
          </a:p>
        </p:txBody>
      </p:sp>
      <p:sp>
        <p:nvSpPr>
          <p:cNvPr id="17" name="Shape 15"/>
          <p:cNvSpPr/>
          <p:nvPr/>
        </p:nvSpPr>
        <p:spPr>
          <a:xfrm>
            <a:off x="256032"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56032" y="3246120"/>
            <a:ext cx="91440" cy="1600200"/>
          </a:xfrm>
          <a:prstGeom prst="rect">
            <a:avLst/>
          </a:prstGeom>
          <a:solidFill>
            <a:srgbClr val="065A82"/>
          </a:solidFill>
          <a:ln w="12700">
            <a:solidFill>
              <a:srgbClr val="065A82"/>
            </a:solidFill>
            <a:prstDash val="solid"/>
          </a:ln>
        </p:spPr>
      </p:sp>
      <p:sp>
        <p:nvSpPr>
          <p:cNvPr id="19" name="Text 17"/>
          <p:cNvSpPr/>
          <p:nvPr/>
        </p:nvSpPr>
        <p:spPr>
          <a:xfrm>
            <a:off x="457200"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More Consistent</a:t>
            </a:r>
            <a:endParaRPr lang="en-US" sz="1300" dirty="0"/>
          </a:p>
        </p:txBody>
      </p:sp>
      <p:sp>
        <p:nvSpPr>
          <p:cNvPr id="20" name="Text 18"/>
          <p:cNvSpPr/>
          <p:nvPr/>
        </p:nvSpPr>
        <p:spPr>
          <a:xfrm>
            <a:off x="457200"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Test coverage &amp; risk ID</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no longer author-dependent</a:t>
            </a:r>
            <a:endParaRPr lang="en-US" sz="1200" dirty="0"/>
          </a:p>
        </p:txBody>
      </p:sp>
      <p:sp>
        <p:nvSpPr>
          <p:cNvPr id="21" name="Shape 19"/>
          <p:cNvSpPr/>
          <p:nvPr/>
        </p:nvSpPr>
        <p:spPr>
          <a:xfrm>
            <a:off x="3163824"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163824" y="3246120"/>
            <a:ext cx="91440" cy="1600200"/>
          </a:xfrm>
          <a:prstGeom prst="rect">
            <a:avLst/>
          </a:prstGeom>
          <a:solidFill>
            <a:srgbClr val="7C3AED"/>
          </a:solidFill>
          <a:ln w="12700">
            <a:solidFill>
              <a:srgbClr val="7C3AED"/>
            </a:solidFill>
            <a:prstDash val="solid"/>
          </a:ln>
        </p:spPr>
      </p:sp>
      <p:sp>
        <p:nvSpPr>
          <p:cNvPr id="23" name="Text 21"/>
          <p:cNvSpPr/>
          <p:nvPr/>
        </p:nvSpPr>
        <p:spPr>
          <a:xfrm>
            <a:off x="3364992"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Higher-Value Work</a:t>
            </a:r>
            <a:endParaRPr lang="en-US" sz="1300" dirty="0"/>
          </a:p>
        </p:txBody>
      </p:sp>
      <p:sp>
        <p:nvSpPr>
          <p:cNvPr id="24" name="Text 22"/>
          <p:cNvSpPr/>
          <p:nvPr/>
        </p:nvSpPr>
        <p:spPr>
          <a:xfrm>
            <a:off x="3364992"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Engineers focus on</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review, logic &amp; complex cases</a:t>
            </a:r>
            <a:endParaRPr lang="en-US" sz="1200" dirty="0"/>
          </a:p>
        </p:txBody>
      </p:sp>
      <p:sp>
        <p:nvSpPr>
          <p:cNvPr id="25" name="Shape 23"/>
          <p:cNvSpPr/>
          <p:nvPr/>
        </p:nvSpPr>
        <p:spPr>
          <a:xfrm>
            <a:off x="6071616" y="3246120"/>
            <a:ext cx="269748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071616" y="3246120"/>
            <a:ext cx="91440" cy="1600200"/>
          </a:xfrm>
          <a:prstGeom prst="rect">
            <a:avLst/>
          </a:prstGeom>
          <a:solidFill>
            <a:srgbClr val="16A34A"/>
          </a:solidFill>
          <a:ln w="12700">
            <a:solidFill>
              <a:srgbClr val="16A34A"/>
            </a:solidFill>
            <a:prstDash val="solid"/>
          </a:ln>
        </p:spPr>
      </p:sp>
      <p:sp>
        <p:nvSpPr>
          <p:cNvPr id="27" name="Text 25"/>
          <p:cNvSpPr/>
          <p:nvPr/>
        </p:nvSpPr>
        <p:spPr>
          <a:xfrm>
            <a:off x="6272784" y="3337560"/>
            <a:ext cx="2377440" cy="38404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No New Vendor</a:t>
            </a:r>
            <a:endParaRPr lang="en-US" sz="1300" dirty="0"/>
          </a:p>
        </p:txBody>
      </p:sp>
      <p:sp>
        <p:nvSpPr>
          <p:cNvPr id="28" name="Text 26"/>
          <p:cNvSpPr/>
          <p:nvPr/>
        </p:nvSpPr>
        <p:spPr>
          <a:xfrm>
            <a:off x="6272784" y="3767328"/>
            <a:ext cx="2377440" cy="91440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Built entirely on</a:t>
            </a:r>
            <a:endParaRPr lang="en-US" sz="1200" dirty="0"/>
          </a:p>
          <a:p>
            <a:pPr indent="0" marL="0">
              <a:buNone/>
            </a:pPr>
            <a:r>
              <a:rPr lang="en-US" sz="1200" dirty="0">
                <a:solidFill>
                  <a:srgbClr val="4A5568"/>
                </a:solidFill>
                <a:latin typeface="Calibri" pitchFamily="34" charset="0"/>
                <a:ea typeface="Calibri" pitchFamily="34" charset="-122"/>
                <a:cs typeface="Calibri" pitchFamily="34" charset="-120"/>
              </a:rPr>
              <a:t>tools we already own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720840" y="0"/>
            <a:ext cx="2423160" cy="5143500"/>
          </a:xfrm>
          <a:prstGeom prst="rect">
            <a:avLst/>
          </a:prstGeom>
          <a:solidFill>
            <a:srgbClr val="065A82"/>
          </a:solidFill>
          <a:ln w="12700">
            <a:solidFill>
              <a:srgbClr val="065A82"/>
            </a:solidFill>
            <a:prstDash val="solid"/>
          </a:ln>
        </p:spPr>
      </p:sp>
      <p:sp>
        <p:nvSpPr>
          <p:cNvPr id="3" name="Shape 1"/>
          <p:cNvSpPr/>
          <p:nvPr/>
        </p:nvSpPr>
        <p:spPr>
          <a:xfrm>
            <a:off x="6647688" y="0"/>
            <a:ext cx="73152" cy="5143500"/>
          </a:xfrm>
          <a:prstGeom prst="rect">
            <a:avLst/>
          </a:prstGeom>
          <a:solidFill>
            <a:srgbClr val="02C39A"/>
          </a:solidFill>
          <a:ln w="12700">
            <a:solidFill>
              <a:srgbClr val="02C39A"/>
            </a:solidFill>
            <a:prstDash val="solid"/>
          </a:ln>
        </p:spPr>
      </p:sp>
      <p:sp>
        <p:nvSpPr>
          <p:cNvPr id="4" name="Shape 2"/>
          <p:cNvSpPr/>
          <p:nvPr/>
        </p:nvSpPr>
        <p:spPr>
          <a:xfrm>
            <a:off x="0" y="0"/>
            <a:ext cx="91440" cy="5143500"/>
          </a:xfrm>
          <a:prstGeom prst="rect">
            <a:avLst/>
          </a:prstGeom>
          <a:solidFill>
            <a:srgbClr val="02C39A"/>
          </a:solidFill>
          <a:ln w="12700">
            <a:solidFill>
              <a:srgbClr val="02C39A"/>
            </a:solidFill>
            <a:prstDash val="solid"/>
          </a:ln>
        </p:spPr>
      </p:sp>
      <p:sp>
        <p:nvSpPr>
          <p:cNvPr id="5" name="Text 3"/>
          <p:cNvSpPr/>
          <p:nvPr/>
        </p:nvSpPr>
        <p:spPr>
          <a:xfrm>
            <a:off x="256032" y="155448"/>
            <a:ext cx="6217920" cy="347472"/>
          </a:xfrm>
          <a:prstGeom prst="rect">
            <a:avLst/>
          </a:prstGeom>
          <a:noFill/>
          <a:ln/>
        </p:spPr>
        <p:txBody>
          <a:bodyPr wrap="square" rtlCol="0" anchor="ctr"/>
          <a:lstStyle/>
          <a:p>
            <a:pPr indent="0" marL="0">
              <a:buNone/>
            </a:pPr>
            <a:r>
              <a:rPr lang="en-US" sz="1000" b="1" spc="300" kern="0" dirty="0">
                <a:solidFill>
                  <a:srgbClr val="02C39A"/>
                </a:solidFill>
                <a:latin typeface="Calibri" pitchFamily="34" charset="0"/>
                <a:ea typeface="Calibri" pitchFamily="34" charset="-122"/>
                <a:cs typeface="Calibri" pitchFamily="34" charset="-120"/>
              </a:rPr>
              <a:t>NEXT STEPS</a:t>
            </a:r>
            <a:endParaRPr lang="en-US" sz="1000" dirty="0"/>
          </a:p>
        </p:txBody>
      </p:sp>
      <p:sp>
        <p:nvSpPr>
          <p:cNvPr id="6" name="Text 4"/>
          <p:cNvSpPr/>
          <p:nvPr/>
        </p:nvSpPr>
        <p:spPr>
          <a:xfrm>
            <a:off x="256032" y="457200"/>
            <a:ext cx="6217920"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Let's Make This Useful for Everyone</a:t>
            </a:r>
            <a:endParaRPr lang="en-US" sz="2400" dirty="0"/>
          </a:p>
        </p:txBody>
      </p:sp>
      <p:pic>
        <p:nvPicPr>
          <p:cNvPr id="7" name="Image 0" descr="preencoded.png">    </p:cNvPr>
          <p:cNvPicPr>
            <a:picLocks noChangeAspect="1"/>
          </p:cNvPicPr>
          <p:nvPr/>
        </p:nvPicPr>
        <p:blipFill>
          <a:blip r:embed="rId1"/>
          <a:stretch>
            <a:fillRect/>
          </a:stretch>
        </p:blipFill>
        <p:spPr>
          <a:xfrm>
            <a:off x="256032" y="1261872"/>
            <a:ext cx="347472" cy="347472"/>
          </a:xfrm>
          <a:prstGeom prst="rect">
            <a:avLst/>
          </a:prstGeom>
        </p:spPr>
      </p:pic>
      <p:sp>
        <p:nvSpPr>
          <p:cNvPr id="8" name="Text 5"/>
          <p:cNvSpPr/>
          <p:nvPr/>
        </p:nvSpPr>
        <p:spPr>
          <a:xfrm>
            <a:off x="749808" y="1207008"/>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 can share templates + CLI examples</a:t>
            </a:r>
            <a:endParaRPr lang="en-US" sz="1500" dirty="0"/>
          </a:p>
        </p:txBody>
      </p:sp>
      <p:sp>
        <p:nvSpPr>
          <p:cNvPr id="9" name="Text 6"/>
          <p:cNvSpPr/>
          <p:nvPr/>
        </p:nvSpPr>
        <p:spPr>
          <a:xfrm>
            <a:off x="749808" y="1572768"/>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Agent prompts, setup guide, walkthrough doc</a:t>
            </a:r>
            <a:endParaRPr lang="en-US" sz="1100" dirty="0"/>
          </a:p>
        </p:txBody>
      </p:sp>
      <p:pic>
        <p:nvPicPr>
          <p:cNvPr id="10" name="Image 1" descr="preencoded.png">    </p:cNvPr>
          <p:cNvPicPr>
            <a:picLocks noChangeAspect="1"/>
          </p:cNvPicPr>
          <p:nvPr/>
        </p:nvPicPr>
        <p:blipFill>
          <a:blip r:embed="rId2"/>
          <a:stretch>
            <a:fillRect/>
          </a:stretch>
        </p:blipFill>
        <p:spPr>
          <a:xfrm>
            <a:off x="256032" y="2121408"/>
            <a:ext cx="347472" cy="347472"/>
          </a:xfrm>
          <a:prstGeom prst="rect">
            <a:avLst/>
          </a:prstGeom>
        </p:spPr>
      </p:pic>
      <p:sp>
        <p:nvSpPr>
          <p:cNvPr id="11" name="Text 7"/>
          <p:cNvSpPr/>
          <p:nvPr/>
        </p:nvSpPr>
        <p:spPr>
          <a:xfrm>
            <a:off x="749808" y="2066544"/>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Feedback wanted</a:t>
            </a:r>
            <a:endParaRPr lang="en-US" sz="1500" dirty="0"/>
          </a:p>
        </p:txBody>
      </p:sp>
      <p:sp>
        <p:nvSpPr>
          <p:cNvPr id="12" name="Text 8"/>
          <p:cNvSpPr/>
          <p:nvPr/>
        </p:nvSpPr>
        <p:spPr>
          <a:xfrm>
            <a:off x="749808" y="2432304"/>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Which requirement types should we test next?</a:t>
            </a:r>
            <a:endParaRPr lang="en-US" sz="1100" dirty="0"/>
          </a:p>
        </p:txBody>
      </p:sp>
      <p:pic>
        <p:nvPicPr>
          <p:cNvPr id="13" name="Image 2" descr="preencoded.png">    </p:cNvPr>
          <p:cNvPicPr>
            <a:picLocks noChangeAspect="1"/>
          </p:cNvPicPr>
          <p:nvPr/>
        </p:nvPicPr>
        <p:blipFill>
          <a:blip r:embed="rId3"/>
          <a:stretch>
            <a:fillRect/>
          </a:stretch>
        </p:blipFill>
        <p:spPr>
          <a:xfrm>
            <a:off x="256032" y="2980944"/>
            <a:ext cx="347472" cy="347472"/>
          </a:xfrm>
          <a:prstGeom prst="rect">
            <a:avLst/>
          </a:prstGeom>
        </p:spPr>
      </p:pic>
      <p:sp>
        <p:nvSpPr>
          <p:cNvPr id="14" name="Text 9"/>
          <p:cNvSpPr/>
          <p:nvPr/>
        </p:nvSpPr>
        <p:spPr>
          <a:xfrm>
            <a:off x="749808" y="2926080"/>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Ideas for extensions?</a:t>
            </a:r>
            <a:endParaRPr lang="en-US" sz="1500" dirty="0"/>
          </a:p>
        </p:txBody>
      </p:sp>
      <p:sp>
        <p:nvSpPr>
          <p:cNvPr id="15" name="Text 10"/>
          <p:cNvSpPr/>
          <p:nvPr/>
        </p:nvSpPr>
        <p:spPr>
          <a:xfrm>
            <a:off x="749808" y="3291840"/>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Self-healing tests, req updates, CI integration</a:t>
            </a:r>
            <a:endParaRPr lang="en-US" sz="1100" dirty="0"/>
          </a:p>
        </p:txBody>
      </p:sp>
      <p:pic>
        <p:nvPicPr>
          <p:cNvPr id="16" name="Image 3" descr="preencoded.png">    </p:cNvPr>
          <p:cNvPicPr>
            <a:picLocks noChangeAspect="1"/>
          </p:cNvPicPr>
          <p:nvPr/>
        </p:nvPicPr>
        <p:blipFill>
          <a:blip r:embed="rId4"/>
          <a:stretch>
            <a:fillRect/>
          </a:stretch>
        </p:blipFill>
        <p:spPr>
          <a:xfrm>
            <a:off x="256032" y="3840480"/>
            <a:ext cx="347472" cy="347472"/>
          </a:xfrm>
          <a:prstGeom prst="rect">
            <a:avLst/>
          </a:prstGeom>
        </p:spPr>
      </p:pic>
      <p:sp>
        <p:nvSpPr>
          <p:cNvPr id="17" name="Text 11"/>
          <p:cNvSpPr/>
          <p:nvPr/>
        </p:nvSpPr>
        <p:spPr>
          <a:xfrm>
            <a:off x="749808" y="3785616"/>
            <a:ext cx="56692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Questions?</a:t>
            </a:r>
            <a:endParaRPr lang="en-US" sz="1500" dirty="0"/>
          </a:p>
        </p:txBody>
      </p:sp>
      <p:sp>
        <p:nvSpPr>
          <p:cNvPr id="18" name="Text 12"/>
          <p:cNvSpPr/>
          <p:nvPr/>
        </p:nvSpPr>
        <p:spPr>
          <a:xfrm>
            <a:off x="749808" y="4151376"/>
            <a:ext cx="566928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Happy to do a deeper session with your team</a:t>
            </a:r>
            <a:endParaRPr lang="en-US" sz="1100" dirty="0"/>
          </a:p>
        </p:txBody>
      </p:sp>
      <p:sp>
        <p:nvSpPr>
          <p:cNvPr id="19" name="Text 13"/>
          <p:cNvSpPr/>
          <p:nvPr/>
        </p:nvSpPr>
        <p:spPr>
          <a:xfrm>
            <a:off x="6858000" y="868680"/>
            <a:ext cx="21031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Resources</a:t>
            </a:r>
            <a:endParaRPr lang="en-US" sz="1500" dirty="0"/>
          </a:p>
        </p:txBody>
      </p:sp>
      <p:sp>
        <p:nvSpPr>
          <p:cNvPr id="20" name="Shape 14"/>
          <p:cNvSpPr/>
          <p:nvPr/>
        </p:nvSpPr>
        <p:spPr>
          <a:xfrm>
            <a:off x="6949440" y="1417320"/>
            <a:ext cx="1920240" cy="1920240"/>
          </a:xfrm>
          <a:prstGeom prst="rect">
            <a:avLst/>
          </a:prstGeom>
          <a:solidFill>
            <a:srgbClr val="0F2133"/>
          </a:solidFill>
          <a:ln w="25400">
            <a:solidFill>
              <a:srgbClr val="02C39A"/>
            </a:solidFill>
            <a:prstDash val="solid"/>
          </a:ln>
        </p:spPr>
      </p:sp>
      <p:sp>
        <p:nvSpPr>
          <p:cNvPr id="21" name="Text 15"/>
          <p:cNvSpPr/>
          <p:nvPr/>
        </p:nvSpPr>
        <p:spPr>
          <a:xfrm>
            <a:off x="6949440" y="1417320"/>
            <a:ext cx="1920240" cy="19202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 QR Code ]</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or link to</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Confluence / wiki</a:t>
            </a:r>
            <a:endParaRPr lang="en-US" sz="1100" dirty="0"/>
          </a:p>
        </p:txBody>
      </p:sp>
      <p:sp>
        <p:nvSpPr>
          <p:cNvPr id="22" name="Text 16"/>
          <p:cNvSpPr/>
          <p:nvPr/>
        </p:nvSpPr>
        <p:spPr>
          <a:xfrm>
            <a:off x="6858000" y="4160520"/>
            <a:ext cx="2103120" cy="502920"/>
          </a:xfrm>
          <a:prstGeom prst="rect">
            <a:avLst/>
          </a:prstGeom>
          <a:noFill/>
          <a:ln/>
        </p:spPr>
        <p:txBody>
          <a:bodyPr wrap="square" rtlCol="0" anchor="ctr"/>
          <a:lstStyle/>
          <a:p>
            <a:pPr algn="ctr" indent="0" marL="0">
              <a:buNone/>
            </a:pPr>
            <a:r>
              <a:rPr lang="en-US" sz="1600" b="1" dirty="0">
                <a:solidFill>
                  <a:srgbClr val="02C39A"/>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QA Orchestration with Polarion</dc:title>
  <dc:subject>PptxGenJS Presentation</dc:subject>
  <dc:creator>QA Engineering Team</dc:creator>
  <cp:lastModifiedBy>QA Engineering Team</cp:lastModifiedBy>
  <cp:revision>1</cp:revision>
  <dcterms:created xsi:type="dcterms:W3CDTF">2026-04-03T13:10:10Z</dcterms:created>
  <dcterms:modified xsi:type="dcterms:W3CDTF">2026-04-03T13:10:10Z</dcterms:modified>
</cp:coreProperties>
</file>