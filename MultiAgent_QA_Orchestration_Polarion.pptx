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 afternoon everyone.
Today I'm showing something I've built that's already saving me time on QA: a multi-agent system that reads Polarion requirements, generates test cases and risks, runs our automated tests, and closes the loop by updating test runs — all with one command in VS Code.
Let's see how it works and how it can help all of us.
[~20–30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all felt this. Turning a requirement into solid test cases takes hours. Risks get missed when we're busy. And after tests run, someone still has to create or update the test run in Polarion.
This process is exactly what I wanted to automate — while keeping everything traceable and secure inside our tools.
[~45–60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seen AI evolve quickly — from autocomplete, to chat, to single agents. I'm not waiting for the future — I'm already using multi-agent orchestration in VS Code with our polarion-cli to handle the full QA cycle.
The goal is simple: agents handle the repetitive loop so we can focus on judgment, edge cases, and business logic — the work only we can do.
[~40–50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stays inside our environment. Nothing new to procure.
Polarion is the source of truth for requirements, test cases and results. The CLI handles authentication and permissions safely — agents call the CLI to read and write in Polarion without ever exposing credentials directly.
VS Code is where the agents live. And our existing pytest suite does the actual test execution — nothing changed there.
[~50–60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key: instead of one big agent doing everything, we have specialized agents that hand off work.
The Orchestrator reads the requirement and creates the plan. The Test Designer produces structured test cases with preconditions. The Risk Analyst looks for edge cases and coverage gaps. The Test Executor triggers the suite and collects PASS/FAIL/SKIP results. The Polarion Updater closes the loop — creates the Test Run, links evidence, and adds comments.
They communicate clearly and use our polarion-cli for all Polarion interactions. This makes the process more reliable and much easier to debug when something goes wrong.
[~1.5–2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start with one natural language command in VS Code — just the requirement ID.
The agents take it from there and close the loop back in Polarion.
Input: a requirement ID — POL-XXXX.
Output: generated test cases + risks, Test Run created, tests executed, Polarion updated with results and evidence.
Time: minutes instead of hours — or days at peak sprint pressure.
[~45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START — approx 2 minutes]
I'm in VS Code on a [feature name or anonymized] branch. I type one command…
Watch the Orchestrator kick off — it connects to Polarion and pulls the requirement.
Here the Test Designer is pulling the requirement text and generating structured test cases with preconditions.
Risk Analyst identifies edge cases the Test Designer flagged.
Test Executor is now running the suite — you can watch the results stream in.
Keep the demo tight — focus on the magic of the handoffs between agents.
[~2 minutes — live or recorded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continues — approx 2 more minutes]
Now let me quickly switch over to show the actual Test Run in Polarion.
Here's the fresh Test Run — created moments ago, linked directly to our requirement.
You can see the test cases are linked, PASS/FAIL/SKIP statuses are already applied, and the logs are attached as evidence — all done automatically by the Polarion Updater.
Nothing was touched manually. The traceability chain is complete: requirement → test cases → test run → results → evidence. All in Polarion.
[~2 minutes — demo ends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Early runs show clear wins in speed and consistency.
Hours saved per feature — the exact number depends on complexity, but the difference is significant and immediate. 100% traceability in Polarion without anyone touching it manually. And the loop runs in minutes.
Most importantly: this frees us up for higher-value work. Engineers review the output, catch the business logic the agent missed, and focus on the complex cases that genuinely need human judgment.
And we built it entirely on tools we already own — no new vendor, no new procurement.
[~60–75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starting point — built on tools we already own.
I'd love to share the agent prompt templates, polarion-cli examples, and setup guide with anyone who wants to try it. Everything is documented and ready.
Most importantly: I want your feedback. Which requirement types should we throw at the agents next? What broke, what surprised you, what did the agents get wrong?
There are also some obvious extensions to explore — self-healing tests, automatic requirement updates, CI/CD integration. Happy to work on those together.
Thank you — happy to take any questions now, or set up a deeper session with your team.
[~60–90 seconds +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834640" cy="5143500"/>
          </a:xfrm>
          <a:prstGeom prst="rect">
            <a:avLst/>
          </a:prstGeom>
          <a:solidFill>
            <a:srgbClr val="065A82"/>
          </a:solidFill>
          <a:ln w="12700">
            <a:solidFill>
              <a:srgbClr val="065A82"/>
            </a:solidFill>
            <a:prstDash val="solid"/>
          </a:ln>
        </p:spPr>
      </p:sp>
      <p:sp>
        <p:nvSpPr>
          <p:cNvPr id="3" name="Shape 1"/>
          <p:cNvSpPr/>
          <p:nvPr/>
        </p:nvSpPr>
        <p:spPr>
          <a:xfrm>
            <a:off x="2834640" y="0"/>
            <a:ext cx="73152" cy="5143500"/>
          </a:xfrm>
          <a:prstGeom prst="rect">
            <a:avLst/>
          </a:prstGeom>
          <a:solidFill>
            <a:srgbClr val="02C39A"/>
          </a:solidFill>
          <a:ln w="12700">
            <a:solidFill>
              <a:srgbClr val="02C39A"/>
            </a:solidFill>
            <a:prstDash val="solid"/>
          </a:ln>
        </p:spPr>
      </p:sp>
      <p:sp>
        <p:nvSpPr>
          <p:cNvPr id="4" name="Text 2"/>
          <p:cNvSpPr/>
          <p:nvPr/>
        </p:nvSpPr>
        <p:spPr>
          <a:xfrm>
            <a:off x="228600" y="292608"/>
            <a:ext cx="2423160" cy="347472"/>
          </a:xfrm>
          <a:prstGeom prst="rect">
            <a:avLst/>
          </a:prstGeom>
          <a:noFill/>
          <a:ln/>
        </p:spPr>
        <p:txBody>
          <a:bodyPr wrap="square" rtlCol="0" anchor="ctr"/>
          <a:lstStyle/>
          <a:p>
            <a:pPr algn="l" indent="0" marL="0">
              <a:buNone/>
            </a:pPr>
            <a:r>
              <a:rPr lang="en-US" sz="1000" b="1" spc="300" kern="0" dirty="0">
                <a:solidFill>
                  <a:srgbClr val="02C39A"/>
                </a:solidFill>
                <a:latin typeface="Calibri" pitchFamily="34" charset="0"/>
                <a:ea typeface="Calibri" pitchFamily="34" charset="-122"/>
                <a:cs typeface="Calibri" pitchFamily="34" charset="-120"/>
              </a:rPr>
              <a:t>INTERNAL DEMO</a:t>
            </a:r>
            <a:endParaRPr lang="en-US" sz="1000" dirty="0"/>
          </a:p>
        </p:txBody>
      </p:sp>
      <p:sp>
        <p:nvSpPr>
          <p:cNvPr id="5" name="Text 3"/>
          <p:cNvSpPr/>
          <p:nvPr/>
        </p:nvSpPr>
        <p:spPr>
          <a:xfrm>
            <a:off x="228600" y="4434840"/>
            <a:ext cx="2423160" cy="548640"/>
          </a:xfrm>
          <a:prstGeom prst="rect">
            <a:avLst/>
          </a:prstGeom>
          <a:noFill/>
          <a:ln/>
        </p:spPr>
        <p:txBody>
          <a:bodyPr wrap="square" rtlCol="0" anchor="ctr"/>
          <a:lstStyle/>
          <a:p>
            <a:pPr algn="l" indent="0" marL="0">
              <a:buNone/>
            </a:pPr>
            <a:r>
              <a:rPr lang="en-US" sz="1100" dirty="0">
                <a:solidFill>
                  <a:srgbClr val="A8D8F0"/>
                </a:solidFill>
                <a:latin typeface="Calibri" pitchFamily="34" charset="0"/>
                <a:ea typeface="Calibri" pitchFamily="34" charset="-122"/>
                <a:cs typeface="Calibri" pitchFamily="34" charset="-120"/>
              </a:rPr>
              <a:t>QA Engineering Team</a:t>
            </a:r>
            <a:endParaRPr lang="en-US" sz="1100" dirty="0"/>
          </a:p>
          <a:p>
            <a:pPr algn="l" indent="0" marL="0">
              <a:buNone/>
            </a:pPr>
            <a:r>
              <a:rPr lang="en-US" sz="1100" dirty="0">
                <a:solidFill>
                  <a:srgbClr val="A8D8F0"/>
                </a:solidFill>
                <a:latin typeface="Calibri" pitchFamily="34" charset="0"/>
                <a:ea typeface="Calibri" pitchFamily="34" charset="-122"/>
                <a:cs typeface="Calibri" pitchFamily="34" charset="-120"/>
              </a:rPr>
              <a:t>2025</a:t>
            </a:r>
            <a:endParaRPr lang="en-US" sz="1100" dirty="0"/>
          </a:p>
        </p:txBody>
      </p:sp>
      <p:pic>
        <p:nvPicPr>
          <p:cNvPr id="6" name="Image 0" descr="preencoded.png">    </p:cNvPr>
          <p:cNvPicPr>
            <a:picLocks noChangeAspect="1"/>
          </p:cNvPicPr>
          <p:nvPr/>
        </p:nvPicPr>
        <p:blipFill>
          <a:blip r:embed="rId1">
            <a:alphaModFix amt="80000"/>
          </a:blip>
          <a:stretch>
            <a:fillRect/>
          </a:stretch>
        </p:blipFill>
        <p:spPr>
          <a:xfrm>
            <a:off x="960120" y="1371600"/>
            <a:ext cx="914400" cy="914400"/>
          </a:xfrm>
          <a:prstGeom prst="rect">
            <a:avLst/>
          </a:prstGeom>
        </p:spPr>
      </p:pic>
      <p:sp>
        <p:nvSpPr>
          <p:cNvPr id="7" name="Text 4"/>
          <p:cNvSpPr/>
          <p:nvPr/>
        </p:nvSpPr>
        <p:spPr>
          <a:xfrm>
            <a:off x="3154680" y="411480"/>
            <a:ext cx="5669280" cy="2468880"/>
          </a:xfrm>
          <a:prstGeom prst="rect">
            <a:avLst/>
          </a:prstGeom>
          <a:noFill/>
          <a:ln/>
        </p:spPr>
        <p:txBody>
          <a:bodyPr wrap="square" rtlCol="0" anchor="t"/>
          <a:lstStyle/>
          <a:p>
            <a:pPr algn="l" indent="0" marL="0">
              <a:buNone/>
            </a:pPr>
            <a:r>
              <a:rPr lang="en-US" sz="3600" b="1" dirty="0">
                <a:solidFill>
                  <a:srgbClr val="FFFFFF"/>
                </a:solidFill>
                <a:latin typeface="Calibri" pitchFamily="34" charset="0"/>
                <a:ea typeface="Calibri" pitchFamily="34" charset="-122"/>
                <a:cs typeface="Calibri" pitchFamily="34" charset="-120"/>
              </a:rPr>
              <a:t>Multi-Agent QA</a:t>
            </a:r>
            <a:endParaRPr lang="en-US" sz="3600" dirty="0"/>
          </a:p>
          <a:p>
            <a:pPr algn="l" indent="0" marL="0">
              <a:buNone/>
            </a:pPr>
            <a:r>
              <a:rPr lang="en-US" sz="3600" b="1" dirty="0">
                <a:solidFill>
                  <a:srgbClr val="FFFFFF"/>
                </a:solidFill>
                <a:latin typeface="Calibri" pitchFamily="34" charset="0"/>
                <a:ea typeface="Calibri" pitchFamily="34" charset="-122"/>
                <a:cs typeface="Calibri" pitchFamily="34" charset="-120"/>
              </a:rPr>
              <a:t>Orchestration</a:t>
            </a:r>
            <a:endParaRPr lang="en-US" sz="3600" dirty="0"/>
          </a:p>
          <a:p>
            <a:pPr algn="l" indent="0" marL="0">
              <a:buNone/>
            </a:pPr>
            <a:r>
              <a:rPr lang="en-US" sz="3600" b="1" dirty="0">
                <a:solidFill>
                  <a:srgbClr val="FFFFFF"/>
                </a:solidFill>
                <a:latin typeface="Calibri" pitchFamily="34" charset="0"/>
                <a:ea typeface="Calibri" pitchFamily="34" charset="-122"/>
                <a:cs typeface="Calibri" pitchFamily="34" charset="-120"/>
              </a:rPr>
              <a:t>with Polarion</a:t>
            </a:r>
            <a:endParaRPr lang="en-US" sz="3600" dirty="0"/>
          </a:p>
        </p:txBody>
      </p:sp>
      <p:sp>
        <p:nvSpPr>
          <p:cNvPr id="8" name="Text 5"/>
          <p:cNvSpPr/>
          <p:nvPr/>
        </p:nvSpPr>
        <p:spPr>
          <a:xfrm>
            <a:off x="3154680" y="2944368"/>
            <a:ext cx="5669280" cy="658368"/>
          </a:xfrm>
          <a:prstGeom prst="rect">
            <a:avLst/>
          </a:prstGeom>
          <a:noFill/>
          <a:ln/>
        </p:spPr>
        <p:txBody>
          <a:bodyPr wrap="square" rtlCol="0" anchor="ctr"/>
          <a:lstStyle/>
          <a:p>
            <a:pPr algn="l" indent="0" marL="0">
              <a:buNone/>
            </a:pPr>
            <a:r>
              <a:rPr lang="en-US" sz="1450" dirty="0">
                <a:solidFill>
                  <a:srgbClr val="A8D8F0"/>
                </a:solidFill>
                <a:latin typeface="Calibri" pitchFamily="34" charset="0"/>
                <a:ea typeface="Calibri" pitchFamily="34" charset="-122"/>
                <a:cs typeface="Calibri" pitchFamily="34" charset="-120"/>
              </a:rPr>
              <a:t>From Requirements to Automated Test Runs</a:t>
            </a:r>
            <a:endParaRPr lang="en-US" sz="1450" dirty="0"/>
          </a:p>
          <a:p>
            <a:pPr algn="l" indent="0" marL="0">
              <a:buNone/>
            </a:pPr>
            <a:r>
              <a:rPr lang="en-US" sz="1450" dirty="0">
                <a:solidFill>
                  <a:srgbClr val="A8D8F0"/>
                </a:solidFill>
                <a:latin typeface="Calibri" pitchFamily="34" charset="0"/>
                <a:ea typeface="Calibri" pitchFamily="34" charset="-122"/>
                <a:cs typeface="Calibri" pitchFamily="34" charset="-120"/>
              </a:rPr>
              <a:t>— Already Running in Our Team</a:t>
            </a:r>
            <a:endParaRPr lang="en-US" sz="1450" dirty="0"/>
          </a:p>
        </p:txBody>
      </p:sp>
      <p:sp>
        <p:nvSpPr>
          <p:cNvPr id="9" name="Text 6"/>
          <p:cNvSpPr/>
          <p:nvPr/>
        </p:nvSpPr>
        <p:spPr>
          <a:xfrm>
            <a:off x="3154680" y="3703320"/>
            <a:ext cx="5669280" cy="475488"/>
          </a:xfrm>
          <a:prstGeom prst="rect">
            <a:avLst/>
          </a:prstGeom>
          <a:noFill/>
          <a:ln/>
        </p:spPr>
        <p:txBody>
          <a:bodyPr wrap="square" rtlCol="0" anchor="ctr"/>
          <a:lstStyle/>
          <a:p>
            <a:pPr algn="l" indent="0" marL="0">
              <a:buNone/>
            </a:pPr>
            <a:r>
              <a:rPr lang="en-US" sz="1200" i="1" dirty="0">
                <a:solidFill>
                  <a:srgbClr val="02C39A"/>
                </a:solidFill>
                <a:latin typeface="Calibri" pitchFamily="34" charset="0"/>
                <a:ea typeface="Calibri" pitchFamily="34" charset="-122"/>
                <a:cs typeface="Calibri" pitchFamily="34" charset="-120"/>
              </a:rPr>
              <a:t>"Turning repetitive QA work into minutes instead of hours"</a:t>
            </a:r>
            <a:endParaRPr lang="en-US" sz="1200" dirty="0"/>
          </a:p>
        </p:txBody>
      </p:sp>
      <p:sp>
        <p:nvSpPr>
          <p:cNvPr id="10" name="Text 7"/>
          <p:cNvSpPr/>
          <p:nvPr/>
        </p:nvSpPr>
        <p:spPr>
          <a:xfrm>
            <a:off x="3154680" y="4663440"/>
            <a:ext cx="5669280" cy="320040"/>
          </a:xfrm>
          <a:prstGeom prst="rect">
            <a:avLst/>
          </a:prstGeom>
          <a:noFill/>
          <a:ln/>
        </p:spPr>
        <p:txBody>
          <a:bodyPr wrap="square" rtlCol="0" anchor="ctr"/>
          <a:lstStyle/>
          <a:p>
            <a:pPr algn="l" indent="0" marL="0">
              <a:buNone/>
            </a:pPr>
            <a:r>
              <a:rPr lang="en-US" sz="1000" dirty="0">
                <a:solidFill>
                  <a:srgbClr val="94A3B8"/>
                </a:solidFill>
                <a:latin typeface="Calibri" pitchFamily="34" charset="0"/>
                <a:ea typeface="Calibri" pitchFamily="34" charset="-122"/>
                <a:cs typeface="Calibri" pitchFamily="34" charset="-120"/>
              </a:rPr>
              <a:t>Your Name  ·  Internal Demo – March 2026  ·  VS Code Agents + polarion-cli</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0" y="0"/>
            <a:ext cx="91440" cy="5143500"/>
          </a:xfrm>
          <a:prstGeom prst="rect">
            <a:avLst/>
          </a:prstGeom>
          <a:solidFill>
            <a:srgbClr val="02C39A"/>
          </a:solidFill>
          <a:ln w="12700">
            <a:solidFill>
              <a:srgbClr val="02C39A"/>
            </a:solidFill>
            <a:prstDash val="solid"/>
          </a:ln>
        </p:spPr>
      </p:sp>
      <p:sp>
        <p:nvSpPr>
          <p:cNvPr id="3" name="Text 1"/>
          <p:cNvSpPr/>
          <p:nvPr/>
        </p:nvSpPr>
        <p:spPr>
          <a:xfrm>
            <a:off x="256032" y="164592"/>
            <a:ext cx="8595360" cy="502920"/>
          </a:xfrm>
          <a:prstGeom prst="rect">
            <a:avLst/>
          </a:prstGeom>
          <a:noFill/>
          <a:ln/>
        </p:spPr>
        <p:txBody>
          <a:bodyPr wrap="square" lIns="0" tIns="0" rIns="0" bIns="0" rtlCol="0" anchor="ctr"/>
          <a:lstStyle/>
          <a:p>
            <a:pPr indent="0" marL="0">
              <a:buNone/>
            </a:pPr>
            <a:r>
              <a:rPr lang="en-US" sz="2600" b="1" dirty="0">
                <a:solidFill>
                  <a:srgbClr val="1E293B"/>
                </a:solidFill>
                <a:latin typeface="Calibri" pitchFamily="34" charset="0"/>
                <a:ea typeface="Calibri" pitchFamily="34" charset="-122"/>
                <a:cs typeface="Calibri" pitchFamily="34" charset="-120"/>
              </a:rPr>
              <a:t>The QA Pain We All Know</a:t>
            </a:r>
            <a:endParaRPr lang="en-US" sz="2600" dirty="0"/>
          </a:p>
        </p:txBody>
      </p:sp>
      <p:sp>
        <p:nvSpPr>
          <p:cNvPr id="4" name="Shape 2"/>
          <p:cNvSpPr/>
          <p:nvPr/>
        </p:nvSpPr>
        <p:spPr>
          <a:xfrm>
            <a:off x="256032" y="731520"/>
            <a:ext cx="8595360" cy="27432"/>
          </a:xfrm>
          <a:prstGeom prst="rect">
            <a:avLst/>
          </a:prstGeom>
          <a:solidFill>
            <a:srgbClr val="E2E8F0"/>
          </a:solidFill>
          <a:ln w="12700">
            <a:solidFill>
              <a:srgbClr val="E2E8F0"/>
            </a:solidFill>
            <a:prstDash val="solid"/>
          </a:ln>
        </p:spPr>
      </p:sp>
      <p:sp>
        <p:nvSpPr>
          <p:cNvPr id="5" name="Shape 3"/>
          <p:cNvSpPr/>
          <p:nvPr/>
        </p:nvSpPr>
        <p:spPr>
          <a:xfrm>
            <a:off x="256032" y="960120"/>
            <a:ext cx="4251960" cy="1627632"/>
          </a:xfrm>
          <a:prstGeom prst="rect">
            <a:avLst/>
          </a:prstGeom>
          <a:solidFill>
            <a:srgbClr val="FFFFFF"/>
          </a:solidFill>
          <a:ln w="12700">
            <a:solidFill>
              <a:srgbClr val="E2E8F0"/>
            </a:solidFill>
            <a:prstDash val="solid"/>
          </a:ln>
          <a:effectLst>
            <a:outerShdw sx="100000" sy="100000" kx="0" ky="0" algn="bl" rotWithShape="0" blurRad="101600" dist="38100" dir="8100000">
              <a:srgbClr val="000000">
                <a:alpha val="12000"/>
              </a:srgbClr>
            </a:outerShdw>
          </a:effectLst>
        </p:spPr>
      </p:sp>
      <p:sp>
        <p:nvSpPr>
          <p:cNvPr id="6" name="Shape 4"/>
          <p:cNvSpPr/>
          <p:nvPr/>
        </p:nvSpPr>
        <p:spPr>
          <a:xfrm>
            <a:off x="420624" y="1490472"/>
            <a:ext cx="548640" cy="548640"/>
          </a:xfrm>
          <a:prstGeom prst="ellipse">
            <a:avLst/>
          </a:prstGeom>
          <a:solidFill>
            <a:srgbClr val="F5F8FA"/>
          </a:solidFill>
          <a:ln w="12700">
            <a:solidFill>
              <a:srgbClr val="E2E8F0"/>
            </a:solidFill>
            <a:prstDash val="solid"/>
          </a:ln>
        </p:spPr>
      </p:sp>
      <p:pic>
        <p:nvPicPr>
          <p:cNvPr id="7" name="Image 0" descr="preencoded.png">    </p:cNvPr>
          <p:cNvPicPr>
            <a:picLocks noChangeAspect="1"/>
          </p:cNvPicPr>
          <p:nvPr/>
        </p:nvPicPr>
        <p:blipFill>
          <a:blip r:embed="rId1"/>
          <a:stretch>
            <a:fillRect/>
          </a:stretch>
        </p:blipFill>
        <p:spPr>
          <a:xfrm>
            <a:off x="466344" y="1536192"/>
            <a:ext cx="457200" cy="457200"/>
          </a:xfrm>
          <a:prstGeom prst="rect">
            <a:avLst/>
          </a:prstGeom>
        </p:spPr>
      </p:pic>
      <p:sp>
        <p:nvSpPr>
          <p:cNvPr id="8" name="Text 5"/>
          <p:cNvSpPr/>
          <p:nvPr/>
        </p:nvSpPr>
        <p:spPr>
          <a:xfrm>
            <a:off x="1078992" y="1124712"/>
            <a:ext cx="3291840" cy="384048"/>
          </a:xfrm>
          <a:prstGeom prst="rect">
            <a:avLst/>
          </a:prstGeom>
          <a:noFill/>
          <a:ln/>
        </p:spPr>
        <p:txBody>
          <a:bodyPr wrap="square" lIns="0" tIns="0" rIns="0" bIns="0" rtlCol="0" anchor="ctr"/>
          <a:lstStyle/>
          <a:p>
            <a:pPr indent="0" marL="0">
              <a:buNone/>
            </a:pPr>
            <a:r>
              <a:rPr lang="en-US" sz="1400" b="1" dirty="0">
                <a:solidFill>
                  <a:srgbClr val="1E293B"/>
                </a:solidFill>
                <a:latin typeface="Calibri" pitchFamily="34" charset="0"/>
                <a:ea typeface="Calibri" pitchFamily="34" charset="-122"/>
                <a:cs typeface="Calibri" pitchFamily="34" charset="-120"/>
              </a:rPr>
              <a:t>Manual &amp; Time-Consuming</a:t>
            </a:r>
            <a:endParaRPr lang="en-US" sz="1400" dirty="0"/>
          </a:p>
        </p:txBody>
      </p:sp>
      <p:sp>
        <p:nvSpPr>
          <p:cNvPr id="9" name="Text 6"/>
          <p:cNvSpPr/>
          <p:nvPr/>
        </p:nvSpPr>
        <p:spPr>
          <a:xfrm>
            <a:off x="1078992" y="1554480"/>
            <a:ext cx="3291840" cy="822960"/>
          </a:xfrm>
          <a:prstGeom prst="rect">
            <a:avLst/>
          </a:prstGeom>
          <a:noFill/>
          <a:ln/>
        </p:spPr>
        <p:txBody>
          <a:bodyPr wrap="square" rtlCol="0" anchor="ctr"/>
          <a:lstStyle/>
          <a:p>
            <a:pPr indent="0" marL="0">
              <a:buNone/>
            </a:pPr>
            <a:r>
              <a:rPr lang="en-US" sz="1250" dirty="0">
                <a:solidFill>
                  <a:srgbClr val="4A5568"/>
                </a:solidFill>
                <a:latin typeface="Calibri" pitchFamily="34" charset="0"/>
                <a:ea typeface="Calibri" pitchFamily="34" charset="-122"/>
                <a:cs typeface="Calibri" pitchFamily="34" charset="-120"/>
              </a:rPr>
              <a:t>Test case creation:</a:t>
            </a:r>
            <a:endParaRPr lang="en-US" sz="1250" dirty="0"/>
          </a:p>
          <a:p>
            <a:pPr indent="0" marL="0">
              <a:buNone/>
            </a:pPr>
            <a:r>
              <a:rPr lang="en-US" sz="1250" dirty="0">
                <a:solidFill>
                  <a:srgbClr val="4A5568"/>
                </a:solidFill>
                <a:latin typeface="Calibri" pitchFamily="34" charset="0"/>
                <a:ea typeface="Calibri" pitchFamily="34" charset="-122"/>
                <a:cs typeface="Calibri" pitchFamily="34" charset="-120"/>
              </a:rPr>
              <a:t>hours per requirement</a:t>
            </a:r>
            <a:endParaRPr lang="en-US" sz="1250" dirty="0"/>
          </a:p>
        </p:txBody>
      </p:sp>
      <p:sp>
        <p:nvSpPr>
          <p:cNvPr id="10" name="Shape 7"/>
          <p:cNvSpPr/>
          <p:nvPr/>
        </p:nvSpPr>
        <p:spPr>
          <a:xfrm>
            <a:off x="4709160" y="960120"/>
            <a:ext cx="4251960" cy="1627632"/>
          </a:xfrm>
          <a:prstGeom prst="rect">
            <a:avLst/>
          </a:prstGeom>
          <a:solidFill>
            <a:srgbClr val="FFFFFF"/>
          </a:solidFill>
          <a:ln w="12700">
            <a:solidFill>
              <a:srgbClr val="E2E8F0"/>
            </a:solidFill>
            <a:prstDash val="solid"/>
          </a:ln>
          <a:effectLst>
            <a:outerShdw sx="100000" sy="100000" kx="0" ky="0" algn="bl" rotWithShape="0" blurRad="101600" dist="38100" dir="8100000">
              <a:srgbClr val="000000">
                <a:alpha val="12000"/>
              </a:srgbClr>
            </a:outerShdw>
          </a:effectLst>
        </p:spPr>
      </p:sp>
      <p:sp>
        <p:nvSpPr>
          <p:cNvPr id="11" name="Shape 8"/>
          <p:cNvSpPr/>
          <p:nvPr/>
        </p:nvSpPr>
        <p:spPr>
          <a:xfrm>
            <a:off x="4873752" y="1490472"/>
            <a:ext cx="548640" cy="548640"/>
          </a:xfrm>
          <a:prstGeom prst="ellipse">
            <a:avLst/>
          </a:prstGeom>
          <a:solidFill>
            <a:srgbClr val="F5F8FA"/>
          </a:solidFill>
          <a:ln w="12700">
            <a:solidFill>
              <a:srgbClr val="E2E8F0"/>
            </a:solidFill>
            <a:prstDash val="solid"/>
          </a:ln>
        </p:spPr>
      </p:sp>
      <p:pic>
        <p:nvPicPr>
          <p:cNvPr id="12" name="Image 1" descr="preencoded.png">    </p:cNvPr>
          <p:cNvPicPr>
            <a:picLocks noChangeAspect="1"/>
          </p:cNvPicPr>
          <p:nvPr/>
        </p:nvPicPr>
        <p:blipFill>
          <a:blip r:embed="rId2"/>
          <a:stretch>
            <a:fillRect/>
          </a:stretch>
        </p:blipFill>
        <p:spPr>
          <a:xfrm>
            <a:off x="4919472" y="1536192"/>
            <a:ext cx="457200" cy="457200"/>
          </a:xfrm>
          <a:prstGeom prst="rect">
            <a:avLst/>
          </a:prstGeom>
        </p:spPr>
      </p:pic>
      <p:sp>
        <p:nvSpPr>
          <p:cNvPr id="13" name="Text 9"/>
          <p:cNvSpPr/>
          <p:nvPr/>
        </p:nvSpPr>
        <p:spPr>
          <a:xfrm>
            <a:off x="5532120" y="1124712"/>
            <a:ext cx="3291840" cy="384048"/>
          </a:xfrm>
          <a:prstGeom prst="rect">
            <a:avLst/>
          </a:prstGeom>
          <a:noFill/>
          <a:ln/>
        </p:spPr>
        <p:txBody>
          <a:bodyPr wrap="square" lIns="0" tIns="0" rIns="0" bIns="0" rtlCol="0" anchor="ctr"/>
          <a:lstStyle/>
          <a:p>
            <a:pPr indent="0" marL="0">
              <a:buNone/>
            </a:pPr>
            <a:r>
              <a:rPr lang="en-US" sz="1400" b="1" dirty="0">
                <a:solidFill>
                  <a:srgbClr val="1E293B"/>
                </a:solidFill>
                <a:latin typeface="Calibri" pitchFamily="34" charset="0"/>
                <a:ea typeface="Calibri" pitchFamily="34" charset="-122"/>
                <a:cs typeface="Calibri" pitchFamily="34" charset="-120"/>
              </a:rPr>
              <a:t>Inconsistent Risk ID</a:t>
            </a:r>
            <a:endParaRPr lang="en-US" sz="1400" dirty="0"/>
          </a:p>
        </p:txBody>
      </p:sp>
      <p:sp>
        <p:nvSpPr>
          <p:cNvPr id="14" name="Text 10"/>
          <p:cNvSpPr/>
          <p:nvPr/>
        </p:nvSpPr>
        <p:spPr>
          <a:xfrm>
            <a:off x="5532120" y="1554480"/>
            <a:ext cx="3291840" cy="822960"/>
          </a:xfrm>
          <a:prstGeom prst="rect">
            <a:avLst/>
          </a:prstGeom>
          <a:noFill/>
          <a:ln/>
        </p:spPr>
        <p:txBody>
          <a:bodyPr wrap="square" rtlCol="0" anchor="ctr"/>
          <a:lstStyle/>
          <a:p>
            <a:pPr indent="0" marL="0">
              <a:buNone/>
            </a:pPr>
            <a:r>
              <a:rPr lang="en-US" sz="1250" dirty="0">
                <a:solidFill>
                  <a:srgbClr val="4A5568"/>
                </a:solidFill>
                <a:latin typeface="Calibri" pitchFamily="34" charset="0"/>
                <a:ea typeface="Calibri" pitchFamily="34" charset="-122"/>
                <a:cs typeface="Calibri" pitchFamily="34" charset="-120"/>
              </a:rPr>
              <a:t>Risks missed when</a:t>
            </a:r>
            <a:endParaRPr lang="en-US" sz="1250" dirty="0"/>
          </a:p>
          <a:p>
            <a:pPr indent="0" marL="0">
              <a:buNone/>
            </a:pPr>
            <a:r>
              <a:rPr lang="en-US" sz="1250" dirty="0">
                <a:solidFill>
                  <a:srgbClr val="4A5568"/>
                </a:solidFill>
                <a:latin typeface="Calibri" pitchFamily="34" charset="0"/>
                <a:ea typeface="Calibri" pitchFamily="34" charset="-122"/>
                <a:cs typeface="Calibri" pitchFamily="34" charset="-120"/>
              </a:rPr>
              <a:t>team is under pressure</a:t>
            </a:r>
            <a:endParaRPr lang="en-US" sz="1250" dirty="0"/>
          </a:p>
        </p:txBody>
      </p:sp>
      <p:sp>
        <p:nvSpPr>
          <p:cNvPr id="15" name="Shape 11"/>
          <p:cNvSpPr/>
          <p:nvPr/>
        </p:nvSpPr>
        <p:spPr>
          <a:xfrm>
            <a:off x="256032" y="2788920"/>
            <a:ext cx="4251960" cy="1627632"/>
          </a:xfrm>
          <a:prstGeom prst="rect">
            <a:avLst/>
          </a:prstGeom>
          <a:solidFill>
            <a:srgbClr val="FFFFFF"/>
          </a:solidFill>
          <a:ln w="12700">
            <a:solidFill>
              <a:srgbClr val="E2E8F0"/>
            </a:solidFill>
            <a:prstDash val="solid"/>
          </a:ln>
          <a:effectLst>
            <a:outerShdw sx="100000" sy="100000" kx="0" ky="0" algn="bl" rotWithShape="0" blurRad="101600" dist="38100" dir="8100000">
              <a:srgbClr val="000000">
                <a:alpha val="12000"/>
              </a:srgbClr>
            </a:outerShdw>
          </a:effectLst>
        </p:spPr>
      </p:sp>
      <p:sp>
        <p:nvSpPr>
          <p:cNvPr id="16" name="Shape 12"/>
          <p:cNvSpPr/>
          <p:nvPr/>
        </p:nvSpPr>
        <p:spPr>
          <a:xfrm>
            <a:off x="420624" y="3319272"/>
            <a:ext cx="548640" cy="548640"/>
          </a:xfrm>
          <a:prstGeom prst="ellipse">
            <a:avLst/>
          </a:prstGeom>
          <a:solidFill>
            <a:srgbClr val="F5F8FA"/>
          </a:solidFill>
          <a:ln w="12700">
            <a:solidFill>
              <a:srgbClr val="E2E8F0"/>
            </a:solidFill>
            <a:prstDash val="solid"/>
          </a:ln>
        </p:spPr>
      </p:sp>
      <p:pic>
        <p:nvPicPr>
          <p:cNvPr id="17" name="Image 2" descr="preencoded.png">    </p:cNvPr>
          <p:cNvPicPr>
            <a:picLocks noChangeAspect="1"/>
          </p:cNvPicPr>
          <p:nvPr/>
        </p:nvPicPr>
        <p:blipFill>
          <a:blip r:embed="rId3"/>
          <a:stretch>
            <a:fillRect/>
          </a:stretch>
        </p:blipFill>
        <p:spPr>
          <a:xfrm>
            <a:off x="466344" y="3364992"/>
            <a:ext cx="457200" cy="457200"/>
          </a:xfrm>
          <a:prstGeom prst="rect">
            <a:avLst/>
          </a:prstGeom>
        </p:spPr>
      </p:pic>
      <p:sp>
        <p:nvSpPr>
          <p:cNvPr id="18" name="Text 13"/>
          <p:cNvSpPr/>
          <p:nvPr/>
        </p:nvSpPr>
        <p:spPr>
          <a:xfrm>
            <a:off x="1078992" y="2953512"/>
            <a:ext cx="3291840" cy="384048"/>
          </a:xfrm>
          <a:prstGeom prst="rect">
            <a:avLst/>
          </a:prstGeom>
          <a:noFill/>
          <a:ln/>
        </p:spPr>
        <p:txBody>
          <a:bodyPr wrap="square" lIns="0" tIns="0" rIns="0" bIns="0" rtlCol="0" anchor="ctr"/>
          <a:lstStyle/>
          <a:p>
            <a:pPr indent="0" marL="0">
              <a:buNone/>
            </a:pPr>
            <a:r>
              <a:rPr lang="en-US" sz="1400" b="1" dirty="0">
                <a:solidFill>
                  <a:srgbClr val="1E293B"/>
                </a:solidFill>
                <a:latin typeface="Calibri" pitchFamily="34" charset="0"/>
                <a:ea typeface="Calibri" pitchFamily="34" charset="-122"/>
                <a:cs typeface="Calibri" pitchFamily="34" charset="-120"/>
              </a:rPr>
              <a:t>Traceability Gaps</a:t>
            </a:r>
            <a:endParaRPr lang="en-US" sz="1400" dirty="0"/>
          </a:p>
        </p:txBody>
      </p:sp>
      <p:sp>
        <p:nvSpPr>
          <p:cNvPr id="19" name="Text 14"/>
          <p:cNvSpPr/>
          <p:nvPr/>
        </p:nvSpPr>
        <p:spPr>
          <a:xfrm>
            <a:off x="1078992" y="3383280"/>
            <a:ext cx="3291840" cy="822960"/>
          </a:xfrm>
          <a:prstGeom prst="rect">
            <a:avLst/>
          </a:prstGeom>
          <a:noFill/>
          <a:ln/>
        </p:spPr>
        <p:txBody>
          <a:bodyPr wrap="square" rtlCol="0" anchor="ctr"/>
          <a:lstStyle/>
          <a:p>
            <a:pPr indent="0" marL="0">
              <a:buNone/>
            </a:pPr>
            <a:r>
              <a:rPr lang="en-US" sz="1250" dirty="0">
                <a:solidFill>
                  <a:srgbClr val="4A5568"/>
                </a:solidFill>
                <a:latin typeface="Calibri" pitchFamily="34" charset="0"/>
                <a:ea typeface="Calibri" pitchFamily="34" charset="-122"/>
                <a:cs typeface="Calibri" pitchFamily="34" charset="-120"/>
              </a:rPr>
              <a:t>Reqs, tests &amp; results</a:t>
            </a:r>
            <a:endParaRPr lang="en-US" sz="1250" dirty="0"/>
          </a:p>
          <a:p>
            <a:pPr indent="0" marL="0">
              <a:buNone/>
            </a:pPr>
            <a:r>
              <a:rPr lang="en-US" sz="1250" dirty="0">
                <a:solidFill>
                  <a:srgbClr val="4A5568"/>
                </a:solidFill>
                <a:latin typeface="Calibri" pitchFamily="34" charset="0"/>
                <a:ea typeface="Calibri" pitchFamily="34" charset="-122"/>
                <a:cs typeface="Calibri" pitchFamily="34" charset="-120"/>
              </a:rPr>
              <a:t>often drift apart</a:t>
            </a:r>
            <a:endParaRPr lang="en-US" sz="1250" dirty="0"/>
          </a:p>
        </p:txBody>
      </p:sp>
      <p:sp>
        <p:nvSpPr>
          <p:cNvPr id="20" name="Shape 15"/>
          <p:cNvSpPr/>
          <p:nvPr/>
        </p:nvSpPr>
        <p:spPr>
          <a:xfrm>
            <a:off x="4709160" y="2788920"/>
            <a:ext cx="4251960" cy="1627632"/>
          </a:xfrm>
          <a:prstGeom prst="rect">
            <a:avLst/>
          </a:prstGeom>
          <a:solidFill>
            <a:srgbClr val="FFFFFF"/>
          </a:solidFill>
          <a:ln w="12700">
            <a:solidFill>
              <a:srgbClr val="E2E8F0"/>
            </a:solidFill>
            <a:prstDash val="solid"/>
          </a:ln>
          <a:effectLst>
            <a:outerShdw sx="100000" sy="100000" kx="0" ky="0" algn="bl" rotWithShape="0" blurRad="101600" dist="38100" dir="8100000">
              <a:srgbClr val="000000">
                <a:alpha val="12000"/>
              </a:srgbClr>
            </a:outerShdw>
          </a:effectLst>
        </p:spPr>
      </p:sp>
      <p:sp>
        <p:nvSpPr>
          <p:cNvPr id="21" name="Shape 16"/>
          <p:cNvSpPr/>
          <p:nvPr/>
        </p:nvSpPr>
        <p:spPr>
          <a:xfrm>
            <a:off x="4873752" y="3319272"/>
            <a:ext cx="548640" cy="548640"/>
          </a:xfrm>
          <a:prstGeom prst="ellipse">
            <a:avLst/>
          </a:prstGeom>
          <a:solidFill>
            <a:srgbClr val="F5F8FA"/>
          </a:solidFill>
          <a:ln w="12700">
            <a:solidFill>
              <a:srgbClr val="E2E8F0"/>
            </a:solidFill>
            <a:prstDash val="solid"/>
          </a:ln>
        </p:spPr>
      </p:sp>
      <p:pic>
        <p:nvPicPr>
          <p:cNvPr id="22" name="Image 3" descr="preencoded.png">    </p:cNvPr>
          <p:cNvPicPr>
            <a:picLocks noChangeAspect="1"/>
          </p:cNvPicPr>
          <p:nvPr/>
        </p:nvPicPr>
        <p:blipFill>
          <a:blip r:embed="rId4"/>
          <a:stretch>
            <a:fillRect/>
          </a:stretch>
        </p:blipFill>
        <p:spPr>
          <a:xfrm>
            <a:off x="4919472" y="3364992"/>
            <a:ext cx="457200" cy="457200"/>
          </a:xfrm>
          <a:prstGeom prst="rect">
            <a:avLst/>
          </a:prstGeom>
        </p:spPr>
      </p:pic>
      <p:sp>
        <p:nvSpPr>
          <p:cNvPr id="23" name="Text 17"/>
          <p:cNvSpPr/>
          <p:nvPr/>
        </p:nvSpPr>
        <p:spPr>
          <a:xfrm>
            <a:off x="5532120" y="2953512"/>
            <a:ext cx="3291840" cy="384048"/>
          </a:xfrm>
          <a:prstGeom prst="rect">
            <a:avLst/>
          </a:prstGeom>
          <a:noFill/>
          <a:ln/>
        </p:spPr>
        <p:txBody>
          <a:bodyPr wrap="square" lIns="0" tIns="0" rIns="0" bIns="0" rtlCol="0" anchor="ctr"/>
          <a:lstStyle/>
          <a:p>
            <a:pPr indent="0" marL="0">
              <a:buNone/>
            </a:pPr>
            <a:r>
              <a:rPr lang="en-US" sz="1400" b="1" dirty="0">
                <a:solidFill>
                  <a:srgbClr val="1E293B"/>
                </a:solidFill>
                <a:latin typeface="Calibri" pitchFamily="34" charset="0"/>
                <a:ea typeface="Calibri" pitchFamily="34" charset="-122"/>
                <a:cs typeface="Calibri" pitchFamily="34" charset="-120"/>
              </a:rPr>
              <a:t>Manual Test Run Updates</a:t>
            </a:r>
            <a:endParaRPr lang="en-US" sz="1400" dirty="0"/>
          </a:p>
        </p:txBody>
      </p:sp>
      <p:sp>
        <p:nvSpPr>
          <p:cNvPr id="24" name="Text 18"/>
          <p:cNvSpPr/>
          <p:nvPr/>
        </p:nvSpPr>
        <p:spPr>
          <a:xfrm>
            <a:off x="5532120" y="3383280"/>
            <a:ext cx="3291840" cy="822960"/>
          </a:xfrm>
          <a:prstGeom prst="rect">
            <a:avLst/>
          </a:prstGeom>
          <a:noFill/>
          <a:ln/>
        </p:spPr>
        <p:txBody>
          <a:bodyPr wrap="square" rtlCol="0" anchor="ctr"/>
          <a:lstStyle/>
          <a:p>
            <a:pPr indent="0" marL="0">
              <a:buNone/>
            </a:pPr>
            <a:r>
              <a:rPr lang="en-US" sz="1250" dirty="0">
                <a:solidFill>
                  <a:srgbClr val="4A5568"/>
                </a:solidFill>
                <a:latin typeface="Calibri" pitchFamily="34" charset="0"/>
                <a:ea typeface="Calibri" pitchFamily="34" charset="-122"/>
                <a:cs typeface="Calibri" pitchFamily="34" charset="-120"/>
              </a:rPr>
              <a:t>Someone still updates</a:t>
            </a:r>
            <a:endParaRPr lang="en-US" sz="1250" dirty="0"/>
          </a:p>
          <a:p>
            <a:pPr indent="0" marL="0">
              <a:buNone/>
            </a:pPr>
            <a:r>
              <a:rPr lang="en-US" sz="1250" dirty="0">
                <a:solidFill>
                  <a:srgbClr val="4A5568"/>
                </a:solidFill>
                <a:latin typeface="Calibri" pitchFamily="34" charset="0"/>
                <a:ea typeface="Calibri" pitchFamily="34" charset="-122"/>
                <a:cs typeface="Calibri" pitchFamily="34" charset="-120"/>
              </a:rPr>
              <a:t>Polarion after each run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0" y="0"/>
            <a:ext cx="91440" cy="5143500"/>
          </a:xfrm>
          <a:prstGeom prst="rect">
            <a:avLst/>
          </a:prstGeom>
          <a:solidFill>
            <a:srgbClr val="02C39A"/>
          </a:solidFill>
          <a:ln w="12700">
            <a:solidFill>
              <a:srgbClr val="02C39A"/>
            </a:solidFill>
            <a:prstDash val="solid"/>
          </a:ln>
        </p:spPr>
      </p:sp>
      <p:sp>
        <p:nvSpPr>
          <p:cNvPr id="3" name="Text 1"/>
          <p:cNvSpPr/>
          <p:nvPr/>
        </p:nvSpPr>
        <p:spPr>
          <a:xfrm>
            <a:off x="256032" y="164592"/>
            <a:ext cx="8595360" cy="502920"/>
          </a:xfrm>
          <a:prstGeom prst="rect">
            <a:avLst/>
          </a:prstGeom>
          <a:noFill/>
          <a:ln/>
        </p:spPr>
        <p:txBody>
          <a:bodyPr wrap="square" lIns="0" tIns="0" rIns="0" bIns="0" rtlCol="0" anchor="ctr"/>
          <a:lstStyle/>
          <a:p>
            <a:pPr indent="0" marL="0">
              <a:buNone/>
            </a:pPr>
            <a:r>
              <a:rPr lang="en-US" sz="2600" b="1" dirty="0">
                <a:solidFill>
                  <a:srgbClr val="1E293B"/>
                </a:solidFill>
                <a:latin typeface="Calibri" pitchFamily="34" charset="0"/>
                <a:ea typeface="Calibri" pitchFamily="34" charset="-122"/>
                <a:cs typeface="Calibri" pitchFamily="34" charset="-120"/>
              </a:rPr>
              <a:t>Where We Are in AI-Assisted Development</a:t>
            </a:r>
            <a:endParaRPr lang="en-US" sz="2600" dirty="0"/>
          </a:p>
        </p:txBody>
      </p:sp>
      <p:sp>
        <p:nvSpPr>
          <p:cNvPr id="4" name="Shape 2"/>
          <p:cNvSpPr/>
          <p:nvPr/>
        </p:nvSpPr>
        <p:spPr>
          <a:xfrm>
            <a:off x="256032" y="731520"/>
            <a:ext cx="8595360" cy="27432"/>
          </a:xfrm>
          <a:prstGeom prst="rect">
            <a:avLst/>
          </a:prstGeom>
          <a:solidFill>
            <a:srgbClr val="E2E8F0"/>
          </a:solidFill>
          <a:ln w="12700">
            <a:solidFill>
              <a:srgbClr val="E2E8F0"/>
            </a:solidFill>
            <a:prstDash val="solid"/>
          </a:ln>
        </p:spPr>
      </p:sp>
      <p:sp>
        <p:nvSpPr>
          <p:cNvPr id="5" name="Shape 3"/>
          <p:cNvSpPr/>
          <p:nvPr/>
        </p:nvSpPr>
        <p:spPr>
          <a:xfrm>
            <a:off x="256032" y="960120"/>
            <a:ext cx="3794760" cy="3657600"/>
          </a:xfrm>
          <a:prstGeom prst="rect">
            <a:avLst/>
          </a:prstGeom>
          <a:solidFill>
            <a:srgbClr val="FEF2F2"/>
          </a:solidFill>
          <a:ln w="12700">
            <a:solidFill>
              <a:srgbClr val="FECACA"/>
            </a:solidFill>
            <a:prstDash val="solid"/>
          </a:ln>
        </p:spPr>
      </p:sp>
      <p:sp>
        <p:nvSpPr>
          <p:cNvPr id="6" name="Text 4"/>
          <p:cNvSpPr/>
          <p:nvPr/>
        </p:nvSpPr>
        <p:spPr>
          <a:xfrm>
            <a:off x="256032" y="1005840"/>
            <a:ext cx="3794760" cy="384048"/>
          </a:xfrm>
          <a:prstGeom prst="rect">
            <a:avLst/>
          </a:prstGeom>
          <a:noFill/>
          <a:ln/>
        </p:spPr>
        <p:txBody>
          <a:bodyPr wrap="square" rtlCol="0" anchor="ctr"/>
          <a:lstStyle/>
          <a:p>
            <a:pPr algn="ctr" indent="0" marL="0">
              <a:buNone/>
            </a:pPr>
            <a:r>
              <a:rPr lang="en-US" sz="1200" b="1" spc="200" kern="0" dirty="0">
                <a:solidFill>
                  <a:srgbClr val="E53E3E"/>
                </a:solidFill>
                <a:latin typeface="Calibri" pitchFamily="34" charset="0"/>
                <a:ea typeface="Calibri" pitchFamily="34" charset="-122"/>
                <a:cs typeface="Calibri" pitchFamily="34" charset="-120"/>
              </a:rPr>
              <a:t>BEFORE</a:t>
            </a:r>
            <a:endParaRPr lang="en-US" sz="1200" dirty="0"/>
          </a:p>
        </p:txBody>
      </p:sp>
      <p:sp>
        <p:nvSpPr>
          <p:cNvPr id="7" name="Text 5"/>
          <p:cNvSpPr/>
          <p:nvPr/>
        </p:nvSpPr>
        <p:spPr>
          <a:xfrm>
            <a:off x="438912" y="1463040"/>
            <a:ext cx="3429000" cy="2834640"/>
          </a:xfrm>
          <a:prstGeom prst="rect">
            <a:avLst/>
          </a:prstGeom>
          <a:noFill/>
          <a:ln/>
        </p:spPr>
        <p:txBody>
          <a:bodyPr wrap="square" rtlCol="0" anchor="ctr"/>
          <a:lstStyle/>
          <a:p>
            <a:pPr marL="342900" indent="-342900">
              <a:buSzPct val="100000"/>
              <a:buChar char="•"/>
            </a:pPr>
            <a:r>
              <a:rPr lang="en-US" sz="1300" dirty="0">
                <a:solidFill>
                  <a:srgbClr val="1E293B"/>
                </a:solidFill>
                <a:latin typeface="Calibri" pitchFamily="34" charset="0"/>
                <a:ea typeface="Calibri" pitchFamily="34" charset="-122"/>
                <a:cs typeface="Calibri" pitchFamily="34" charset="-120"/>
              </a:rPr>
              <a:t>Code completion only</a:t>
            </a:r>
            <a:endParaRPr lang="en-US" sz="1300" dirty="0"/>
          </a:p>
          <a:p>
            <a:pPr marL="342900" indent="-342900">
              <a:buSzPct val="100000"/>
              <a:buChar char="•"/>
            </a:pPr>
            <a:r>
              <a:rPr lang="en-US" sz="1300" dirty="0">
                <a:solidFill>
                  <a:srgbClr val="1E293B"/>
                </a:solidFill>
                <a:latin typeface="Calibri" pitchFamily="34" charset="0"/>
                <a:ea typeface="Calibri" pitchFamily="34" charset="-122"/>
                <a:cs typeface="Calibri" pitchFamily="34" charset="-120"/>
              </a:rPr>
              <a:t>Chat-based generation</a:t>
            </a:r>
            <a:endParaRPr lang="en-US" sz="1300" dirty="0"/>
          </a:p>
          <a:p>
            <a:pPr marL="342900" indent="-342900">
              <a:buSzPct val="100000"/>
              <a:buChar char="•"/>
            </a:pPr>
            <a:r>
              <a:rPr lang="en-US" sz="1300" dirty="0">
                <a:solidFill>
                  <a:srgbClr val="1E293B"/>
                </a:solidFill>
                <a:latin typeface="Calibri" pitchFamily="34" charset="0"/>
                <a:ea typeface="Calibri" pitchFamily="34" charset="-122"/>
                <a:cs typeface="Calibri" pitchFamily="34" charset="-120"/>
              </a:rPr>
              <a:t>Single agent tasks</a:t>
            </a:r>
            <a:endParaRPr lang="en-US" sz="1300" dirty="0"/>
          </a:p>
          <a:p>
            <a:pPr marL="342900" indent="-342900">
              <a:buSzPct val="100000"/>
              <a:buChar char="•"/>
            </a:pPr>
            <a:r>
              <a:rPr lang="en-US" sz="1300" dirty="0">
                <a:solidFill>
                  <a:srgbClr val="1E293B"/>
                </a:solidFill>
                <a:latin typeface="Calibri" pitchFamily="34" charset="0"/>
                <a:ea typeface="Calibri" pitchFamily="34" charset="-122"/>
                <a:cs typeface="Calibri" pitchFamily="34" charset="-120"/>
              </a:rPr>
              <a:t>Repetitive manual loop</a:t>
            </a:r>
            <a:endParaRPr lang="en-US" sz="1300" dirty="0"/>
          </a:p>
          <a:p>
            <a:pPr marL="342900" indent="-342900">
              <a:buSzPct val="100000"/>
              <a:buChar char="•"/>
            </a:pPr>
            <a:r>
              <a:rPr lang="en-US" sz="1300" dirty="0">
                <a:solidFill>
                  <a:srgbClr val="1E293B"/>
                </a:solidFill>
                <a:latin typeface="Calibri" pitchFamily="34" charset="0"/>
                <a:ea typeface="Calibri" pitchFamily="34" charset="-122"/>
                <a:cs typeface="Calibri" pitchFamily="34" charset="-120"/>
              </a:rPr>
              <a:t>QA as bottleneck</a:t>
            </a:r>
            <a:endParaRPr lang="en-US" sz="1300" dirty="0"/>
          </a:p>
          <a:p>
            <a:pPr marL="342900" indent="-342900">
              <a:buSzPct val="100000"/>
              <a:buChar char="•"/>
            </a:pPr>
            <a:r>
              <a:rPr lang="en-US" sz="1300" dirty="0">
                <a:solidFill>
                  <a:srgbClr val="1E293B"/>
                </a:solidFill>
                <a:latin typeface="Calibri" pitchFamily="34" charset="0"/>
                <a:ea typeface="Calibri" pitchFamily="34" charset="-122"/>
                <a:cs typeface="Calibri" pitchFamily="34" charset="-120"/>
              </a:rPr>
              <a:t>Polarion updated last</a:t>
            </a:r>
            <a:endParaRPr lang="en-US" sz="1300" dirty="0"/>
          </a:p>
        </p:txBody>
      </p:sp>
      <p:sp>
        <p:nvSpPr>
          <p:cNvPr id="8" name="Text 6"/>
          <p:cNvSpPr/>
          <p:nvPr/>
        </p:nvSpPr>
        <p:spPr>
          <a:xfrm>
            <a:off x="4160520" y="2514600"/>
            <a:ext cx="822960" cy="685800"/>
          </a:xfrm>
          <a:prstGeom prst="rect">
            <a:avLst/>
          </a:prstGeom>
          <a:noFill/>
          <a:ln/>
        </p:spPr>
        <p:txBody>
          <a:bodyPr wrap="square" rtlCol="0" anchor="ctr"/>
          <a:lstStyle/>
          <a:p>
            <a:pPr algn="ctr" indent="0" marL="0">
              <a:buNone/>
            </a:pPr>
            <a:r>
              <a:rPr lang="en-US" sz="3800" b="1" dirty="0">
                <a:solidFill>
                  <a:srgbClr val="02C39A"/>
                </a:solidFill>
                <a:latin typeface="Calibri" pitchFamily="34" charset="0"/>
                <a:ea typeface="Calibri" pitchFamily="34" charset="-122"/>
                <a:cs typeface="Calibri" pitchFamily="34" charset="-120"/>
              </a:rPr>
              <a:t>→</a:t>
            </a:r>
            <a:endParaRPr lang="en-US" sz="3800" dirty="0"/>
          </a:p>
        </p:txBody>
      </p:sp>
      <p:sp>
        <p:nvSpPr>
          <p:cNvPr id="9" name="Shape 7"/>
          <p:cNvSpPr/>
          <p:nvPr/>
        </p:nvSpPr>
        <p:spPr>
          <a:xfrm>
            <a:off x="5093208" y="960120"/>
            <a:ext cx="3794760" cy="3657600"/>
          </a:xfrm>
          <a:prstGeom prst="rect">
            <a:avLst/>
          </a:prstGeom>
          <a:solidFill>
            <a:srgbClr val="F0FDF4"/>
          </a:solidFill>
          <a:ln w="12700">
            <a:solidFill>
              <a:srgbClr val="86EFAC"/>
            </a:solidFill>
            <a:prstDash val="solid"/>
          </a:ln>
        </p:spPr>
      </p:sp>
      <p:sp>
        <p:nvSpPr>
          <p:cNvPr id="10" name="Text 8"/>
          <p:cNvSpPr/>
          <p:nvPr/>
        </p:nvSpPr>
        <p:spPr>
          <a:xfrm>
            <a:off x="5093208" y="1005840"/>
            <a:ext cx="3794760" cy="384048"/>
          </a:xfrm>
          <a:prstGeom prst="rect">
            <a:avLst/>
          </a:prstGeom>
          <a:noFill/>
          <a:ln/>
        </p:spPr>
        <p:txBody>
          <a:bodyPr wrap="square" rtlCol="0" anchor="ctr"/>
          <a:lstStyle/>
          <a:p>
            <a:pPr algn="ctr" indent="0" marL="0">
              <a:buNone/>
            </a:pPr>
            <a:r>
              <a:rPr lang="en-US" sz="1200" b="1" spc="200" kern="0" dirty="0">
                <a:solidFill>
                  <a:srgbClr val="16A34A"/>
                </a:solidFill>
                <a:latin typeface="Calibri" pitchFamily="34" charset="0"/>
                <a:ea typeface="Calibri" pitchFamily="34" charset="-122"/>
                <a:cs typeface="Calibri" pitchFamily="34" charset="-120"/>
              </a:rPr>
              <a:t>AFTER</a:t>
            </a:r>
            <a:endParaRPr lang="en-US" sz="1200" dirty="0"/>
          </a:p>
        </p:txBody>
      </p:sp>
      <p:sp>
        <p:nvSpPr>
          <p:cNvPr id="11" name="Text 9"/>
          <p:cNvSpPr/>
          <p:nvPr/>
        </p:nvSpPr>
        <p:spPr>
          <a:xfrm>
            <a:off x="5276088" y="1463040"/>
            <a:ext cx="3429000" cy="2834640"/>
          </a:xfrm>
          <a:prstGeom prst="rect">
            <a:avLst/>
          </a:prstGeom>
          <a:noFill/>
          <a:ln/>
        </p:spPr>
        <p:txBody>
          <a:bodyPr wrap="square" rtlCol="0" anchor="ctr"/>
          <a:lstStyle/>
          <a:p>
            <a:pPr marL="342900" indent="-342900">
              <a:buSzPct val="100000"/>
              <a:buChar char="•"/>
            </a:pPr>
            <a:r>
              <a:rPr lang="en-US" sz="1300" dirty="0">
                <a:solidFill>
                  <a:srgbClr val="1E293B"/>
                </a:solidFill>
                <a:latin typeface="Calibri" pitchFamily="34" charset="0"/>
                <a:ea typeface="Calibri" pitchFamily="34" charset="-122"/>
                <a:cs typeface="Calibri" pitchFamily="34" charset="-120"/>
              </a:rPr>
              <a:t>Coordinated multi-agent teams</a:t>
            </a:r>
            <a:endParaRPr lang="en-US" sz="1300" dirty="0"/>
          </a:p>
          <a:p>
            <a:pPr marL="342900" indent="-342900">
              <a:buSzPct val="100000"/>
              <a:buChar char="•"/>
            </a:pPr>
            <a:r>
              <a:rPr lang="en-US" sz="1300" dirty="0">
                <a:solidFill>
                  <a:srgbClr val="1E293B"/>
                </a:solidFill>
                <a:latin typeface="Calibri" pitchFamily="34" charset="0"/>
                <a:ea typeface="Calibri" pitchFamily="34" charset="-122"/>
                <a:cs typeface="Calibri" pitchFamily="34" charset="-120"/>
              </a:rPr>
              <a:t>Agents handle the repetitive loop</a:t>
            </a:r>
            <a:endParaRPr lang="en-US" sz="1300" dirty="0"/>
          </a:p>
          <a:p>
            <a:pPr marL="342900" indent="-342900">
              <a:buSzPct val="100000"/>
              <a:buChar char="•"/>
            </a:pPr>
            <a:r>
              <a:rPr lang="en-US" sz="1300" dirty="0">
                <a:solidFill>
                  <a:srgbClr val="1E293B"/>
                </a:solidFill>
                <a:latin typeface="Calibri" pitchFamily="34" charset="0"/>
                <a:ea typeface="Calibri" pitchFamily="34" charset="-122"/>
                <a:cs typeface="Calibri" pitchFamily="34" charset="-120"/>
              </a:rPr>
              <a:t>We focus on judgment &amp; edge cases</a:t>
            </a:r>
            <a:endParaRPr lang="en-US" sz="1300" dirty="0"/>
          </a:p>
          <a:p>
            <a:pPr marL="342900" indent="-342900">
              <a:buSzPct val="100000"/>
              <a:buChar char="•"/>
            </a:pPr>
            <a:r>
              <a:rPr lang="en-US" sz="1300" dirty="0">
                <a:solidFill>
                  <a:srgbClr val="1E293B"/>
                </a:solidFill>
                <a:latin typeface="Calibri" pitchFamily="34" charset="0"/>
                <a:ea typeface="Calibri" pitchFamily="34" charset="-122"/>
                <a:cs typeface="Calibri" pitchFamily="34" charset="-120"/>
              </a:rPr>
              <a:t>Full traceability by default</a:t>
            </a:r>
            <a:endParaRPr lang="en-US" sz="1300" dirty="0"/>
          </a:p>
          <a:p>
            <a:pPr marL="342900" indent="-342900">
              <a:buSzPct val="100000"/>
              <a:buChar char="•"/>
            </a:pPr>
            <a:r>
              <a:rPr lang="en-US" sz="1300" dirty="0">
                <a:solidFill>
                  <a:srgbClr val="1E293B"/>
                </a:solidFill>
                <a:latin typeface="Calibri" pitchFamily="34" charset="0"/>
                <a:ea typeface="Calibri" pitchFamily="34" charset="-122"/>
                <a:cs typeface="Calibri" pitchFamily="34" charset="-120"/>
              </a:rPr>
              <a:t>Already running in our team</a:t>
            </a:r>
            <a:endParaRPr lang="en-US" sz="1300" dirty="0"/>
          </a:p>
          <a:p>
            <a:pPr marL="342900" indent="-342900">
              <a:buSzPct val="100000"/>
              <a:buChar char="•"/>
            </a:pPr>
            <a:r>
              <a:rPr lang="en-US" sz="1300" dirty="0">
                <a:solidFill>
                  <a:srgbClr val="1E293B"/>
                </a:solidFill>
                <a:latin typeface="Calibri" pitchFamily="34" charset="0"/>
                <a:ea typeface="Calibri" pitchFamily="34" charset="-122"/>
                <a:cs typeface="Calibri" pitchFamily="34" charset="-120"/>
              </a:rPr>
              <a:t>No new vendor needed</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0" y="0"/>
            <a:ext cx="91440" cy="5143500"/>
          </a:xfrm>
          <a:prstGeom prst="rect">
            <a:avLst/>
          </a:prstGeom>
          <a:solidFill>
            <a:srgbClr val="02C39A"/>
          </a:solidFill>
          <a:ln w="12700">
            <a:solidFill>
              <a:srgbClr val="02C39A"/>
            </a:solidFill>
            <a:prstDash val="solid"/>
          </a:ln>
        </p:spPr>
      </p:sp>
      <p:sp>
        <p:nvSpPr>
          <p:cNvPr id="3" name="Text 1"/>
          <p:cNvSpPr/>
          <p:nvPr/>
        </p:nvSpPr>
        <p:spPr>
          <a:xfrm>
            <a:off x="256032" y="164592"/>
            <a:ext cx="8595360" cy="502920"/>
          </a:xfrm>
          <a:prstGeom prst="rect">
            <a:avLst/>
          </a:prstGeom>
          <a:noFill/>
          <a:ln/>
        </p:spPr>
        <p:txBody>
          <a:bodyPr wrap="square" lIns="0" tIns="0" rIns="0" bIns="0" rtlCol="0" anchor="ctr"/>
          <a:lstStyle/>
          <a:p>
            <a:pPr indent="0" marL="0">
              <a:buNone/>
            </a:pPr>
            <a:r>
              <a:rPr lang="en-US" sz="2600" b="1" dirty="0">
                <a:solidFill>
                  <a:srgbClr val="1E293B"/>
                </a:solidFill>
                <a:latin typeface="Calibri" pitchFamily="34" charset="0"/>
                <a:ea typeface="Calibri" pitchFamily="34" charset="-122"/>
                <a:cs typeface="Calibri" pitchFamily="34" charset="-120"/>
              </a:rPr>
              <a:t>Tools We're Already Using</a:t>
            </a:r>
            <a:endParaRPr lang="en-US" sz="2600" dirty="0"/>
          </a:p>
        </p:txBody>
      </p:sp>
      <p:sp>
        <p:nvSpPr>
          <p:cNvPr id="4" name="Shape 2"/>
          <p:cNvSpPr/>
          <p:nvPr/>
        </p:nvSpPr>
        <p:spPr>
          <a:xfrm>
            <a:off x="256032" y="731520"/>
            <a:ext cx="8595360" cy="27432"/>
          </a:xfrm>
          <a:prstGeom prst="rect">
            <a:avLst/>
          </a:prstGeom>
          <a:solidFill>
            <a:srgbClr val="E2E8F0"/>
          </a:solidFill>
          <a:ln w="12700">
            <a:solidFill>
              <a:srgbClr val="E2E8F0"/>
            </a:solidFill>
            <a:prstDash val="solid"/>
          </a:ln>
        </p:spPr>
      </p:sp>
      <p:sp>
        <p:nvSpPr>
          <p:cNvPr id="5" name="Shape 3"/>
          <p:cNvSpPr/>
          <p:nvPr/>
        </p:nvSpPr>
        <p:spPr>
          <a:xfrm>
            <a:off x="256032" y="1005840"/>
            <a:ext cx="1965960" cy="3520440"/>
          </a:xfrm>
          <a:prstGeom prst="rect">
            <a:avLst/>
          </a:prstGeom>
          <a:solidFill>
            <a:srgbClr val="FFFFFF"/>
          </a:solidFill>
          <a:ln w="12700">
            <a:solidFill>
              <a:srgbClr val="E2E8F0"/>
            </a:solidFill>
            <a:prstDash val="solid"/>
          </a:ln>
          <a:effectLst>
            <a:outerShdw sx="100000" sy="100000" kx="0" ky="0" algn="bl" rotWithShape="0" blurRad="101600" dist="38100" dir="8100000">
              <a:srgbClr val="000000">
                <a:alpha val="12000"/>
              </a:srgbClr>
            </a:outerShdw>
          </a:effectLst>
        </p:spPr>
      </p:sp>
      <p:sp>
        <p:nvSpPr>
          <p:cNvPr id="6" name="Shape 4"/>
          <p:cNvSpPr/>
          <p:nvPr/>
        </p:nvSpPr>
        <p:spPr>
          <a:xfrm>
            <a:off x="256032" y="1005840"/>
            <a:ext cx="1965960" cy="201168"/>
          </a:xfrm>
          <a:prstGeom prst="rect">
            <a:avLst/>
          </a:prstGeom>
          <a:solidFill>
            <a:srgbClr val="065A82"/>
          </a:solidFill>
          <a:ln w="12700">
            <a:solidFill>
              <a:srgbClr val="065A82"/>
            </a:solidFill>
            <a:prstDash val="solid"/>
          </a:ln>
        </p:spPr>
      </p:sp>
      <p:pic>
        <p:nvPicPr>
          <p:cNvPr id="7" name="Image 0" descr="preencoded.png">    </p:cNvPr>
          <p:cNvPicPr>
            <a:picLocks noChangeAspect="1"/>
          </p:cNvPicPr>
          <p:nvPr/>
        </p:nvPicPr>
        <p:blipFill>
          <a:blip r:embed="rId1"/>
          <a:stretch>
            <a:fillRect/>
          </a:stretch>
        </p:blipFill>
        <p:spPr>
          <a:xfrm>
            <a:off x="960120" y="1353312"/>
            <a:ext cx="548640" cy="548640"/>
          </a:xfrm>
          <a:prstGeom prst="rect">
            <a:avLst/>
          </a:prstGeom>
        </p:spPr>
      </p:pic>
      <p:sp>
        <p:nvSpPr>
          <p:cNvPr id="8" name="Text 5"/>
          <p:cNvSpPr/>
          <p:nvPr/>
        </p:nvSpPr>
        <p:spPr>
          <a:xfrm>
            <a:off x="347472" y="1984248"/>
            <a:ext cx="1783080" cy="457200"/>
          </a:xfrm>
          <a:prstGeom prst="rect">
            <a:avLst/>
          </a:prstGeom>
          <a:noFill/>
          <a:ln/>
        </p:spPr>
        <p:txBody>
          <a:bodyPr wrap="square" lIns="0" tIns="0" rIns="0" bIns="0" rtlCol="0" anchor="ctr"/>
          <a:lstStyle/>
          <a:p>
            <a:pPr algn="ctr" indent="0" marL="0">
              <a:buNone/>
            </a:pPr>
            <a:r>
              <a:rPr lang="en-US" sz="1300" b="1" dirty="0">
                <a:solidFill>
                  <a:srgbClr val="1E293B"/>
                </a:solidFill>
                <a:latin typeface="Calibri" pitchFamily="34" charset="0"/>
                <a:ea typeface="Calibri" pitchFamily="34" charset="-122"/>
                <a:cs typeface="Calibri" pitchFamily="34" charset="-120"/>
              </a:rPr>
              <a:t>Polarion ALM</a:t>
            </a:r>
            <a:endParaRPr lang="en-US" sz="1300" dirty="0"/>
          </a:p>
        </p:txBody>
      </p:sp>
      <p:sp>
        <p:nvSpPr>
          <p:cNvPr id="9" name="Text 6"/>
          <p:cNvSpPr/>
          <p:nvPr/>
        </p:nvSpPr>
        <p:spPr>
          <a:xfrm>
            <a:off x="347472" y="2487168"/>
            <a:ext cx="1783080" cy="1005840"/>
          </a:xfrm>
          <a:prstGeom prst="rect">
            <a:avLst/>
          </a:prstGeom>
          <a:noFill/>
          <a:ln/>
        </p:spPr>
        <p:txBody>
          <a:bodyPr wrap="square" rtlCol="0" anchor="ctr"/>
          <a:lstStyle/>
          <a:p>
            <a:pPr algn="ctr" indent="0" marL="0">
              <a:buNone/>
            </a:pPr>
            <a:r>
              <a:rPr lang="en-US" sz="1100" dirty="0">
                <a:solidFill>
                  <a:srgbClr val="4A5568"/>
                </a:solidFill>
                <a:latin typeface="Calibri" pitchFamily="34" charset="0"/>
                <a:ea typeface="Calibri" pitchFamily="34" charset="-122"/>
                <a:cs typeface="Calibri" pitchFamily="34" charset="-120"/>
              </a:rPr>
              <a:t>Requirements,</a:t>
            </a:r>
            <a:endParaRPr lang="en-US" sz="1100" dirty="0"/>
          </a:p>
          <a:p>
            <a:pPr algn="ctr" indent="0" marL="0">
              <a:buNone/>
            </a:pPr>
            <a:r>
              <a:rPr lang="en-US" sz="1100" dirty="0">
                <a:solidFill>
                  <a:srgbClr val="4A5568"/>
                </a:solidFill>
                <a:latin typeface="Calibri" pitchFamily="34" charset="0"/>
                <a:ea typeface="Calibri" pitchFamily="34" charset="-122"/>
                <a:cs typeface="Calibri" pitchFamily="34" charset="-120"/>
              </a:rPr>
              <a:t>test cases, test runs</a:t>
            </a:r>
            <a:endParaRPr lang="en-US" sz="1100" dirty="0"/>
          </a:p>
          <a:p>
            <a:pPr algn="ctr" indent="0" marL="0">
              <a:buNone/>
            </a:pPr>
            <a:r>
              <a:rPr lang="en-US" sz="1100" dirty="0">
                <a:solidFill>
                  <a:srgbClr val="4A5568"/>
                </a:solidFill>
                <a:latin typeface="Calibri" pitchFamily="34" charset="0"/>
                <a:ea typeface="Calibri" pitchFamily="34" charset="-122"/>
                <a:cs typeface="Calibri" pitchFamily="34" charset="-120"/>
              </a:rPr>
              <a:t>full traceability</a:t>
            </a:r>
            <a:endParaRPr lang="en-US" sz="1100" dirty="0"/>
          </a:p>
        </p:txBody>
      </p:sp>
      <p:sp>
        <p:nvSpPr>
          <p:cNvPr id="10" name="Shape 7"/>
          <p:cNvSpPr/>
          <p:nvPr/>
        </p:nvSpPr>
        <p:spPr>
          <a:xfrm>
            <a:off x="960120" y="3767328"/>
            <a:ext cx="548640" cy="548640"/>
          </a:xfrm>
          <a:prstGeom prst="ellipse">
            <a:avLst/>
          </a:prstGeom>
          <a:solidFill>
            <a:srgbClr val="065A82"/>
          </a:solidFill>
          <a:ln w="12700">
            <a:solidFill>
              <a:srgbClr val="065A82"/>
            </a:solidFill>
            <a:prstDash val="solid"/>
          </a:ln>
        </p:spPr>
      </p:sp>
      <p:sp>
        <p:nvSpPr>
          <p:cNvPr id="11" name="Text 8"/>
          <p:cNvSpPr/>
          <p:nvPr/>
        </p:nvSpPr>
        <p:spPr>
          <a:xfrm>
            <a:off x="960120" y="3767328"/>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2" name="Shape 9"/>
          <p:cNvSpPr/>
          <p:nvPr/>
        </p:nvSpPr>
        <p:spPr>
          <a:xfrm>
            <a:off x="2432304" y="1005840"/>
            <a:ext cx="1965960" cy="3520440"/>
          </a:xfrm>
          <a:prstGeom prst="rect">
            <a:avLst/>
          </a:prstGeom>
          <a:solidFill>
            <a:srgbClr val="FFFFFF"/>
          </a:solidFill>
          <a:ln w="12700">
            <a:solidFill>
              <a:srgbClr val="E2E8F0"/>
            </a:solidFill>
            <a:prstDash val="solid"/>
          </a:ln>
          <a:effectLst>
            <a:outerShdw sx="100000" sy="100000" kx="0" ky="0" algn="bl" rotWithShape="0" blurRad="101600" dist="38100" dir="8100000">
              <a:srgbClr val="000000">
                <a:alpha val="12000"/>
              </a:srgbClr>
            </a:outerShdw>
          </a:effectLst>
        </p:spPr>
      </p:sp>
      <p:sp>
        <p:nvSpPr>
          <p:cNvPr id="13" name="Shape 10"/>
          <p:cNvSpPr/>
          <p:nvPr/>
        </p:nvSpPr>
        <p:spPr>
          <a:xfrm>
            <a:off x="2432304" y="1005840"/>
            <a:ext cx="1965960" cy="201168"/>
          </a:xfrm>
          <a:prstGeom prst="rect">
            <a:avLst/>
          </a:prstGeom>
          <a:solidFill>
            <a:srgbClr val="1C7293"/>
          </a:solidFill>
          <a:ln w="12700">
            <a:solidFill>
              <a:srgbClr val="1C7293"/>
            </a:solidFill>
            <a:prstDash val="solid"/>
          </a:ln>
        </p:spPr>
      </p:sp>
      <p:pic>
        <p:nvPicPr>
          <p:cNvPr id="14" name="Image 1" descr="preencoded.png">    </p:cNvPr>
          <p:cNvPicPr>
            <a:picLocks noChangeAspect="1"/>
          </p:cNvPicPr>
          <p:nvPr/>
        </p:nvPicPr>
        <p:blipFill>
          <a:blip r:embed="rId2"/>
          <a:stretch>
            <a:fillRect/>
          </a:stretch>
        </p:blipFill>
        <p:spPr>
          <a:xfrm>
            <a:off x="3136392" y="1353312"/>
            <a:ext cx="548640" cy="548640"/>
          </a:xfrm>
          <a:prstGeom prst="rect">
            <a:avLst/>
          </a:prstGeom>
        </p:spPr>
      </p:pic>
      <p:sp>
        <p:nvSpPr>
          <p:cNvPr id="15" name="Text 11"/>
          <p:cNvSpPr/>
          <p:nvPr/>
        </p:nvSpPr>
        <p:spPr>
          <a:xfrm>
            <a:off x="2523744" y="1984248"/>
            <a:ext cx="1783080" cy="457200"/>
          </a:xfrm>
          <a:prstGeom prst="rect">
            <a:avLst/>
          </a:prstGeom>
          <a:noFill/>
          <a:ln/>
        </p:spPr>
        <p:txBody>
          <a:bodyPr wrap="square" lIns="0" tIns="0" rIns="0" bIns="0" rtlCol="0" anchor="ctr"/>
          <a:lstStyle/>
          <a:p>
            <a:pPr algn="ctr" indent="0" marL="0">
              <a:buNone/>
            </a:pPr>
            <a:r>
              <a:rPr lang="en-US" sz="1300" b="1" dirty="0">
                <a:solidFill>
                  <a:srgbClr val="1E293B"/>
                </a:solidFill>
                <a:latin typeface="Calibri" pitchFamily="34" charset="0"/>
                <a:ea typeface="Calibri" pitchFamily="34" charset="-122"/>
                <a:cs typeface="Calibri" pitchFamily="34" charset="-120"/>
              </a:rPr>
              <a:t>polarion-cli</a:t>
            </a:r>
            <a:endParaRPr lang="en-US" sz="1300" dirty="0"/>
          </a:p>
        </p:txBody>
      </p:sp>
      <p:sp>
        <p:nvSpPr>
          <p:cNvPr id="16" name="Text 12"/>
          <p:cNvSpPr/>
          <p:nvPr/>
        </p:nvSpPr>
        <p:spPr>
          <a:xfrm>
            <a:off x="2523744" y="2487168"/>
            <a:ext cx="1783080" cy="1005840"/>
          </a:xfrm>
          <a:prstGeom prst="rect">
            <a:avLst/>
          </a:prstGeom>
          <a:noFill/>
          <a:ln/>
        </p:spPr>
        <p:txBody>
          <a:bodyPr wrap="square" rtlCol="0" anchor="ctr"/>
          <a:lstStyle/>
          <a:p>
            <a:pPr algn="ctr" indent="0" marL="0">
              <a:buNone/>
            </a:pPr>
            <a:r>
              <a:rPr lang="en-US" sz="1100" dirty="0">
                <a:solidFill>
                  <a:srgbClr val="4A5568"/>
                </a:solidFill>
                <a:latin typeface="Calibri" pitchFamily="34" charset="0"/>
                <a:ea typeface="Calibri" pitchFamily="34" charset="-122"/>
                <a:cs typeface="Calibri" pitchFamily="34" charset="-120"/>
              </a:rPr>
              <a:t>Python CLI — secure</a:t>
            </a:r>
            <a:endParaRPr lang="en-US" sz="1100" dirty="0"/>
          </a:p>
          <a:p>
            <a:pPr algn="ctr" indent="0" marL="0">
              <a:buNone/>
            </a:pPr>
            <a:r>
              <a:rPr lang="en-US" sz="1100" dirty="0">
                <a:solidFill>
                  <a:srgbClr val="4A5568"/>
                </a:solidFill>
                <a:latin typeface="Calibri" pitchFamily="34" charset="0"/>
                <a:ea typeface="Calibri" pitchFamily="34" charset="-122"/>
                <a:cs typeface="Calibri" pitchFamily="34" charset="-120"/>
              </a:rPr>
              <a:t>bridge to Polarion</a:t>
            </a:r>
            <a:endParaRPr lang="en-US" sz="1100" dirty="0"/>
          </a:p>
          <a:p>
            <a:pPr algn="ctr" indent="0" marL="0">
              <a:buNone/>
            </a:pPr>
            <a:r>
              <a:rPr lang="en-US" sz="1100" dirty="0">
                <a:solidFill>
                  <a:srgbClr val="4A5568"/>
                </a:solidFill>
                <a:latin typeface="Calibri" pitchFamily="34" charset="0"/>
                <a:ea typeface="Calibri" pitchFamily="34" charset="-122"/>
                <a:cs typeface="Calibri" pitchFamily="34" charset="-120"/>
              </a:rPr>
              <a:t>no exposed credentials</a:t>
            </a:r>
            <a:endParaRPr lang="en-US" sz="1100" dirty="0"/>
          </a:p>
        </p:txBody>
      </p:sp>
      <p:sp>
        <p:nvSpPr>
          <p:cNvPr id="17" name="Shape 13"/>
          <p:cNvSpPr/>
          <p:nvPr/>
        </p:nvSpPr>
        <p:spPr>
          <a:xfrm>
            <a:off x="3136392" y="3767328"/>
            <a:ext cx="548640" cy="548640"/>
          </a:xfrm>
          <a:prstGeom prst="ellipse">
            <a:avLst/>
          </a:prstGeom>
          <a:solidFill>
            <a:srgbClr val="1C7293"/>
          </a:solidFill>
          <a:ln w="12700">
            <a:solidFill>
              <a:srgbClr val="1C7293"/>
            </a:solidFill>
            <a:prstDash val="solid"/>
          </a:ln>
        </p:spPr>
      </p:sp>
      <p:sp>
        <p:nvSpPr>
          <p:cNvPr id="18" name="Text 14"/>
          <p:cNvSpPr/>
          <p:nvPr/>
        </p:nvSpPr>
        <p:spPr>
          <a:xfrm>
            <a:off x="3136392" y="3767328"/>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9" name="Shape 15"/>
          <p:cNvSpPr/>
          <p:nvPr/>
        </p:nvSpPr>
        <p:spPr>
          <a:xfrm>
            <a:off x="4608576" y="1005840"/>
            <a:ext cx="1965960" cy="3520440"/>
          </a:xfrm>
          <a:prstGeom prst="rect">
            <a:avLst/>
          </a:prstGeom>
          <a:solidFill>
            <a:srgbClr val="FFFFFF"/>
          </a:solidFill>
          <a:ln w="12700">
            <a:solidFill>
              <a:srgbClr val="E2E8F0"/>
            </a:solidFill>
            <a:prstDash val="solid"/>
          </a:ln>
          <a:effectLst>
            <a:outerShdw sx="100000" sy="100000" kx="0" ky="0" algn="bl" rotWithShape="0" blurRad="101600" dist="38100" dir="8100000">
              <a:srgbClr val="000000">
                <a:alpha val="12000"/>
              </a:srgbClr>
            </a:outerShdw>
          </a:effectLst>
        </p:spPr>
      </p:sp>
      <p:sp>
        <p:nvSpPr>
          <p:cNvPr id="20" name="Shape 16"/>
          <p:cNvSpPr/>
          <p:nvPr/>
        </p:nvSpPr>
        <p:spPr>
          <a:xfrm>
            <a:off x="4608576" y="1005840"/>
            <a:ext cx="1965960" cy="201168"/>
          </a:xfrm>
          <a:prstGeom prst="rect">
            <a:avLst/>
          </a:prstGeom>
          <a:solidFill>
            <a:srgbClr val="7C3AED"/>
          </a:solidFill>
          <a:ln w="12700">
            <a:solidFill>
              <a:srgbClr val="7C3AED"/>
            </a:solidFill>
            <a:prstDash val="solid"/>
          </a:ln>
        </p:spPr>
      </p:sp>
      <p:pic>
        <p:nvPicPr>
          <p:cNvPr id="21" name="Image 2" descr="preencoded.png">    </p:cNvPr>
          <p:cNvPicPr>
            <a:picLocks noChangeAspect="1"/>
          </p:cNvPicPr>
          <p:nvPr/>
        </p:nvPicPr>
        <p:blipFill>
          <a:blip r:embed="rId3"/>
          <a:stretch>
            <a:fillRect/>
          </a:stretch>
        </p:blipFill>
        <p:spPr>
          <a:xfrm>
            <a:off x="5312664" y="1353312"/>
            <a:ext cx="548640" cy="548640"/>
          </a:xfrm>
          <a:prstGeom prst="rect">
            <a:avLst/>
          </a:prstGeom>
        </p:spPr>
      </p:pic>
      <p:sp>
        <p:nvSpPr>
          <p:cNvPr id="22" name="Text 17"/>
          <p:cNvSpPr/>
          <p:nvPr/>
        </p:nvSpPr>
        <p:spPr>
          <a:xfrm>
            <a:off x="4700016" y="1984248"/>
            <a:ext cx="1783080" cy="457200"/>
          </a:xfrm>
          <a:prstGeom prst="rect">
            <a:avLst/>
          </a:prstGeom>
          <a:noFill/>
          <a:ln/>
        </p:spPr>
        <p:txBody>
          <a:bodyPr wrap="square" lIns="0" tIns="0" rIns="0" bIns="0" rtlCol="0" anchor="ctr"/>
          <a:lstStyle/>
          <a:p>
            <a:pPr algn="ctr" indent="0" marL="0">
              <a:buNone/>
            </a:pPr>
            <a:r>
              <a:rPr lang="en-US" sz="1300" b="1" dirty="0">
                <a:solidFill>
                  <a:srgbClr val="1E293B"/>
                </a:solidFill>
                <a:latin typeface="Calibri" pitchFamily="34" charset="0"/>
                <a:ea typeface="Calibri" pitchFamily="34" charset="-122"/>
                <a:cs typeface="Calibri" pitchFamily="34" charset="-120"/>
              </a:rPr>
              <a:t>VS Code Agents</a:t>
            </a:r>
            <a:endParaRPr lang="en-US" sz="1300" dirty="0"/>
          </a:p>
        </p:txBody>
      </p:sp>
      <p:sp>
        <p:nvSpPr>
          <p:cNvPr id="23" name="Text 18"/>
          <p:cNvSpPr/>
          <p:nvPr/>
        </p:nvSpPr>
        <p:spPr>
          <a:xfrm>
            <a:off x="4700016" y="2487168"/>
            <a:ext cx="1783080" cy="1005840"/>
          </a:xfrm>
          <a:prstGeom prst="rect">
            <a:avLst/>
          </a:prstGeom>
          <a:noFill/>
          <a:ln/>
        </p:spPr>
        <p:txBody>
          <a:bodyPr wrap="square" rtlCol="0" anchor="ctr"/>
          <a:lstStyle/>
          <a:p>
            <a:pPr algn="ctr" indent="0" marL="0">
              <a:buNone/>
            </a:pPr>
            <a:r>
              <a:rPr lang="en-US" sz="1100" dirty="0">
                <a:solidFill>
                  <a:srgbClr val="4A5568"/>
                </a:solidFill>
                <a:latin typeface="Calibri" pitchFamily="34" charset="0"/>
                <a:ea typeface="Calibri" pitchFamily="34" charset="-122"/>
                <a:cs typeface="Calibri" pitchFamily="34" charset="-120"/>
              </a:rPr>
              <a:t>Where agents live</a:t>
            </a:r>
            <a:endParaRPr lang="en-US" sz="1100" dirty="0"/>
          </a:p>
          <a:p>
            <a:pPr algn="ctr" indent="0" marL="0">
              <a:buNone/>
            </a:pPr>
            <a:r>
              <a:rPr lang="en-US" sz="1100" dirty="0">
                <a:solidFill>
                  <a:srgbClr val="4A5568"/>
                </a:solidFill>
                <a:latin typeface="Calibri" pitchFamily="34" charset="0"/>
                <a:ea typeface="Calibri" pitchFamily="34" charset="-122"/>
                <a:cs typeface="Calibri" pitchFamily="34" charset="-120"/>
              </a:rPr>
              <a:t>and collaborate</a:t>
            </a:r>
            <a:endParaRPr lang="en-US" sz="1100" dirty="0"/>
          </a:p>
          <a:p>
            <a:pPr algn="ctr" indent="0" marL="0">
              <a:buNone/>
            </a:pPr>
            <a:r>
              <a:rPr lang="en-US" sz="1100" dirty="0">
                <a:solidFill>
                  <a:srgbClr val="4A5568"/>
                </a:solidFill>
                <a:latin typeface="Calibri" pitchFamily="34" charset="0"/>
                <a:ea typeface="Calibri" pitchFamily="34" charset="-122"/>
                <a:cs typeface="Calibri" pitchFamily="34" charset="-120"/>
              </a:rPr>
              <a:t>(Copilot / custom)</a:t>
            </a:r>
            <a:endParaRPr lang="en-US" sz="1100" dirty="0"/>
          </a:p>
        </p:txBody>
      </p:sp>
      <p:sp>
        <p:nvSpPr>
          <p:cNvPr id="24" name="Shape 19"/>
          <p:cNvSpPr/>
          <p:nvPr/>
        </p:nvSpPr>
        <p:spPr>
          <a:xfrm>
            <a:off x="5312664" y="3767328"/>
            <a:ext cx="548640" cy="548640"/>
          </a:xfrm>
          <a:prstGeom prst="ellipse">
            <a:avLst/>
          </a:prstGeom>
          <a:solidFill>
            <a:srgbClr val="7C3AED"/>
          </a:solidFill>
          <a:ln w="12700">
            <a:solidFill>
              <a:srgbClr val="7C3AED"/>
            </a:solidFill>
            <a:prstDash val="solid"/>
          </a:ln>
        </p:spPr>
      </p:sp>
      <p:sp>
        <p:nvSpPr>
          <p:cNvPr id="25" name="Text 20"/>
          <p:cNvSpPr/>
          <p:nvPr/>
        </p:nvSpPr>
        <p:spPr>
          <a:xfrm>
            <a:off x="5312664" y="3767328"/>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6" name="Shape 21"/>
          <p:cNvSpPr/>
          <p:nvPr/>
        </p:nvSpPr>
        <p:spPr>
          <a:xfrm>
            <a:off x="6784848" y="1005840"/>
            <a:ext cx="1965960" cy="3520440"/>
          </a:xfrm>
          <a:prstGeom prst="rect">
            <a:avLst/>
          </a:prstGeom>
          <a:solidFill>
            <a:srgbClr val="FFFFFF"/>
          </a:solidFill>
          <a:ln w="12700">
            <a:solidFill>
              <a:srgbClr val="E2E8F0"/>
            </a:solidFill>
            <a:prstDash val="solid"/>
          </a:ln>
          <a:effectLst>
            <a:outerShdw sx="100000" sy="100000" kx="0" ky="0" algn="bl" rotWithShape="0" blurRad="101600" dist="38100" dir="8100000">
              <a:srgbClr val="000000">
                <a:alpha val="12000"/>
              </a:srgbClr>
            </a:outerShdw>
          </a:effectLst>
        </p:spPr>
      </p:sp>
      <p:sp>
        <p:nvSpPr>
          <p:cNvPr id="27" name="Shape 22"/>
          <p:cNvSpPr/>
          <p:nvPr/>
        </p:nvSpPr>
        <p:spPr>
          <a:xfrm>
            <a:off x="6784848" y="1005840"/>
            <a:ext cx="1965960" cy="201168"/>
          </a:xfrm>
          <a:prstGeom prst="rect">
            <a:avLst/>
          </a:prstGeom>
          <a:solidFill>
            <a:srgbClr val="D97706"/>
          </a:solidFill>
          <a:ln w="12700">
            <a:solidFill>
              <a:srgbClr val="D97706"/>
            </a:solidFill>
            <a:prstDash val="solid"/>
          </a:ln>
        </p:spPr>
      </p:sp>
      <p:pic>
        <p:nvPicPr>
          <p:cNvPr id="28" name="Image 3" descr="preencoded.png">    </p:cNvPr>
          <p:cNvPicPr>
            <a:picLocks noChangeAspect="1"/>
          </p:cNvPicPr>
          <p:nvPr/>
        </p:nvPicPr>
        <p:blipFill>
          <a:blip r:embed="rId4"/>
          <a:stretch>
            <a:fillRect/>
          </a:stretch>
        </p:blipFill>
        <p:spPr>
          <a:xfrm>
            <a:off x="7488936" y="1353312"/>
            <a:ext cx="548640" cy="548640"/>
          </a:xfrm>
          <a:prstGeom prst="rect">
            <a:avLst/>
          </a:prstGeom>
        </p:spPr>
      </p:pic>
      <p:sp>
        <p:nvSpPr>
          <p:cNvPr id="29" name="Text 23"/>
          <p:cNvSpPr/>
          <p:nvPr/>
        </p:nvSpPr>
        <p:spPr>
          <a:xfrm>
            <a:off x="6876288" y="1984248"/>
            <a:ext cx="1783080" cy="457200"/>
          </a:xfrm>
          <a:prstGeom prst="rect">
            <a:avLst/>
          </a:prstGeom>
          <a:noFill/>
          <a:ln/>
        </p:spPr>
        <p:txBody>
          <a:bodyPr wrap="square" lIns="0" tIns="0" rIns="0" bIns="0" rtlCol="0" anchor="ctr"/>
          <a:lstStyle/>
          <a:p>
            <a:pPr algn="ctr" indent="0" marL="0">
              <a:buNone/>
            </a:pPr>
            <a:r>
              <a:rPr lang="en-US" sz="1300" b="1" dirty="0">
                <a:solidFill>
                  <a:srgbClr val="1E293B"/>
                </a:solidFill>
                <a:latin typeface="Calibri" pitchFamily="34" charset="0"/>
                <a:ea typeface="Calibri" pitchFamily="34" charset="-122"/>
                <a:cs typeface="Calibri" pitchFamily="34" charset="-120"/>
              </a:rPr>
              <a:t>Test Suite</a:t>
            </a:r>
            <a:endParaRPr lang="en-US" sz="1300" dirty="0"/>
          </a:p>
        </p:txBody>
      </p:sp>
      <p:sp>
        <p:nvSpPr>
          <p:cNvPr id="30" name="Text 24"/>
          <p:cNvSpPr/>
          <p:nvPr/>
        </p:nvSpPr>
        <p:spPr>
          <a:xfrm>
            <a:off x="6876288" y="2487168"/>
            <a:ext cx="1783080" cy="1005840"/>
          </a:xfrm>
          <a:prstGeom prst="rect">
            <a:avLst/>
          </a:prstGeom>
          <a:noFill/>
          <a:ln/>
        </p:spPr>
        <p:txBody>
          <a:bodyPr wrap="square" rtlCol="0" anchor="ctr"/>
          <a:lstStyle/>
          <a:p>
            <a:pPr algn="ctr" indent="0" marL="0">
              <a:buNone/>
            </a:pPr>
            <a:r>
              <a:rPr lang="en-US" sz="1100" dirty="0">
                <a:solidFill>
                  <a:srgbClr val="4A5568"/>
                </a:solidFill>
                <a:latin typeface="Calibri" pitchFamily="34" charset="0"/>
                <a:ea typeface="Calibri" pitchFamily="34" charset="-122"/>
                <a:cs typeface="Calibri" pitchFamily="34" charset="-120"/>
              </a:rPr>
              <a:t>pytest / your framework</a:t>
            </a:r>
            <a:endParaRPr lang="en-US" sz="1100" dirty="0"/>
          </a:p>
          <a:p>
            <a:pPr algn="ctr" indent="0" marL="0">
              <a:buNone/>
            </a:pPr>
            <a:r>
              <a:rPr lang="en-US" sz="1100" dirty="0">
                <a:solidFill>
                  <a:srgbClr val="4A5568"/>
                </a:solidFill>
                <a:latin typeface="Calibri" pitchFamily="34" charset="0"/>
                <a:ea typeface="Calibri" pitchFamily="34" charset="-122"/>
                <a:cs typeface="Calibri" pitchFamily="34" charset="-120"/>
              </a:rPr>
              <a:t>automated tests</a:t>
            </a:r>
            <a:endParaRPr lang="en-US" sz="1100" dirty="0"/>
          </a:p>
          <a:p>
            <a:pPr algn="ctr" indent="0" marL="0">
              <a:buNone/>
            </a:pPr>
            <a:r>
              <a:rPr lang="en-US" sz="1100" dirty="0">
                <a:solidFill>
                  <a:srgbClr val="4A5568"/>
                </a:solidFill>
                <a:latin typeface="Calibri" pitchFamily="34" charset="0"/>
                <a:ea typeface="Calibri" pitchFamily="34" charset="-122"/>
                <a:cs typeface="Calibri" pitchFamily="34" charset="-120"/>
              </a:rPr>
              <a:t>marked with IDs</a:t>
            </a:r>
            <a:endParaRPr lang="en-US" sz="1100" dirty="0"/>
          </a:p>
        </p:txBody>
      </p:sp>
      <p:sp>
        <p:nvSpPr>
          <p:cNvPr id="31" name="Shape 25"/>
          <p:cNvSpPr/>
          <p:nvPr/>
        </p:nvSpPr>
        <p:spPr>
          <a:xfrm>
            <a:off x="7488936" y="3767328"/>
            <a:ext cx="548640" cy="548640"/>
          </a:xfrm>
          <a:prstGeom prst="ellipse">
            <a:avLst/>
          </a:prstGeom>
          <a:solidFill>
            <a:srgbClr val="D97706"/>
          </a:solidFill>
          <a:ln w="12700">
            <a:solidFill>
              <a:srgbClr val="D97706"/>
            </a:solidFill>
            <a:prstDash val="solid"/>
          </a:ln>
        </p:spPr>
      </p:sp>
      <p:sp>
        <p:nvSpPr>
          <p:cNvPr id="32" name="Text 26"/>
          <p:cNvSpPr/>
          <p:nvPr/>
        </p:nvSpPr>
        <p:spPr>
          <a:xfrm>
            <a:off x="7488936" y="3767328"/>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3" name="Text 27"/>
          <p:cNvSpPr/>
          <p:nvPr/>
        </p:nvSpPr>
        <p:spPr>
          <a:xfrm>
            <a:off x="2221992" y="2560320"/>
            <a:ext cx="210312" cy="365760"/>
          </a:xfrm>
          <a:prstGeom prst="rect">
            <a:avLst/>
          </a:prstGeom>
          <a:noFill/>
          <a:ln/>
        </p:spPr>
        <p:txBody>
          <a:bodyPr wrap="square" rtlCol="0" anchor="ctr"/>
          <a:lstStyle/>
          <a:p>
            <a:pPr algn="ctr" indent="0" marL="0">
              <a:buNone/>
            </a:pPr>
            <a:r>
              <a:rPr lang="en-US" sz="1300" b="1" dirty="0">
                <a:solidFill>
                  <a:srgbClr val="02C39A"/>
                </a:solidFill>
                <a:latin typeface="Calibri" pitchFamily="34" charset="0"/>
                <a:ea typeface="Calibri" pitchFamily="34" charset="-122"/>
                <a:cs typeface="Calibri" pitchFamily="34" charset="-120"/>
              </a:rPr>
              <a:t>→</a:t>
            </a:r>
            <a:endParaRPr lang="en-US" sz="1300" dirty="0"/>
          </a:p>
        </p:txBody>
      </p:sp>
      <p:sp>
        <p:nvSpPr>
          <p:cNvPr id="34" name="Text 28"/>
          <p:cNvSpPr/>
          <p:nvPr/>
        </p:nvSpPr>
        <p:spPr>
          <a:xfrm>
            <a:off x="4398264" y="2560320"/>
            <a:ext cx="210312" cy="365760"/>
          </a:xfrm>
          <a:prstGeom prst="rect">
            <a:avLst/>
          </a:prstGeom>
          <a:noFill/>
          <a:ln/>
        </p:spPr>
        <p:txBody>
          <a:bodyPr wrap="square" rtlCol="0" anchor="ctr"/>
          <a:lstStyle/>
          <a:p>
            <a:pPr algn="ctr" indent="0" marL="0">
              <a:buNone/>
            </a:pPr>
            <a:r>
              <a:rPr lang="en-US" sz="1300" b="1" dirty="0">
                <a:solidFill>
                  <a:srgbClr val="02C39A"/>
                </a:solidFill>
                <a:latin typeface="Calibri" pitchFamily="34" charset="0"/>
                <a:ea typeface="Calibri" pitchFamily="34" charset="-122"/>
                <a:cs typeface="Calibri" pitchFamily="34" charset="-120"/>
              </a:rPr>
              <a:t>→</a:t>
            </a:r>
            <a:endParaRPr lang="en-US" sz="1300" dirty="0"/>
          </a:p>
        </p:txBody>
      </p:sp>
      <p:sp>
        <p:nvSpPr>
          <p:cNvPr id="35" name="Text 29"/>
          <p:cNvSpPr/>
          <p:nvPr/>
        </p:nvSpPr>
        <p:spPr>
          <a:xfrm>
            <a:off x="6574536" y="2560320"/>
            <a:ext cx="210312" cy="365760"/>
          </a:xfrm>
          <a:prstGeom prst="rect">
            <a:avLst/>
          </a:prstGeom>
          <a:noFill/>
          <a:ln/>
        </p:spPr>
        <p:txBody>
          <a:bodyPr wrap="square" rtlCol="0" anchor="ctr"/>
          <a:lstStyle/>
          <a:p>
            <a:pPr algn="ctr" indent="0" marL="0">
              <a:buNone/>
            </a:pPr>
            <a:r>
              <a:rPr lang="en-US" sz="1300" b="1" dirty="0">
                <a:solidFill>
                  <a:srgbClr val="02C39A"/>
                </a:solidFill>
                <a:latin typeface="Calibri" pitchFamily="34" charset="0"/>
                <a:ea typeface="Calibri" pitchFamily="34" charset="-122"/>
                <a:cs typeface="Calibri" pitchFamily="34" charset="-120"/>
              </a:rPr>
              <a: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0" y="0"/>
            <a:ext cx="91440" cy="5143500"/>
          </a:xfrm>
          <a:prstGeom prst="rect">
            <a:avLst/>
          </a:prstGeom>
          <a:solidFill>
            <a:srgbClr val="02C39A"/>
          </a:solidFill>
          <a:ln w="12700">
            <a:solidFill>
              <a:srgbClr val="02C39A"/>
            </a:solidFill>
            <a:prstDash val="solid"/>
          </a:ln>
        </p:spPr>
      </p:sp>
      <p:sp>
        <p:nvSpPr>
          <p:cNvPr id="3" name="Text 1"/>
          <p:cNvSpPr/>
          <p:nvPr/>
        </p:nvSpPr>
        <p:spPr>
          <a:xfrm>
            <a:off x="256032" y="164592"/>
            <a:ext cx="8595360" cy="502920"/>
          </a:xfrm>
          <a:prstGeom prst="rect">
            <a:avLst/>
          </a:prstGeom>
          <a:noFill/>
          <a:ln/>
        </p:spPr>
        <p:txBody>
          <a:bodyPr wrap="square" lIns="0" tIns="0" rIns="0" bIns="0" rtlCol="0" anchor="ctr"/>
          <a:lstStyle/>
          <a:p>
            <a:pPr indent="0" marL="0">
              <a:buNone/>
            </a:pPr>
            <a:r>
              <a:rPr lang="en-US" sz="2600" b="1" dirty="0">
                <a:solidFill>
                  <a:srgbClr val="1E293B"/>
                </a:solidFill>
                <a:latin typeface="Calibri" pitchFamily="34" charset="0"/>
                <a:ea typeface="Calibri" pitchFamily="34" charset="-122"/>
                <a:cs typeface="Calibri" pitchFamily="34" charset="-120"/>
              </a:rPr>
              <a:t>How the Multi-Agent Team Works</a:t>
            </a:r>
            <a:endParaRPr lang="en-US" sz="2600" dirty="0"/>
          </a:p>
        </p:txBody>
      </p:sp>
      <p:sp>
        <p:nvSpPr>
          <p:cNvPr id="4" name="Shape 2"/>
          <p:cNvSpPr/>
          <p:nvPr/>
        </p:nvSpPr>
        <p:spPr>
          <a:xfrm>
            <a:off x="256032" y="731520"/>
            <a:ext cx="8595360" cy="27432"/>
          </a:xfrm>
          <a:prstGeom prst="rect">
            <a:avLst/>
          </a:prstGeom>
          <a:solidFill>
            <a:srgbClr val="E2E8F0"/>
          </a:solidFill>
          <a:ln w="12700">
            <a:solidFill>
              <a:srgbClr val="E2E8F0"/>
            </a:solidFill>
            <a:prstDash val="solid"/>
          </a:ln>
        </p:spPr>
      </p:sp>
      <p:sp>
        <p:nvSpPr>
          <p:cNvPr id="5" name="Shape 3"/>
          <p:cNvSpPr/>
          <p:nvPr/>
        </p:nvSpPr>
        <p:spPr>
          <a:xfrm>
            <a:off x="256032" y="960120"/>
            <a:ext cx="1572768" cy="3703320"/>
          </a:xfrm>
          <a:prstGeom prst="rect">
            <a:avLst/>
          </a:prstGeom>
          <a:solidFill>
            <a:srgbClr val="FFFFFF"/>
          </a:solidFill>
          <a:ln w="12700">
            <a:solidFill>
              <a:srgbClr val="E2E8F0"/>
            </a:solidFill>
            <a:prstDash val="solid"/>
          </a:ln>
          <a:effectLst>
            <a:outerShdw sx="100000" sy="100000" kx="0" ky="0" algn="bl" rotWithShape="0" blurRad="101600" dist="38100" dir="8100000">
              <a:srgbClr val="000000">
                <a:alpha val="12000"/>
              </a:srgbClr>
            </a:outerShdw>
          </a:effectLst>
        </p:spPr>
      </p:sp>
      <p:sp>
        <p:nvSpPr>
          <p:cNvPr id="6" name="Shape 4"/>
          <p:cNvSpPr/>
          <p:nvPr/>
        </p:nvSpPr>
        <p:spPr>
          <a:xfrm>
            <a:off x="256032" y="960120"/>
            <a:ext cx="1572768" cy="502920"/>
          </a:xfrm>
          <a:prstGeom prst="rect">
            <a:avLst/>
          </a:prstGeom>
          <a:solidFill>
            <a:srgbClr val="065A82"/>
          </a:solidFill>
          <a:ln w="12700">
            <a:solidFill>
              <a:srgbClr val="065A82"/>
            </a:solidFill>
            <a:prstDash val="solid"/>
          </a:ln>
        </p:spPr>
      </p:sp>
      <p:sp>
        <p:nvSpPr>
          <p:cNvPr id="7" name="Text 5"/>
          <p:cNvSpPr/>
          <p:nvPr/>
        </p:nvSpPr>
        <p:spPr>
          <a:xfrm>
            <a:off x="256032" y="960120"/>
            <a:ext cx="1572768"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A1</a:t>
            </a:r>
            <a:endParaRPr lang="en-US" sz="1600" dirty="0"/>
          </a:p>
        </p:txBody>
      </p:sp>
      <p:pic>
        <p:nvPicPr>
          <p:cNvPr id="8" name="Image 0" descr="preencoded.png">    </p:cNvPr>
          <p:cNvPicPr>
            <a:picLocks noChangeAspect="1"/>
          </p:cNvPicPr>
          <p:nvPr/>
        </p:nvPicPr>
        <p:blipFill>
          <a:blip r:embed="rId1"/>
          <a:stretch>
            <a:fillRect/>
          </a:stretch>
        </p:blipFill>
        <p:spPr>
          <a:xfrm>
            <a:off x="768096" y="1600200"/>
            <a:ext cx="548640" cy="548640"/>
          </a:xfrm>
          <a:prstGeom prst="rect">
            <a:avLst/>
          </a:prstGeom>
        </p:spPr>
      </p:pic>
      <p:sp>
        <p:nvSpPr>
          <p:cNvPr id="9" name="Text 6"/>
          <p:cNvSpPr/>
          <p:nvPr/>
        </p:nvSpPr>
        <p:spPr>
          <a:xfrm>
            <a:off x="310896" y="2240280"/>
            <a:ext cx="1463040" cy="685800"/>
          </a:xfrm>
          <a:prstGeom prst="rect">
            <a:avLst/>
          </a:prstGeom>
          <a:noFill/>
          <a:ln/>
        </p:spPr>
        <p:txBody>
          <a:bodyPr wrap="square" lIns="0" tIns="0" rIns="0" bIns="0" rtlCol="0" anchor="ctr"/>
          <a:lstStyle/>
          <a:p>
            <a:pPr algn="ctr" indent="0" marL="0">
              <a:buNone/>
            </a:pPr>
            <a:r>
              <a:rPr lang="en-US" sz="1200" b="1" dirty="0">
                <a:solidFill>
                  <a:srgbClr val="1E293B"/>
                </a:solidFill>
                <a:latin typeface="Calibri" pitchFamily="34" charset="0"/>
                <a:ea typeface="Calibri" pitchFamily="34" charset="-122"/>
                <a:cs typeface="Calibri" pitchFamily="34" charset="-120"/>
              </a:rPr>
              <a:t>Orchestrator</a:t>
            </a:r>
            <a:endParaRPr lang="en-US" sz="1200" dirty="0"/>
          </a:p>
        </p:txBody>
      </p:sp>
      <p:sp>
        <p:nvSpPr>
          <p:cNvPr id="10" name="Text 7"/>
          <p:cNvSpPr/>
          <p:nvPr/>
        </p:nvSpPr>
        <p:spPr>
          <a:xfrm>
            <a:off x="310896" y="2999232"/>
            <a:ext cx="1463040" cy="1463040"/>
          </a:xfrm>
          <a:prstGeom prst="rect">
            <a:avLst/>
          </a:prstGeom>
          <a:noFill/>
          <a:ln/>
        </p:spPr>
        <p:txBody>
          <a:bodyPr wrap="square" rtlCol="0" anchor="ctr"/>
          <a:lstStyle/>
          <a:p>
            <a:pPr algn="ctr" indent="0" marL="0">
              <a:buNone/>
            </a:pPr>
            <a:r>
              <a:rPr lang="en-US" sz="1050" dirty="0">
                <a:solidFill>
                  <a:srgbClr val="4A5568"/>
                </a:solidFill>
                <a:latin typeface="Calibri" pitchFamily="34" charset="0"/>
                <a:ea typeface="Calibri" pitchFamily="34" charset="-122"/>
                <a:cs typeface="Calibri" pitchFamily="34" charset="-120"/>
              </a:rPr>
              <a:t>Reads requirement</a:t>
            </a:r>
            <a:endParaRPr lang="en-US" sz="1050" dirty="0"/>
          </a:p>
          <a:p>
            <a:pPr algn="ctr" indent="0" marL="0">
              <a:buNone/>
            </a:pPr>
            <a:r>
              <a:rPr lang="en-US" sz="1050" dirty="0">
                <a:solidFill>
                  <a:srgbClr val="4A5568"/>
                </a:solidFill>
                <a:latin typeface="Calibri" pitchFamily="34" charset="0"/>
                <a:ea typeface="Calibri" pitchFamily="34" charset="-122"/>
                <a:cs typeface="Calibri" pitchFamily="34" charset="-120"/>
              </a:rPr>
              <a:t>creates plan</a:t>
            </a:r>
            <a:endParaRPr lang="en-US" sz="1050" dirty="0"/>
          </a:p>
          <a:p>
            <a:pPr algn="ctr" indent="0" marL="0">
              <a:buNone/>
            </a:pPr>
            <a:r>
              <a:rPr lang="en-US" sz="1050" dirty="0">
                <a:solidFill>
                  <a:srgbClr val="4A5568"/>
                </a:solidFill>
                <a:latin typeface="Calibri" pitchFamily="34" charset="0"/>
                <a:ea typeface="Calibri" pitchFamily="34" charset="-122"/>
                <a:cs typeface="Calibri" pitchFamily="34" charset="-120"/>
              </a:rPr>
              <a:t>delegates tasks</a:t>
            </a:r>
            <a:endParaRPr lang="en-US" sz="1050" dirty="0"/>
          </a:p>
        </p:txBody>
      </p:sp>
      <p:sp>
        <p:nvSpPr>
          <p:cNvPr id="11" name="Text 8"/>
          <p:cNvSpPr/>
          <p:nvPr/>
        </p:nvSpPr>
        <p:spPr>
          <a:xfrm>
            <a:off x="1828800" y="2606040"/>
            <a:ext cx="164592" cy="365760"/>
          </a:xfrm>
          <a:prstGeom prst="rect">
            <a:avLst/>
          </a:prstGeom>
          <a:noFill/>
          <a:ln/>
        </p:spPr>
        <p:txBody>
          <a:bodyPr wrap="square" rtlCol="0" anchor="ctr"/>
          <a:lstStyle/>
          <a:p>
            <a:pPr algn="ctr" indent="0" marL="0">
              <a:buNone/>
            </a:pPr>
            <a:r>
              <a:rPr lang="en-US" sz="1100" b="1" dirty="0">
                <a:solidFill>
                  <a:srgbClr val="02C39A"/>
                </a:solidFill>
                <a:latin typeface="Calibri" pitchFamily="34" charset="0"/>
                <a:ea typeface="Calibri" pitchFamily="34" charset="-122"/>
                <a:cs typeface="Calibri" pitchFamily="34" charset="-120"/>
              </a:rPr>
              <a:t>→</a:t>
            </a:r>
            <a:endParaRPr lang="en-US" sz="1100" dirty="0"/>
          </a:p>
        </p:txBody>
      </p:sp>
      <p:sp>
        <p:nvSpPr>
          <p:cNvPr id="12" name="Shape 9"/>
          <p:cNvSpPr/>
          <p:nvPr/>
        </p:nvSpPr>
        <p:spPr>
          <a:xfrm>
            <a:off x="1993392" y="960120"/>
            <a:ext cx="1572768" cy="3703320"/>
          </a:xfrm>
          <a:prstGeom prst="rect">
            <a:avLst/>
          </a:prstGeom>
          <a:solidFill>
            <a:srgbClr val="FFFFFF"/>
          </a:solidFill>
          <a:ln w="12700">
            <a:solidFill>
              <a:srgbClr val="E2E8F0"/>
            </a:solidFill>
            <a:prstDash val="solid"/>
          </a:ln>
          <a:effectLst>
            <a:outerShdw sx="100000" sy="100000" kx="0" ky="0" algn="bl" rotWithShape="0" blurRad="101600" dist="38100" dir="8100000">
              <a:srgbClr val="000000">
                <a:alpha val="12000"/>
              </a:srgbClr>
            </a:outerShdw>
          </a:effectLst>
        </p:spPr>
      </p:sp>
      <p:sp>
        <p:nvSpPr>
          <p:cNvPr id="13" name="Shape 10"/>
          <p:cNvSpPr/>
          <p:nvPr/>
        </p:nvSpPr>
        <p:spPr>
          <a:xfrm>
            <a:off x="1993392" y="960120"/>
            <a:ext cx="1572768" cy="502920"/>
          </a:xfrm>
          <a:prstGeom prst="rect">
            <a:avLst/>
          </a:prstGeom>
          <a:solidFill>
            <a:srgbClr val="7C3AED"/>
          </a:solidFill>
          <a:ln w="12700">
            <a:solidFill>
              <a:srgbClr val="7C3AED"/>
            </a:solidFill>
            <a:prstDash val="solid"/>
          </a:ln>
        </p:spPr>
      </p:sp>
      <p:sp>
        <p:nvSpPr>
          <p:cNvPr id="14" name="Text 11"/>
          <p:cNvSpPr/>
          <p:nvPr/>
        </p:nvSpPr>
        <p:spPr>
          <a:xfrm>
            <a:off x="1993392" y="960120"/>
            <a:ext cx="1572768"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A2</a:t>
            </a:r>
            <a:endParaRPr lang="en-US" sz="1600" dirty="0"/>
          </a:p>
        </p:txBody>
      </p:sp>
      <p:pic>
        <p:nvPicPr>
          <p:cNvPr id="15" name="Image 1" descr="preencoded.png">    </p:cNvPr>
          <p:cNvPicPr>
            <a:picLocks noChangeAspect="1"/>
          </p:cNvPicPr>
          <p:nvPr/>
        </p:nvPicPr>
        <p:blipFill>
          <a:blip r:embed="rId2"/>
          <a:stretch>
            <a:fillRect/>
          </a:stretch>
        </p:blipFill>
        <p:spPr>
          <a:xfrm>
            <a:off x="2505456" y="1600200"/>
            <a:ext cx="548640" cy="548640"/>
          </a:xfrm>
          <a:prstGeom prst="rect">
            <a:avLst/>
          </a:prstGeom>
        </p:spPr>
      </p:pic>
      <p:sp>
        <p:nvSpPr>
          <p:cNvPr id="16" name="Text 12"/>
          <p:cNvSpPr/>
          <p:nvPr/>
        </p:nvSpPr>
        <p:spPr>
          <a:xfrm>
            <a:off x="2048256" y="2240280"/>
            <a:ext cx="1463040" cy="685800"/>
          </a:xfrm>
          <a:prstGeom prst="rect">
            <a:avLst/>
          </a:prstGeom>
          <a:noFill/>
          <a:ln/>
        </p:spPr>
        <p:txBody>
          <a:bodyPr wrap="square" lIns="0" tIns="0" rIns="0" bIns="0" rtlCol="0" anchor="ctr"/>
          <a:lstStyle/>
          <a:p>
            <a:pPr algn="ctr" indent="0" marL="0">
              <a:buNone/>
            </a:pPr>
            <a:r>
              <a:rPr lang="en-US" sz="1200" b="1" dirty="0">
                <a:solidFill>
                  <a:srgbClr val="1E293B"/>
                </a:solidFill>
                <a:latin typeface="Calibri" pitchFamily="34" charset="0"/>
                <a:ea typeface="Calibri" pitchFamily="34" charset="-122"/>
                <a:cs typeface="Calibri" pitchFamily="34" charset="-120"/>
              </a:rPr>
              <a:t>Test</a:t>
            </a:r>
            <a:endParaRPr lang="en-US" sz="1200" dirty="0"/>
          </a:p>
          <a:p>
            <a:pPr algn="ctr" indent="0" marL="0">
              <a:buNone/>
            </a:pPr>
            <a:r>
              <a:rPr lang="en-US" sz="1200" b="1" dirty="0">
                <a:solidFill>
                  <a:srgbClr val="1E293B"/>
                </a:solidFill>
                <a:latin typeface="Calibri" pitchFamily="34" charset="0"/>
                <a:ea typeface="Calibri" pitchFamily="34" charset="-122"/>
                <a:cs typeface="Calibri" pitchFamily="34" charset="-120"/>
              </a:rPr>
              <a:t>Designer</a:t>
            </a:r>
            <a:endParaRPr lang="en-US" sz="1200" dirty="0"/>
          </a:p>
        </p:txBody>
      </p:sp>
      <p:sp>
        <p:nvSpPr>
          <p:cNvPr id="17" name="Text 13"/>
          <p:cNvSpPr/>
          <p:nvPr/>
        </p:nvSpPr>
        <p:spPr>
          <a:xfrm>
            <a:off x="2048256" y="2999232"/>
            <a:ext cx="1463040" cy="1463040"/>
          </a:xfrm>
          <a:prstGeom prst="rect">
            <a:avLst/>
          </a:prstGeom>
          <a:noFill/>
          <a:ln/>
        </p:spPr>
        <p:txBody>
          <a:bodyPr wrap="square" rtlCol="0" anchor="ctr"/>
          <a:lstStyle/>
          <a:p>
            <a:pPr algn="ctr" indent="0" marL="0">
              <a:buNone/>
            </a:pPr>
            <a:r>
              <a:rPr lang="en-US" sz="1050" dirty="0">
                <a:solidFill>
                  <a:srgbClr val="4A5568"/>
                </a:solidFill>
                <a:latin typeface="Calibri" pitchFamily="34" charset="0"/>
                <a:ea typeface="Calibri" pitchFamily="34" charset="-122"/>
                <a:cs typeface="Calibri" pitchFamily="34" charset="-120"/>
              </a:rPr>
              <a:t>Generates test cases</a:t>
            </a:r>
            <a:endParaRPr lang="en-US" sz="1050" dirty="0"/>
          </a:p>
          <a:p>
            <a:pPr algn="ctr" indent="0" marL="0">
              <a:buNone/>
            </a:pPr>
            <a:r>
              <a:rPr lang="en-US" sz="1050" dirty="0">
                <a:solidFill>
                  <a:srgbClr val="4A5568"/>
                </a:solidFill>
                <a:latin typeface="Calibri" pitchFamily="34" charset="0"/>
                <a:ea typeface="Calibri" pitchFamily="34" charset="-122"/>
                <a:cs typeface="Calibri" pitchFamily="34" charset="-120"/>
              </a:rPr>
              <a:t>+ preconditions</a:t>
            </a:r>
            <a:endParaRPr lang="en-US" sz="1050" dirty="0"/>
          </a:p>
          <a:p>
            <a:pPr algn="ctr" indent="0" marL="0">
              <a:buNone/>
            </a:pPr>
            <a:r>
              <a:rPr lang="en-US" sz="1050" dirty="0">
                <a:solidFill>
                  <a:srgbClr val="4A5568"/>
                </a:solidFill>
                <a:latin typeface="Calibri" pitchFamily="34" charset="0"/>
                <a:ea typeface="Calibri" pitchFamily="34" charset="-122"/>
                <a:cs typeface="Calibri" pitchFamily="34" charset="-120"/>
              </a:rPr>
              <a:t>structured output</a:t>
            </a:r>
            <a:endParaRPr lang="en-US" sz="1050" dirty="0"/>
          </a:p>
        </p:txBody>
      </p:sp>
      <p:sp>
        <p:nvSpPr>
          <p:cNvPr id="18" name="Text 14"/>
          <p:cNvSpPr/>
          <p:nvPr/>
        </p:nvSpPr>
        <p:spPr>
          <a:xfrm>
            <a:off x="3566160" y="2606040"/>
            <a:ext cx="164592" cy="365760"/>
          </a:xfrm>
          <a:prstGeom prst="rect">
            <a:avLst/>
          </a:prstGeom>
          <a:noFill/>
          <a:ln/>
        </p:spPr>
        <p:txBody>
          <a:bodyPr wrap="square" rtlCol="0" anchor="ctr"/>
          <a:lstStyle/>
          <a:p>
            <a:pPr algn="ctr" indent="0" marL="0">
              <a:buNone/>
            </a:pPr>
            <a:r>
              <a:rPr lang="en-US" sz="1100" b="1" dirty="0">
                <a:solidFill>
                  <a:srgbClr val="02C39A"/>
                </a:solidFill>
                <a:latin typeface="Calibri" pitchFamily="34" charset="0"/>
                <a:ea typeface="Calibri" pitchFamily="34" charset="-122"/>
                <a:cs typeface="Calibri" pitchFamily="34" charset="-120"/>
              </a:rPr>
              <a:t>→</a:t>
            </a:r>
            <a:endParaRPr lang="en-US" sz="1100" dirty="0"/>
          </a:p>
        </p:txBody>
      </p:sp>
      <p:sp>
        <p:nvSpPr>
          <p:cNvPr id="19" name="Shape 15"/>
          <p:cNvSpPr/>
          <p:nvPr/>
        </p:nvSpPr>
        <p:spPr>
          <a:xfrm>
            <a:off x="3730752" y="960120"/>
            <a:ext cx="1572768" cy="3703320"/>
          </a:xfrm>
          <a:prstGeom prst="rect">
            <a:avLst/>
          </a:prstGeom>
          <a:solidFill>
            <a:srgbClr val="FFFFFF"/>
          </a:solidFill>
          <a:ln w="12700">
            <a:solidFill>
              <a:srgbClr val="E2E8F0"/>
            </a:solidFill>
            <a:prstDash val="solid"/>
          </a:ln>
          <a:effectLst>
            <a:outerShdw sx="100000" sy="100000" kx="0" ky="0" algn="bl" rotWithShape="0" blurRad="101600" dist="38100" dir="8100000">
              <a:srgbClr val="000000">
                <a:alpha val="12000"/>
              </a:srgbClr>
            </a:outerShdw>
          </a:effectLst>
        </p:spPr>
      </p:sp>
      <p:sp>
        <p:nvSpPr>
          <p:cNvPr id="20" name="Shape 16"/>
          <p:cNvSpPr/>
          <p:nvPr/>
        </p:nvSpPr>
        <p:spPr>
          <a:xfrm>
            <a:off x="3730752" y="960120"/>
            <a:ext cx="1572768" cy="502920"/>
          </a:xfrm>
          <a:prstGeom prst="rect">
            <a:avLst/>
          </a:prstGeom>
          <a:solidFill>
            <a:srgbClr val="1C7293"/>
          </a:solidFill>
          <a:ln w="12700">
            <a:solidFill>
              <a:srgbClr val="1C7293"/>
            </a:solidFill>
            <a:prstDash val="solid"/>
          </a:ln>
        </p:spPr>
      </p:sp>
      <p:sp>
        <p:nvSpPr>
          <p:cNvPr id="21" name="Text 17"/>
          <p:cNvSpPr/>
          <p:nvPr/>
        </p:nvSpPr>
        <p:spPr>
          <a:xfrm>
            <a:off x="3730752" y="960120"/>
            <a:ext cx="1572768"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A3</a:t>
            </a:r>
            <a:endParaRPr lang="en-US" sz="1600" dirty="0"/>
          </a:p>
        </p:txBody>
      </p:sp>
      <p:pic>
        <p:nvPicPr>
          <p:cNvPr id="22" name="Image 2" descr="preencoded.png">    </p:cNvPr>
          <p:cNvPicPr>
            <a:picLocks noChangeAspect="1"/>
          </p:cNvPicPr>
          <p:nvPr/>
        </p:nvPicPr>
        <p:blipFill>
          <a:blip r:embed="rId3"/>
          <a:stretch>
            <a:fillRect/>
          </a:stretch>
        </p:blipFill>
        <p:spPr>
          <a:xfrm>
            <a:off x="4242816" y="1600200"/>
            <a:ext cx="548640" cy="548640"/>
          </a:xfrm>
          <a:prstGeom prst="rect">
            <a:avLst/>
          </a:prstGeom>
        </p:spPr>
      </p:pic>
      <p:sp>
        <p:nvSpPr>
          <p:cNvPr id="23" name="Text 18"/>
          <p:cNvSpPr/>
          <p:nvPr/>
        </p:nvSpPr>
        <p:spPr>
          <a:xfrm>
            <a:off x="3785616" y="2240280"/>
            <a:ext cx="1463040" cy="685800"/>
          </a:xfrm>
          <a:prstGeom prst="rect">
            <a:avLst/>
          </a:prstGeom>
          <a:noFill/>
          <a:ln/>
        </p:spPr>
        <p:txBody>
          <a:bodyPr wrap="square" lIns="0" tIns="0" rIns="0" bIns="0" rtlCol="0" anchor="ctr"/>
          <a:lstStyle/>
          <a:p>
            <a:pPr algn="ctr" indent="0" marL="0">
              <a:buNone/>
            </a:pPr>
            <a:r>
              <a:rPr lang="en-US" sz="1200" b="1" dirty="0">
                <a:solidFill>
                  <a:srgbClr val="1E293B"/>
                </a:solidFill>
                <a:latin typeface="Calibri" pitchFamily="34" charset="0"/>
                <a:ea typeface="Calibri" pitchFamily="34" charset="-122"/>
                <a:cs typeface="Calibri" pitchFamily="34" charset="-120"/>
              </a:rPr>
              <a:t>Risk</a:t>
            </a:r>
            <a:endParaRPr lang="en-US" sz="1200" dirty="0"/>
          </a:p>
          <a:p>
            <a:pPr algn="ctr" indent="0" marL="0">
              <a:buNone/>
            </a:pPr>
            <a:r>
              <a:rPr lang="en-US" sz="1200" b="1" dirty="0">
                <a:solidFill>
                  <a:srgbClr val="1E293B"/>
                </a:solidFill>
                <a:latin typeface="Calibri" pitchFamily="34" charset="0"/>
                <a:ea typeface="Calibri" pitchFamily="34" charset="-122"/>
                <a:cs typeface="Calibri" pitchFamily="34" charset="-120"/>
              </a:rPr>
              <a:t>Analyst</a:t>
            </a:r>
            <a:endParaRPr lang="en-US" sz="1200" dirty="0"/>
          </a:p>
        </p:txBody>
      </p:sp>
      <p:sp>
        <p:nvSpPr>
          <p:cNvPr id="24" name="Text 19"/>
          <p:cNvSpPr/>
          <p:nvPr/>
        </p:nvSpPr>
        <p:spPr>
          <a:xfrm>
            <a:off x="3785616" y="2999232"/>
            <a:ext cx="1463040" cy="1463040"/>
          </a:xfrm>
          <a:prstGeom prst="rect">
            <a:avLst/>
          </a:prstGeom>
          <a:noFill/>
          <a:ln/>
        </p:spPr>
        <p:txBody>
          <a:bodyPr wrap="square" rtlCol="0" anchor="ctr"/>
          <a:lstStyle/>
          <a:p>
            <a:pPr algn="ctr" indent="0" marL="0">
              <a:buNone/>
            </a:pPr>
            <a:r>
              <a:rPr lang="en-US" sz="1050" dirty="0">
                <a:solidFill>
                  <a:srgbClr val="4A5568"/>
                </a:solidFill>
                <a:latin typeface="Calibri" pitchFamily="34" charset="0"/>
                <a:ea typeface="Calibri" pitchFamily="34" charset="-122"/>
                <a:cs typeface="Calibri" pitchFamily="34" charset="-120"/>
              </a:rPr>
              <a:t>Identifies risks</a:t>
            </a:r>
            <a:endParaRPr lang="en-US" sz="1050" dirty="0"/>
          </a:p>
          <a:p>
            <a:pPr algn="ctr" indent="0" marL="0">
              <a:buNone/>
            </a:pPr>
            <a:r>
              <a:rPr lang="en-US" sz="1050" dirty="0">
                <a:solidFill>
                  <a:srgbClr val="4A5568"/>
                </a:solidFill>
                <a:latin typeface="Calibri" pitchFamily="34" charset="0"/>
                <a:ea typeface="Calibri" pitchFamily="34" charset="-122"/>
                <a:cs typeface="Calibri" pitchFamily="34" charset="-120"/>
              </a:rPr>
              <a:t>edge cases</a:t>
            </a:r>
            <a:endParaRPr lang="en-US" sz="1050" dirty="0"/>
          </a:p>
          <a:p>
            <a:pPr algn="ctr" indent="0" marL="0">
              <a:buNone/>
            </a:pPr>
            <a:r>
              <a:rPr lang="en-US" sz="1050" dirty="0">
                <a:solidFill>
                  <a:srgbClr val="4A5568"/>
                </a:solidFill>
                <a:latin typeface="Calibri" pitchFamily="34" charset="0"/>
                <a:ea typeface="Calibri" pitchFamily="34" charset="-122"/>
                <a:cs typeface="Calibri" pitchFamily="34" charset="-120"/>
              </a:rPr>
              <a:t>coverage gaps</a:t>
            </a:r>
            <a:endParaRPr lang="en-US" sz="1050" dirty="0"/>
          </a:p>
        </p:txBody>
      </p:sp>
      <p:sp>
        <p:nvSpPr>
          <p:cNvPr id="25" name="Text 20"/>
          <p:cNvSpPr/>
          <p:nvPr/>
        </p:nvSpPr>
        <p:spPr>
          <a:xfrm>
            <a:off x="5303520" y="2606040"/>
            <a:ext cx="164592" cy="365760"/>
          </a:xfrm>
          <a:prstGeom prst="rect">
            <a:avLst/>
          </a:prstGeom>
          <a:noFill/>
          <a:ln/>
        </p:spPr>
        <p:txBody>
          <a:bodyPr wrap="square" rtlCol="0" anchor="ctr"/>
          <a:lstStyle/>
          <a:p>
            <a:pPr algn="ctr" indent="0" marL="0">
              <a:buNone/>
            </a:pPr>
            <a:r>
              <a:rPr lang="en-US" sz="1100" b="1" dirty="0">
                <a:solidFill>
                  <a:srgbClr val="02C39A"/>
                </a:solidFill>
                <a:latin typeface="Calibri" pitchFamily="34" charset="0"/>
                <a:ea typeface="Calibri" pitchFamily="34" charset="-122"/>
                <a:cs typeface="Calibri" pitchFamily="34" charset="-120"/>
              </a:rPr>
              <a:t>→</a:t>
            </a:r>
            <a:endParaRPr lang="en-US" sz="1100" dirty="0"/>
          </a:p>
        </p:txBody>
      </p:sp>
      <p:sp>
        <p:nvSpPr>
          <p:cNvPr id="26" name="Shape 21"/>
          <p:cNvSpPr/>
          <p:nvPr/>
        </p:nvSpPr>
        <p:spPr>
          <a:xfrm>
            <a:off x="5468112" y="960120"/>
            <a:ext cx="1572768" cy="3703320"/>
          </a:xfrm>
          <a:prstGeom prst="rect">
            <a:avLst/>
          </a:prstGeom>
          <a:solidFill>
            <a:srgbClr val="FFFFFF"/>
          </a:solidFill>
          <a:ln w="12700">
            <a:solidFill>
              <a:srgbClr val="E2E8F0"/>
            </a:solidFill>
            <a:prstDash val="solid"/>
          </a:ln>
          <a:effectLst>
            <a:outerShdw sx="100000" sy="100000" kx="0" ky="0" algn="bl" rotWithShape="0" blurRad="101600" dist="38100" dir="8100000">
              <a:srgbClr val="000000">
                <a:alpha val="12000"/>
              </a:srgbClr>
            </a:outerShdw>
          </a:effectLst>
        </p:spPr>
      </p:sp>
      <p:sp>
        <p:nvSpPr>
          <p:cNvPr id="27" name="Shape 22"/>
          <p:cNvSpPr/>
          <p:nvPr/>
        </p:nvSpPr>
        <p:spPr>
          <a:xfrm>
            <a:off x="5468112" y="960120"/>
            <a:ext cx="1572768" cy="502920"/>
          </a:xfrm>
          <a:prstGeom prst="rect">
            <a:avLst/>
          </a:prstGeom>
          <a:solidFill>
            <a:srgbClr val="D97706"/>
          </a:solidFill>
          <a:ln w="12700">
            <a:solidFill>
              <a:srgbClr val="D97706"/>
            </a:solidFill>
            <a:prstDash val="solid"/>
          </a:ln>
        </p:spPr>
      </p:sp>
      <p:sp>
        <p:nvSpPr>
          <p:cNvPr id="28" name="Text 23"/>
          <p:cNvSpPr/>
          <p:nvPr/>
        </p:nvSpPr>
        <p:spPr>
          <a:xfrm>
            <a:off x="5468112" y="960120"/>
            <a:ext cx="1572768"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A4</a:t>
            </a:r>
            <a:endParaRPr lang="en-US" sz="1600" dirty="0"/>
          </a:p>
        </p:txBody>
      </p:sp>
      <p:pic>
        <p:nvPicPr>
          <p:cNvPr id="29" name="Image 3" descr="preencoded.png">    </p:cNvPr>
          <p:cNvPicPr>
            <a:picLocks noChangeAspect="1"/>
          </p:cNvPicPr>
          <p:nvPr/>
        </p:nvPicPr>
        <p:blipFill>
          <a:blip r:embed="rId4"/>
          <a:stretch>
            <a:fillRect/>
          </a:stretch>
        </p:blipFill>
        <p:spPr>
          <a:xfrm>
            <a:off x="5980176" y="1600200"/>
            <a:ext cx="548640" cy="548640"/>
          </a:xfrm>
          <a:prstGeom prst="rect">
            <a:avLst/>
          </a:prstGeom>
        </p:spPr>
      </p:pic>
      <p:sp>
        <p:nvSpPr>
          <p:cNvPr id="30" name="Text 24"/>
          <p:cNvSpPr/>
          <p:nvPr/>
        </p:nvSpPr>
        <p:spPr>
          <a:xfrm>
            <a:off x="5522976" y="2240280"/>
            <a:ext cx="1463040" cy="685800"/>
          </a:xfrm>
          <a:prstGeom prst="rect">
            <a:avLst/>
          </a:prstGeom>
          <a:noFill/>
          <a:ln/>
        </p:spPr>
        <p:txBody>
          <a:bodyPr wrap="square" lIns="0" tIns="0" rIns="0" bIns="0" rtlCol="0" anchor="ctr"/>
          <a:lstStyle/>
          <a:p>
            <a:pPr algn="ctr" indent="0" marL="0">
              <a:buNone/>
            </a:pPr>
            <a:r>
              <a:rPr lang="en-US" sz="1200" b="1" dirty="0">
                <a:solidFill>
                  <a:srgbClr val="1E293B"/>
                </a:solidFill>
                <a:latin typeface="Calibri" pitchFamily="34" charset="0"/>
                <a:ea typeface="Calibri" pitchFamily="34" charset="-122"/>
                <a:cs typeface="Calibri" pitchFamily="34" charset="-120"/>
              </a:rPr>
              <a:t>Test</a:t>
            </a:r>
            <a:endParaRPr lang="en-US" sz="1200" dirty="0"/>
          </a:p>
          <a:p>
            <a:pPr algn="ctr" indent="0" marL="0">
              <a:buNone/>
            </a:pPr>
            <a:r>
              <a:rPr lang="en-US" sz="1200" b="1" dirty="0">
                <a:solidFill>
                  <a:srgbClr val="1E293B"/>
                </a:solidFill>
                <a:latin typeface="Calibri" pitchFamily="34" charset="0"/>
                <a:ea typeface="Calibri" pitchFamily="34" charset="-122"/>
                <a:cs typeface="Calibri" pitchFamily="34" charset="-120"/>
              </a:rPr>
              <a:t>Executor</a:t>
            </a:r>
            <a:endParaRPr lang="en-US" sz="1200" dirty="0"/>
          </a:p>
        </p:txBody>
      </p:sp>
      <p:sp>
        <p:nvSpPr>
          <p:cNvPr id="31" name="Text 25"/>
          <p:cNvSpPr/>
          <p:nvPr/>
        </p:nvSpPr>
        <p:spPr>
          <a:xfrm>
            <a:off x="5522976" y="2999232"/>
            <a:ext cx="1463040" cy="1463040"/>
          </a:xfrm>
          <a:prstGeom prst="rect">
            <a:avLst/>
          </a:prstGeom>
          <a:noFill/>
          <a:ln/>
        </p:spPr>
        <p:txBody>
          <a:bodyPr wrap="square" rtlCol="0" anchor="ctr"/>
          <a:lstStyle/>
          <a:p>
            <a:pPr algn="ctr" indent="0" marL="0">
              <a:buNone/>
            </a:pPr>
            <a:r>
              <a:rPr lang="en-US" sz="1050" dirty="0">
                <a:solidFill>
                  <a:srgbClr val="4A5568"/>
                </a:solidFill>
                <a:latin typeface="Calibri" pitchFamily="34" charset="0"/>
                <a:ea typeface="Calibri" pitchFamily="34" charset="-122"/>
                <a:cs typeface="Calibri" pitchFamily="34" charset="-120"/>
              </a:rPr>
              <a:t>Triggers test suite</a:t>
            </a:r>
            <a:endParaRPr lang="en-US" sz="1050" dirty="0"/>
          </a:p>
          <a:p>
            <a:pPr algn="ctr" indent="0" marL="0">
              <a:buNone/>
            </a:pPr>
            <a:r>
              <a:rPr lang="en-US" sz="1050" dirty="0">
                <a:solidFill>
                  <a:srgbClr val="4A5568"/>
                </a:solidFill>
                <a:latin typeface="Calibri" pitchFamily="34" charset="0"/>
                <a:ea typeface="Calibri" pitchFamily="34" charset="-122"/>
                <a:cs typeface="Calibri" pitchFamily="34" charset="-120"/>
              </a:rPr>
              <a:t>collects results</a:t>
            </a:r>
            <a:endParaRPr lang="en-US" sz="1050" dirty="0"/>
          </a:p>
          <a:p>
            <a:pPr algn="ctr" indent="0" marL="0">
              <a:buNone/>
            </a:pPr>
            <a:r>
              <a:rPr lang="en-US" sz="1050" dirty="0">
                <a:solidFill>
                  <a:srgbClr val="4A5568"/>
                </a:solidFill>
                <a:latin typeface="Calibri" pitchFamily="34" charset="0"/>
                <a:ea typeface="Calibri" pitchFamily="34" charset="-122"/>
                <a:cs typeface="Calibri" pitchFamily="34" charset="-120"/>
              </a:rPr>
              <a:t>PASS/FAIL/SKIP</a:t>
            </a:r>
            <a:endParaRPr lang="en-US" sz="1050" dirty="0"/>
          </a:p>
        </p:txBody>
      </p:sp>
      <p:sp>
        <p:nvSpPr>
          <p:cNvPr id="32" name="Text 26"/>
          <p:cNvSpPr/>
          <p:nvPr/>
        </p:nvSpPr>
        <p:spPr>
          <a:xfrm>
            <a:off x="7040880" y="2606040"/>
            <a:ext cx="164592" cy="365760"/>
          </a:xfrm>
          <a:prstGeom prst="rect">
            <a:avLst/>
          </a:prstGeom>
          <a:noFill/>
          <a:ln/>
        </p:spPr>
        <p:txBody>
          <a:bodyPr wrap="square" rtlCol="0" anchor="ctr"/>
          <a:lstStyle/>
          <a:p>
            <a:pPr algn="ctr" indent="0" marL="0">
              <a:buNone/>
            </a:pPr>
            <a:r>
              <a:rPr lang="en-US" sz="1100" b="1" dirty="0">
                <a:solidFill>
                  <a:srgbClr val="02C39A"/>
                </a:solidFill>
                <a:latin typeface="Calibri" pitchFamily="34" charset="0"/>
                <a:ea typeface="Calibri" pitchFamily="34" charset="-122"/>
                <a:cs typeface="Calibri" pitchFamily="34" charset="-120"/>
              </a:rPr>
              <a:t>→</a:t>
            </a:r>
            <a:endParaRPr lang="en-US" sz="1100" dirty="0"/>
          </a:p>
        </p:txBody>
      </p:sp>
      <p:sp>
        <p:nvSpPr>
          <p:cNvPr id="33" name="Shape 27"/>
          <p:cNvSpPr/>
          <p:nvPr/>
        </p:nvSpPr>
        <p:spPr>
          <a:xfrm>
            <a:off x="7205472" y="960120"/>
            <a:ext cx="1572768" cy="3703320"/>
          </a:xfrm>
          <a:prstGeom prst="rect">
            <a:avLst/>
          </a:prstGeom>
          <a:solidFill>
            <a:srgbClr val="FFFFFF"/>
          </a:solidFill>
          <a:ln w="12700">
            <a:solidFill>
              <a:srgbClr val="E2E8F0"/>
            </a:solidFill>
            <a:prstDash val="solid"/>
          </a:ln>
          <a:effectLst>
            <a:outerShdw sx="100000" sy="100000" kx="0" ky="0" algn="bl" rotWithShape="0" blurRad="101600" dist="38100" dir="8100000">
              <a:srgbClr val="000000">
                <a:alpha val="12000"/>
              </a:srgbClr>
            </a:outerShdw>
          </a:effectLst>
        </p:spPr>
      </p:sp>
      <p:sp>
        <p:nvSpPr>
          <p:cNvPr id="34" name="Shape 28"/>
          <p:cNvSpPr/>
          <p:nvPr/>
        </p:nvSpPr>
        <p:spPr>
          <a:xfrm>
            <a:off x="7205472" y="960120"/>
            <a:ext cx="1572768" cy="502920"/>
          </a:xfrm>
          <a:prstGeom prst="rect">
            <a:avLst/>
          </a:prstGeom>
          <a:solidFill>
            <a:srgbClr val="16A34A"/>
          </a:solidFill>
          <a:ln w="12700">
            <a:solidFill>
              <a:srgbClr val="16A34A"/>
            </a:solidFill>
            <a:prstDash val="solid"/>
          </a:ln>
        </p:spPr>
      </p:sp>
      <p:sp>
        <p:nvSpPr>
          <p:cNvPr id="35" name="Text 29"/>
          <p:cNvSpPr/>
          <p:nvPr/>
        </p:nvSpPr>
        <p:spPr>
          <a:xfrm>
            <a:off x="7205472" y="960120"/>
            <a:ext cx="1572768"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A5</a:t>
            </a:r>
            <a:endParaRPr lang="en-US" sz="1600" dirty="0"/>
          </a:p>
        </p:txBody>
      </p:sp>
      <p:pic>
        <p:nvPicPr>
          <p:cNvPr id="36" name="Image 4" descr="preencoded.png">    </p:cNvPr>
          <p:cNvPicPr>
            <a:picLocks noChangeAspect="1"/>
          </p:cNvPicPr>
          <p:nvPr/>
        </p:nvPicPr>
        <p:blipFill>
          <a:blip r:embed="rId5"/>
          <a:stretch>
            <a:fillRect/>
          </a:stretch>
        </p:blipFill>
        <p:spPr>
          <a:xfrm>
            <a:off x="7717536" y="1600200"/>
            <a:ext cx="548640" cy="548640"/>
          </a:xfrm>
          <a:prstGeom prst="rect">
            <a:avLst/>
          </a:prstGeom>
        </p:spPr>
      </p:pic>
      <p:sp>
        <p:nvSpPr>
          <p:cNvPr id="37" name="Text 30"/>
          <p:cNvSpPr/>
          <p:nvPr/>
        </p:nvSpPr>
        <p:spPr>
          <a:xfrm>
            <a:off x="7260336" y="2240280"/>
            <a:ext cx="1463040" cy="685800"/>
          </a:xfrm>
          <a:prstGeom prst="rect">
            <a:avLst/>
          </a:prstGeom>
          <a:noFill/>
          <a:ln/>
        </p:spPr>
        <p:txBody>
          <a:bodyPr wrap="square" lIns="0" tIns="0" rIns="0" bIns="0" rtlCol="0" anchor="ctr"/>
          <a:lstStyle/>
          <a:p>
            <a:pPr algn="ctr" indent="0" marL="0">
              <a:buNone/>
            </a:pPr>
            <a:r>
              <a:rPr lang="en-US" sz="1200" b="1" dirty="0">
                <a:solidFill>
                  <a:srgbClr val="1E293B"/>
                </a:solidFill>
                <a:latin typeface="Calibri" pitchFamily="34" charset="0"/>
                <a:ea typeface="Calibri" pitchFamily="34" charset="-122"/>
                <a:cs typeface="Calibri" pitchFamily="34" charset="-120"/>
              </a:rPr>
              <a:t>Polarion</a:t>
            </a:r>
            <a:endParaRPr lang="en-US" sz="1200" dirty="0"/>
          </a:p>
          <a:p>
            <a:pPr algn="ctr" indent="0" marL="0">
              <a:buNone/>
            </a:pPr>
            <a:r>
              <a:rPr lang="en-US" sz="1200" b="1" dirty="0">
                <a:solidFill>
                  <a:srgbClr val="1E293B"/>
                </a:solidFill>
                <a:latin typeface="Calibri" pitchFamily="34" charset="0"/>
                <a:ea typeface="Calibri" pitchFamily="34" charset="-122"/>
                <a:cs typeface="Calibri" pitchFamily="34" charset="-120"/>
              </a:rPr>
              <a:t>Updater</a:t>
            </a:r>
            <a:endParaRPr lang="en-US" sz="1200" dirty="0"/>
          </a:p>
        </p:txBody>
      </p:sp>
      <p:sp>
        <p:nvSpPr>
          <p:cNvPr id="38" name="Text 31"/>
          <p:cNvSpPr/>
          <p:nvPr/>
        </p:nvSpPr>
        <p:spPr>
          <a:xfrm>
            <a:off x="7260336" y="2999232"/>
            <a:ext cx="1463040" cy="1463040"/>
          </a:xfrm>
          <a:prstGeom prst="rect">
            <a:avLst/>
          </a:prstGeom>
          <a:noFill/>
          <a:ln/>
        </p:spPr>
        <p:txBody>
          <a:bodyPr wrap="square" rtlCol="0" anchor="ctr"/>
          <a:lstStyle/>
          <a:p>
            <a:pPr algn="ctr" indent="0" marL="0">
              <a:buNone/>
            </a:pPr>
            <a:r>
              <a:rPr lang="en-US" sz="1050" dirty="0">
                <a:solidFill>
                  <a:srgbClr val="4A5568"/>
                </a:solidFill>
                <a:latin typeface="Calibri" pitchFamily="34" charset="0"/>
                <a:ea typeface="Calibri" pitchFamily="34" charset="-122"/>
                <a:cs typeface="Calibri" pitchFamily="34" charset="-120"/>
              </a:rPr>
              <a:t>Creates Test Run</a:t>
            </a:r>
            <a:endParaRPr lang="en-US" sz="1050" dirty="0"/>
          </a:p>
          <a:p>
            <a:pPr algn="ctr" indent="0" marL="0">
              <a:buNone/>
            </a:pPr>
            <a:r>
              <a:rPr lang="en-US" sz="1050" dirty="0">
                <a:solidFill>
                  <a:srgbClr val="4A5568"/>
                </a:solidFill>
                <a:latin typeface="Calibri" pitchFamily="34" charset="0"/>
                <a:ea typeface="Calibri" pitchFamily="34" charset="-122"/>
                <a:cs typeface="Calibri" pitchFamily="34" charset="-120"/>
              </a:rPr>
              <a:t>links evidence</a:t>
            </a:r>
            <a:endParaRPr lang="en-US" sz="1050" dirty="0"/>
          </a:p>
          <a:p>
            <a:pPr algn="ctr" indent="0" marL="0">
              <a:buNone/>
            </a:pPr>
            <a:r>
              <a:rPr lang="en-US" sz="1050" dirty="0">
                <a:solidFill>
                  <a:srgbClr val="4A5568"/>
                </a:solidFill>
                <a:latin typeface="Calibri" pitchFamily="34" charset="0"/>
                <a:ea typeface="Calibri" pitchFamily="34" charset="-122"/>
                <a:cs typeface="Calibri" pitchFamily="34" charset="-120"/>
              </a:rPr>
              <a:t>adds comments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0" y="0"/>
            <a:ext cx="91440" cy="5143500"/>
          </a:xfrm>
          <a:prstGeom prst="rect">
            <a:avLst/>
          </a:prstGeom>
          <a:solidFill>
            <a:srgbClr val="02C39A"/>
          </a:solidFill>
          <a:ln w="12700">
            <a:solidFill>
              <a:srgbClr val="02C39A"/>
            </a:solidFill>
            <a:prstDash val="solid"/>
          </a:ln>
        </p:spPr>
      </p:sp>
      <p:sp>
        <p:nvSpPr>
          <p:cNvPr id="3" name="Text 1"/>
          <p:cNvSpPr/>
          <p:nvPr/>
        </p:nvSpPr>
        <p:spPr>
          <a:xfrm>
            <a:off x="256032" y="164592"/>
            <a:ext cx="8595360" cy="502920"/>
          </a:xfrm>
          <a:prstGeom prst="rect">
            <a:avLst/>
          </a:prstGeom>
          <a:noFill/>
          <a:ln/>
        </p:spPr>
        <p:txBody>
          <a:bodyPr wrap="square" lIns="0" tIns="0" rIns="0" bIns="0" rtlCol="0" anchor="ctr"/>
          <a:lstStyle/>
          <a:p>
            <a:pPr indent="0" marL="0">
              <a:buNone/>
            </a:pPr>
            <a:r>
              <a:rPr lang="en-US" sz="2600" b="1" dirty="0">
                <a:solidFill>
                  <a:srgbClr val="1E293B"/>
                </a:solidFill>
                <a:latin typeface="Calibri" pitchFamily="34" charset="0"/>
                <a:ea typeface="Calibri" pitchFamily="34" charset="-122"/>
                <a:cs typeface="Calibri" pitchFamily="34" charset="-120"/>
              </a:rPr>
              <a:t>End-to-End Flow — One Command, Complete Loop</a:t>
            </a:r>
            <a:endParaRPr lang="en-US" sz="2600" dirty="0"/>
          </a:p>
        </p:txBody>
      </p:sp>
      <p:sp>
        <p:nvSpPr>
          <p:cNvPr id="4" name="Shape 2"/>
          <p:cNvSpPr/>
          <p:nvPr/>
        </p:nvSpPr>
        <p:spPr>
          <a:xfrm>
            <a:off x="256032" y="731520"/>
            <a:ext cx="8595360" cy="27432"/>
          </a:xfrm>
          <a:prstGeom prst="rect">
            <a:avLst/>
          </a:prstGeom>
          <a:solidFill>
            <a:srgbClr val="E2E8F0"/>
          </a:solidFill>
          <a:ln w="12700">
            <a:solidFill>
              <a:srgbClr val="E2E8F0"/>
            </a:solidFill>
            <a:prstDash val="solid"/>
          </a:ln>
        </p:spPr>
      </p:sp>
      <p:sp>
        <p:nvSpPr>
          <p:cNvPr id="5" name="Shape 3"/>
          <p:cNvSpPr/>
          <p:nvPr/>
        </p:nvSpPr>
        <p:spPr>
          <a:xfrm>
            <a:off x="342900" y="1325880"/>
            <a:ext cx="1234440" cy="1737360"/>
          </a:xfrm>
          <a:prstGeom prst="rect">
            <a:avLst/>
          </a:prstGeom>
          <a:solidFill>
            <a:srgbClr val="0D1B2A"/>
          </a:solidFill>
          <a:ln w="12700">
            <a:solidFill>
              <a:srgbClr val="0D1B2A"/>
            </a:solidFill>
            <a:prstDash val="solid"/>
          </a:ln>
          <a:effectLst>
            <a:outerShdw sx="100000" sy="100000" kx="0" ky="0" algn="bl" rotWithShape="0" blurRad="101600" dist="38100" dir="8100000">
              <a:srgbClr val="000000">
                <a:alpha val="12000"/>
              </a:srgbClr>
            </a:outerShdw>
          </a:effectLst>
        </p:spPr>
      </p:sp>
      <p:sp>
        <p:nvSpPr>
          <p:cNvPr id="6" name="Text 4"/>
          <p:cNvSpPr/>
          <p:nvPr/>
        </p:nvSpPr>
        <p:spPr>
          <a:xfrm>
            <a:off x="342900" y="1417320"/>
            <a:ext cx="1234440" cy="914400"/>
          </a:xfrm>
          <a:prstGeom prst="rect">
            <a:avLst/>
          </a:prstGeom>
          <a:noFill/>
          <a:ln/>
        </p:spPr>
        <p:txBody>
          <a:bodyPr wrap="square"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One</a:t>
            </a:r>
            <a:endParaRPr lang="en-US" sz="1150" dirty="0"/>
          </a:p>
          <a:p>
            <a:pPr algn="ctr" indent="0" marL="0">
              <a:buNone/>
            </a:pPr>
            <a:r>
              <a:rPr lang="en-US" sz="1150" b="1" dirty="0">
                <a:solidFill>
                  <a:srgbClr val="FFFFFF"/>
                </a:solidFill>
                <a:latin typeface="Calibri" pitchFamily="34" charset="0"/>
                <a:ea typeface="Calibri" pitchFamily="34" charset="-122"/>
                <a:cs typeface="Calibri" pitchFamily="34" charset="-120"/>
              </a:rPr>
              <a:t>Command</a:t>
            </a:r>
            <a:endParaRPr lang="en-US" sz="1150" dirty="0"/>
          </a:p>
        </p:txBody>
      </p:sp>
      <p:sp>
        <p:nvSpPr>
          <p:cNvPr id="7" name="Text 5"/>
          <p:cNvSpPr/>
          <p:nvPr/>
        </p:nvSpPr>
        <p:spPr>
          <a:xfrm>
            <a:off x="342900" y="2514600"/>
            <a:ext cx="1234440" cy="384048"/>
          </a:xfrm>
          <a:prstGeom prst="rect">
            <a:avLst/>
          </a:prstGeom>
          <a:noFill/>
          <a:ln/>
        </p:spPr>
        <p:txBody>
          <a:bodyPr wrap="square" rtlCol="0" anchor="ctr"/>
          <a:lstStyle/>
          <a:p>
            <a:pPr algn="ctr" indent="0" marL="0">
              <a:buNone/>
            </a:pPr>
            <a:r>
              <a:rPr lang="en-US" sz="900" dirty="0">
                <a:solidFill>
                  <a:srgbClr val="C8E0F0"/>
                </a:solidFill>
                <a:latin typeface="Calibri" pitchFamily="34" charset="0"/>
                <a:ea typeface="Calibri" pitchFamily="34" charset="-122"/>
                <a:cs typeface="Calibri" pitchFamily="34" charset="-120"/>
              </a:rPr>
              <a:t>Req ID input</a:t>
            </a:r>
            <a:endParaRPr lang="en-US" sz="900" dirty="0"/>
          </a:p>
        </p:txBody>
      </p:sp>
      <p:sp>
        <p:nvSpPr>
          <p:cNvPr id="8" name="Shape 6"/>
          <p:cNvSpPr/>
          <p:nvPr/>
        </p:nvSpPr>
        <p:spPr>
          <a:xfrm>
            <a:off x="758952" y="1024128"/>
            <a:ext cx="402336" cy="402336"/>
          </a:xfrm>
          <a:prstGeom prst="ellipse">
            <a:avLst/>
          </a:prstGeom>
          <a:solidFill>
            <a:srgbClr val="0D1B2A"/>
          </a:solidFill>
          <a:ln w="25400">
            <a:solidFill>
              <a:srgbClr val="FFFFFF"/>
            </a:solidFill>
            <a:prstDash val="solid"/>
          </a:ln>
        </p:spPr>
      </p:sp>
      <p:sp>
        <p:nvSpPr>
          <p:cNvPr id="9" name="Text 7"/>
          <p:cNvSpPr/>
          <p:nvPr/>
        </p:nvSpPr>
        <p:spPr>
          <a:xfrm>
            <a:off x="758952" y="1024128"/>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8"/>
          <p:cNvSpPr/>
          <p:nvPr/>
        </p:nvSpPr>
        <p:spPr>
          <a:xfrm>
            <a:off x="1577340" y="1920240"/>
            <a:ext cx="210312" cy="384048"/>
          </a:xfrm>
          <a:prstGeom prst="rect">
            <a:avLst/>
          </a:prstGeom>
          <a:noFill/>
          <a:ln/>
        </p:spPr>
        <p:txBody>
          <a:bodyPr wrap="square" rtlCol="0" anchor="ctr"/>
          <a:lstStyle/>
          <a:p>
            <a:pPr algn="ctr" indent="0" marL="0">
              <a:buNone/>
            </a:pPr>
            <a:r>
              <a:rPr lang="en-US" sz="1400" b="1" dirty="0">
                <a:solidFill>
                  <a:srgbClr val="02C39A"/>
                </a:solidFill>
                <a:latin typeface="Calibri" pitchFamily="34" charset="0"/>
                <a:ea typeface="Calibri" pitchFamily="34" charset="-122"/>
                <a:cs typeface="Calibri" pitchFamily="34" charset="-120"/>
              </a:rPr>
              <a:t>→</a:t>
            </a:r>
            <a:endParaRPr lang="en-US" sz="1400" dirty="0"/>
          </a:p>
        </p:txBody>
      </p:sp>
      <p:sp>
        <p:nvSpPr>
          <p:cNvPr id="11" name="Shape 9"/>
          <p:cNvSpPr/>
          <p:nvPr/>
        </p:nvSpPr>
        <p:spPr>
          <a:xfrm>
            <a:off x="1787652" y="1325880"/>
            <a:ext cx="1234440" cy="1737360"/>
          </a:xfrm>
          <a:prstGeom prst="rect">
            <a:avLst/>
          </a:prstGeom>
          <a:solidFill>
            <a:srgbClr val="065A82"/>
          </a:solidFill>
          <a:ln w="12700">
            <a:solidFill>
              <a:srgbClr val="065A82"/>
            </a:solidFill>
            <a:prstDash val="solid"/>
          </a:ln>
          <a:effectLst>
            <a:outerShdw sx="100000" sy="100000" kx="0" ky="0" algn="bl" rotWithShape="0" blurRad="101600" dist="38100" dir="8100000">
              <a:srgbClr val="000000">
                <a:alpha val="12000"/>
              </a:srgbClr>
            </a:outerShdw>
          </a:effectLst>
        </p:spPr>
      </p:sp>
      <p:sp>
        <p:nvSpPr>
          <p:cNvPr id="12" name="Text 10"/>
          <p:cNvSpPr/>
          <p:nvPr/>
        </p:nvSpPr>
        <p:spPr>
          <a:xfrm>
            <a:off x="1787652" y="1417320"/>
            <a:ext cx="1234440" cy="914400"/>
          </a:xfrm>
          <a:prstGeom prst="rect">
            <a:avLst/>
          </a:prstGeom>
          <a:noFill/>
          <a:ln/>
        </p:spPr>
        <p:txBody>
          <a:bodyPr wrap="square"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Read</a:t>
            </a:r>
            <a:endParaRPr lang="en-US" sz="1150" dirty="0"/>
          </a:p>
          <a:p>
            <a:pPr algn="ctr" indent="0" marL="0">
              <a:buNone/>
            </a:pPr>
            <a:r>
              <a:rPr lang="en-US" sz="1150" b="1" dirty="0">
                <a:solidFill>
                  <a:srgbClr val="FFFFFF"/>
                </a:solidFill>
                <a:latin typeface="Calibri" pitchFamily="34" charset="0"/>
                <a:ea typeface="Calibri" pitchFamily="34" charset="-122"/>
                <a:cs typeface="Calibri" pitchFamily="34" charset="-120"/>
              </a:rPr>
              <a:t>Requirement</a:t>
            </a:r>
            <a:endParaRPr lang="en-US" sz="1150" dirty="0"/>
          </a:p>
        </p:txBody>
      </p:sp>
      <p:sp>
        <p:nvSpPr>
          <p:cNvPr id="13" name="Text 11"/>
          <p:cNvSpPr/>
          <p:nvPr/>
        </p:nvSpPr>
        <p:spPr>
          <a:xfrm>
            <a:off x="1787652" y="2514600"/>
            <a:ext cx="1234440" cy="384048"/>
          </a:xfrm>
          <a:prstGeom prst="rect">
            <a:avLst/>
          </a:prstGeom>
          <a:noFill/>
          <a:ln/>
        </p:spPr>
        <p:txBody>
          <a:bodyPr wrap="square" rtlCol="0" anchor="ctr"/>
          <a:lstStyle/>
          <a:p>
            <a:pPr algn="ctr" indent="0" marL="0">
              <a:buNone/>
            </a:pPr>
            <a:r>
              <a:rPr lang="en-US" sz="900" dirty="0">
                <a:solidFill>
                  <a:srgbClr val="C8E0F0"/>
                </a:solidFill>
                <a:latin typeface="Calibri" pitchFamily="34" charset="0"/>
                <a:ea typeface="Calibri" pitchFamily="34" charset="-122"/>
                <a:cs typeface="Calibri" pitchFamily="34" charset="-120"/>
              </a:rPr>
              <a:t>Orchestrator</a:t>
            </a:r>
            <a:endParaRPr lang="en-US" sz="900" dirty="0"/>
          </a:p>
        </p:txBody>
      </p:sp>
      <p:sp>
        <p:nvSpPr>
          <p:cNvPr id="14" name="Shape 12"/>
          <p:cNvSpPr/>
          <p:nvPr/>
        </p:nvSpPr>
        <p:spPr>
          <a:xfrm>
            <a:off x="2203704" y="1024128"/>
            <a:ext cx="402336" cy="402336"/>
          </a:xfrm>
          <a:prstGeom prst="ellipse">
            <a:avLst/>
          </a:prstGeom>
          <a:solidFill>
            <a:srgbClr val="065A82"/>
          </a:solidFill>
          <a:ln w="25400">
            <a:solidFill>
              <a:srgbClr val="FFFFFF"/>
            </a:solidFill>
            <a:prstDash val="solid"/>
          </a:ln>
        </p:spPr>
      </p:sp>
      <p:sp>
        <p:nvSpPr>
          <p:cNvPr id="15" name="Text 13"/>
          <p:cNvSpPr/>
          <p:nvPr/>
        </p:nvSpPr>
        <p:spPr>
          <a:xfrm>
            <a:off x="2203704" y="1024128"/>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4"/>
          <p:cNvSpPr/>
          <p:nvPr/>
        </p:nvSpPr>
        <p:spPr>
          <a:xfrm>
            <a:off x="3022092" y="1920240"/>
            <a:ext cx="210312" cy="384048"/>
          </a:xfrm>
          <a:prstGeom prst="rect">
            <a:avLst/>
          </a:prstGeom>
          <a:noFill/>
          <a:ln/>
        </p:spPr>
        <p:txBody>
          <a:bodyPr wrap="square" rtlCol="0" anchor="ctr"/>
          <a:lstStyle/>
          <a:p>
            <a:pPr algn="ctr" indent="0" marL="0">
              <a:buNone/>
            </a:pPr>
            <a:r>
              <a:rPr lang="en-US" sz="1400" b="1" dirty="0">
                <a:solidFill>
                  <a:srgbClr val="02C39A"/>
                </a:solidFill>
                <a:latin typeface="Calibri" pitchFamily="34" charset="0"/>
                <a:ea typeface="Calibri" pitchFamily="34" charset="-122"/>
                <a:cs typeface="Calibri" pitchFamily="34" charset="-120"/>
              </a:rPr>
              <a:t>→</a:t>
            </a:r>
            <a:endParaRPr lang="en-US" sz="1400" dirty="0"/>
          </a:p>
        </p:txBody>
      </p:sp>
      <p:sp>
        <p:nvSpPr>
          <p:cNvPr id="17" name="Shape 15"/>
          <p:cNvSpPr/>
          <p:nvPr/>
        </p:nvSpPr>
        <p:spPr>
          <a:xfrm>
            <a:off x="3232404" y="1325880"/>
            <a:ext cx="1234440" cy="1737360"/>
          </a:xfrm>
          <a:prstGeom prst="rect">
            <a:avLst/>
          </a:prstGeom>
          <a:solidFill>
            <a:srgbClr val="7C3AED"/>
          </a:solidFill>
          <a:ln w="12700">
            <a:solidFill>
              <a:srgbClr val="7C3AED"/>
            </a:solidFill>
            <a:prstDash val="solid"/>
          </a:ln>
          <a:effectLst>
            <a:outerShdw sx="100000" sy="100000" kx="0" ky="0" algn="bl" rotWithShape="0" blurRad="101600" dist="38100" dir="8100000">
              <a:srgbClr val="000000">
                <a:alpha val="12000"/>
              </a:srgbClr>
            </a:outerShdw>
          </a:effectLst>
        </p:spPr>
      </p:sp>
      <p:sp>
        <p:nvSpPr>
          <p:cNvPr id="18" name="Text 16"/>
          <p:cNvSpPr/>
          <p:nvPr/>
        </p:nvSpPr>
        <p:spPr>
          <a:xfrm>
            <a:off x="3232404" y="1417320"/>
            <a:ext cx="1234440" cy="914400"/>
          </a:xfrm>
          <a:prstGeom prst="rect">
            <a:avLst/>
          </a:prstGeom>
          <a:noFill/>
          <a:ln/>
        </p:spPr>
        <p:txBody>
          <a:bodyPr wrap="square"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Generate Tests</a:t>
            </a:r>
            <a:endParaRPr lang="en-US" sz="1150" dirty="0"/>
          </a:p>
          <a:p>
            <a:pPr algn="ctr" indent="0" marL="0">
              <a:buNone/>
            </a:pPr>
            <a:r>
              <a:rPr lang="en-US" sz="1150" b="1" dirty="0">
                <a:solidFill>
                  <a:srgbClr val="FFFFFF"/>
                </a:solidFill>
                <a:latin typeface="Calibri" pitchFamily="34" charset="0"/>
                <a:ea typeface="Calibri" pitchFamily="34" charset="-122"/>
                <a:cs typeface="Calibri" pitchFamily="34" charset="-120"/>
              </a:rPr>
              <a:t>&amp; Risks</a:t>
            </a:r>
            <a:endParaRPr lang="en-US" sz="1150" dirty="0"/>
          </a:p>
        </p:txBody>
      </p:sp>
      <p:sp>
        <p:nvSpPr>
          <p:cNvPr id="19" name="Text 17"/>
          <p:cNvSpPr/>
          <p:nvPr/>
        </p:nvSpPr>
        <p:spPr>
          <a:xfrm>
            <a:off x="3232404" y="2514600"/>
            <a:ext cx="1234440" cy="384048"/>
          </a:xfrm>
          <a:prstGeom prst="rect">
            <a:avLst/>
          </a:prstGeom>
          <a:noFill/>
          <a:ln/>
        </p:spPr>
        <p:txBody>
          <a:bodyPr wrap="square" rtlCol="0" anchor="ctr"/>
          <a:lstStyle/>
          <a:p>
            <a:pPr algn="ctr" indent="0" marL="0">
              <a:buNone/>
            </a:pPr>
            <a:r>
              <a:rPr lang="en-US" sz="900" dirty="0">
                <a:solidFill>
                  <a:srgbClr val="C8E0F0"/>
                </a:solidFill>
                <a:latin typeface="Calibri" pitchFamily="34" charset="0"/>
                <a:ea typeface="Calibri" pitchFamily="34" charset="-122"/>
                <a:cs typeface="Calibri" pitchFamily="34" charset="-120"/>
              </a:rPr>
              <a:t>Test Designer + Risk Analyst</a:t>
            </a:r>
            <a:endParaRPr lang="en-US" sz="900" dirty="0"/>
          </a:p>
        </p:txBody>
      </p:sp>
      <p:sp>
        <p:nvSpPr>
          <p:cNvPr id="20" name="Shape 18"/>
          <p:cNvSpPr/>
          <p:nvPr/>
        </p:nvSpPr>
        <p:spPr>
          <a:xfrm>
            <a:off x="3648456" y="1024128"/>
            <a:ext cx="402336" cy="402336"/>
          </a:xfrm>
          <a:prstGeom prst="ellipse">
            <a:avLst/>
          </a:prstGeom>
          <a:solidFill>
            <a:srgbClr val="7C3AED"/>
          </a:solidFill>
          <a:ln w="25400">
            <a:solidFill>
              <a:srgbClr val="FFFFFF"/>
            </a:solidFill>
            <a:prstDash val="solid"/>
          </a:ln>
        </p:spPr>
      </p:sp>
      <p:sp>
        <p:nvSpPr>
          <p:cNvPr id="21" name="Text 19"/>
          <p:cNvSpPr/>
          <p:nvPr/>
        </p:nvSpPr>
        <p:spPr>
          <a:xfrm>
            <a:off x="3648456" y="1024128"/>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2" name="Text 20"/>
          <p:cNvSpPr/>
          <p:nvPr/>
        </p:nvSpPr>
        <p:spPr>
          <a:xfrm>
            <a:off x="4466844" y="1920240"/>
            <a:ext cx="210312" cy="384048"/>
          </a:xfrm>
          <a:prstGeom prst="rect">
            <a:avLst/>
          </a:prstGeom>
          <a:noFill/>
          <a:ln/>
        </p:spPr>
        <p:txBody>
          <a:bodyPr wrap="square" rtlCol="0" anchor="ctr"/>
          <a:lstStyle/>
          <a:p>
            <a:pPr algn="ctr" indent="0" marL="0">
              <a:buNone/>
            </a:pPr>
            <a:r>
              <a:rPr lang="en-US" sz="1400" b="1" dirty="0">
                <a:solidFill>
                  <a:srgbClr val="02C39A"/>
                </a:solidFill>
                <a:latin typeface="Calibri" pitchFamily="34" charset="0"/>
                <a:ea typeface="Calibri" pitchFamily="34" charset="-122"/>
                <a:cs typeface="Calibri" pitchFamily="34" charset="-120"/>
              </a:rPr>
              <a:t>→</a:t>
            </a:r>
            <a:endParaRPr lang="en-US" sz="1400" dirty="0"/>
          </a:p>
        </p:txBody>
      </p:sp>
      <p:sp>
        <p:nvSpPr>
          <p:cNvPr id="23" name="Shape 21"/>
          <p:cNvSpPr/>
          <p:nvPr/>
        </p:nvSpPr>
        <p:spPr>
          <a:xfrm>
            <a:off x="4677156" y="1325880"/>
            <a:ext cx="1234440" cy="1737360"/>
          </a:xfrm>
          <a:prstGeom prst="rect">
            <a:avLst/>
          </a:prstGeom>
          <a:solidFill>
            <a:srgbClr val="D97706"/>
          </a:solidFill>
          <a:ln w="12700">
            <a:solidFill>
              <a:srgbClr val="D97706"/>
            </a:solidFill>
            <a:prstDash val="solid"/>
          </a:ln>
          <a:effectLst>
            <a:outerShdw sx="100000" sy="100000" kx="0" ky="0" algn="bl" rotWithShape="0" blurRad="101600" dist="38100" dir="8100000">
              <a:srgbClr val="000000">
                <a:alpha val="12000"/>
              </a:srgbClr>
            </a:outerShdw>
          </a:effectLst>
        </p:spPr>
      </p:sp>
      <p:sp>
        <p:nvSpPr>
          <p:cNvPr id="24" name="Text 22"/>
          <p:cNvSpPr/>
          <p:nvPr/>
        </p:nvSpPr>
        <p:spPr>
          <a:xfrm>
            <a:off x="4677156" y="1417320"/>
            <a:ext cx="1234440" cy="914400"/>
          </a:xfrm>
          <a:prstGeom prst="rect">
            <a:avLst/>
          </a:prstGeom>
          <a:noFill/>
          <a:ln/>
        </p:spPr>
        <p:txBody>
          <a:bodyPr wrap="square"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Run</a:t>
            </a:r>
            <a:endParaRPr lang="en-US" sz="1150" dirty="0"/>
          </a:p>
          <a:p>
            <a:pPr algn="ctr" indent="0" marL="0">
              <a:buNone/>
            </a:pPr>
            <a:r>
              <a:rPr lang="en-US" sz="1150" b="1" dirty="0">
                <a:solidFill>
                  <a:srgbClr val="FFFFFF"/>
                </a:solidFill>
                <a:latin typeface="Calibri" pitchFamily="34" charset="0"/>
                <a:ea typeface="Calibri" pitchFamily="34" charset="-122"/>
                <a:cs typeface="Calibri" pitchFamily="34" charset="-120"/>
              </a:rPr>
              <a:t>Tests</a:t>
            </a:r>
            <a:endParaRPr lang="en-US" sz="1150" dirty="0"/>
          </a:p>
        </p:txBody>
      </p:sp>
      <p:sp>
        <p:nvSpPr>
          <p:cNvPr id="25" name="Text 23"/>
          <p:cNvSpPr/>
          <p:nvPr/>
        </p:nvSpPr>
        <p:spPr>
          <a:xfrm>
            <a:off x="4677156" y="2514600"/>
            <a:ext cx="1234440" cy="384048"/>
          </a:xfrm>
          <a:prstGeom prst="rect">
            <a:avLst/>
          </a:prstGeom>
          <a:noFill/>
          <a:ln/>
        </p:spPr>
        <p:txBody>
          <a:bodyPr wrap="square" rtlCol="0" anchor="ctr"/>
          <a:lstStyle/>
          <a:p>
            <a:pPr algn="ctr" indent="0" marL="0">
              <a:buNone/>
            </a:pPr>
            <a:r>
              <a:rPr lang="en-US" sz="900" dirty="0">
                <a:solidFill>
                  <a:srgbClr val="C8E0F0"/>
                </a:solidFill>
                <a:latin typeface="Calibri" pitchFamily="34" charset="0"/>
                <a:ea typeface="Calibri" pitchFamily="34" charset="-122"/>
                <a:cs typeface="Calibri" pitchFamily="34" charset="-120"/>
              </a:rPr>
              <a:t>Test Executor</a:t>
            </a:r>
            <a:endParaRPr lang="en-US" sz="900" dirty="0"/>
          </a:p>
        </p:txBody>
      </p:sp>
      <p:sp>
        <p:nvSpPr>
          <p:cNvPr id="26" name="Shape 24"/>
          <p:cNvSpPr/>
          <p:nvPr/>
        </p:nvSpPr>
        <p:spPr>
          <a:xfrm>
            <a:off x="5093208" y="1024128"/>
            <a:ext cx="402336" cy="402336"/>
          </a:xfrm>
          <a:prstGeom prst="ellipse">
            <a:avLst/>
          </a:prstGeom>
          <a:solidFill>
            <a:srgbClr val="D97706"/>
          </a:solidFill>
          <a:ln w="25400">
            <a:solidFill>
              <a:srgbClr val="FFFFFF"/>
            </a:solidFill>
            <a:prstDash val="solid"/>
          </a:ln>
        </p:spPr>
      </p:sp>
      <p:sp>
        <p:nvSpPr>
          <p:cNvPr id="27" name="Text 25"/>
          <p:cNvSpPr/>
          <p:nvPr/>
        </p:nvSpPr>
        <p:spPr>
          <a:xfrm>
            <a:off x="5093208" y="1024128"/>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8" name="Text 26"/>
          <p:cNvSpPr/>
          <p:nvPr/>
        </p:nvSpPr>
        <p:spPr>
          <a:xfrm>
            <a:off x="5911596" y="1920240"/>
            <a:ext cx="210312" cy="384048"/>
          </a:xfrm>
          <a:prstGeom prst="rect">
            <a:avLst/>
          </a:prstGeom>
          <a:noFill/>
          <a:ln/>
        </p:spPr>
        <p:txBody>
          <a:bodyPr wrap="square" rtlCol="0" anchor="ctr"/>
          <a:lstStyle/>
          <a:p>
            <a:pPr algn="ctr" indent="0" marL="0">
              <a:buNone/>
            </a:pPr>
            <a:r>
              <a:rPr lang="en-US" sz="1400" b="1" dirty="0">
                <a:solidFill>
                  <a:srgbClr val="02C39A"/>
                </a:solidFill>
                <a:latin typeface="Calibri" pitchFamily="34" charset="0"/>
                <a:ea typeface="Calibri" pitchFamily="34" charset="-122"/>
                <a:cs typeface="Calibri" pitchFamily="34" charset="-120"/>
              </a:rPr>
              <a:t>→</a:t>
            </a:r>
            <a:endParaRPr lang="en-US" sz="1400" dirty="0"/>
          </a:p>
        </p:txBody>
      </p:sp>
      <p:sp>
        <p:nvSpPr>
          <p:cNvPr id="29" name="Shape 27"/>
          <p:cNvSpPr/>
          <p:nvPr/>
        </p:nvSpPr>
        <p:spPr>
          <a:xfrm>
            <a:off x="6121908" y="1325880"/>
            <a:ext cx="1234440" cy="1737360"/>
          </a:xfrm>
          <a:prstGeom prst="rect">
            <a:avLst/>
          </a:prstGeom>
          <a:solidFill>
            <a:srgbClr val="1C7293"/>
          </a:solidFill>
          <a:ln w="12700">
            <a:solidFill>
              <a:srgbClr val="1C7293"/>
            </a:solidFill>
            <a:prstDash val="solid"/>
          </a:ln>
          <a:effectLst>
            <a:outerShdw sx="100000" sy="100000" kx="0" ky="0" algn="bl" rotWithShape="0" blurRad="101600" dist="38100" dir="8100000">
              <a:srgbClr val="000000">
                <a:alpha val="12000"/>
              </a:srgbClr>
            </a:outerShdw>
          </a:effectLst>
        </p:spPr>
      </p:sp>
      <p:sp>
        <p:nvSpPr>
          <p:cNvPr id="30" name="Text 28"/>
          <p:cNvSpPr/>
          <p:nvPr/>
        </p:nvSpPr>
        <p:spPr>
          <a:xfrm>
            <a:off x="6121908" y="1417320"/>
            <a:ext cx="1234440" cy="914400"/>
          </a:xfrm>
          <a:prstGeom prst="rect">
            <a:avLst/>
          </a:prstGeom>
          <a:noFill/>
          <a:ln/>
        </p:spPr>
        <p:txBody>
          <a:bodyPr wrap="square"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Update</a:t>
            </a:r>
            <a:endParaRPr lang="en-US" sz="1150" dirty="0"/>
          </a:p>
          <a:p>
            <a:pPr algn="ctr" indent="0" marL="0">
              <a:buNone/>
            </a:pPr>
            <a:r>
              <a:rPr lang="en-US" sz="1150" b="1" dirty="0">
                <a:solidFill>
                  <a:srgbClr val="FFFFFF"/>
                </a:solidFill>
                <a:latin typeface="Calibri" pitchFamily="34" charset="0"/>
                <a:ea typeface="Calibri" pitchFamily="34" charset="-122"/>
                <a:cs typeface="Calibri" pitchFamily="34" charset="-120"/>
              </a:rPr>
              <a:t>Polarion</a:t>
            </a:r>
            <a:endParaRPr lang="en-US" sz="1150" dirty="0"/>
          </a:p>
        </p:txBody>
      </p:sp>
      <p:sp>
        <p:nvSpPr>
          <p:cNvPr id="31" name="Text 29"/>
          <p:cNvSpPr/>
          <p:nvPr/>
        </p:nvSpPr>
        <p:spPr>
          <a:xfrm>
            <a:off x="6121908" y="2514600"/>
            <a:ext cx="1234440" cy="384048"/>
          </a:xfrm>
          <a:prstGeom prst="rect">
            <a:avLst/>
          </a:prstGeom>
          <a:noFill/>
          <a:ln/>
        </p:spPr>
        <p:txBody>
          <a:bodyPr wrap="square" rtlCol="0" anchor="ctr"/>
          <a:lstStyle/>
          <a:p>
            <a:pPr algn="ctr" indent="0" marL="0">
              <a:buNone/>
            </a:pPr>
            <a:r>
              <a:rPr lang="en-US" sz="900" dirty="0">
                <a:solidFill>
                  <a:srgbClr val="C8E0F0"/>
                </a:solidFill>
                <a:latin typeface="Calibri" pitchFamily="34" charset="0"/>
                <a:ea typeface="Calibri" pitchFamily="34" charset="-122"/>
                <a:cs typeface="Calibri" pitchFamily="34" charset="-120"/>
              </a:rPr>
              <a:t>Polarion Updater</a:t>
            </a:r>
            <a:endParaRPr lang="en-US" sz="900" dirty="0"/>
          </a:p>
        </p:txBody>
      </p:sp>
      <p:sp>
        <p:nvSpPr>
          <p:cNvPr id="32" name="Shape 30"/>
          <p:cNvSpPr/>
          <p:nvPr/>
        </p:nvSpPr>
        <p:spPr>
          <a:xfrm>
            <a:off x="6537960" y="1024128"/>
            <a:ext cx="402336" cy="402336"/>
          </a:xfrm>
          <a:prstGeom prst="ellipse">
            <a:avLst/>
          </a:prstGeom>
          <a:solidFill>
            <a:srgbClr val="1C7293"/>
          </a:solidFill>
          <a:ln w="25400">
            <a:solidFill>
              <a:srgbClr val="FFFFFF"/>
            </a:solidFill>
            <a:prstDash val="solid"/>
          </a:ln>
        </p:spPr>
      </p:sp>
      <p:sp>
        <p:nvSpPr>
          <p:cNvPr id="33" name="Text 31"/>
          <p:cNvSpPr/>
          <p:nvPr/>
        </p:nvSpPr>
        <p:spPr>
          <a:xfrm>
            <a:off x="6537960" y="1024128"/>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34" name="Text 32"/>
          <p:cNvSpPr/>
          <p:nvPr/>
        </p:nvSpPr>
        <p:spPr>
          <a:xfrm>
            <a:off x="7356348" y="1920240"/>
            <a:ext cx="210312" cy="384048"/>
          </a:xfrm>
          <a:prstGeom prst="rect">
            <a:avLst/>
          </a:prstGeom>
          <a:noFill/>
          <a:ln/>
        </p:spPr>
        <p:txBody>
          <a:bodyPr wrap="square" rtlCol="0" anchor="ctr"/>
          <a:lstStyle/>
          <a:p>
            <a:pPr algn="ctr" indent="0" marL="0">
              <a:buNone/>
            </a:pPr>
            <a:r>
              <a:rPr lang="en-US" sz="1400" b="1" dirty="0">
                <a:solidFill>
                  <a:srgbClr val="02C39A"/>
                </a:solidFill>
                <a:latin typeface="Calibri" pitchFamily="34" charset="0"/>
                <a:ea typeface="Calibri" pitchFamily="34" charset="-122"/>
                <a:cs typeface="Calibri" pitchFamily="34" charset="-120"/>
              </a:rPr>
              <a:t>→</a:t>
            </a:r>
            <a:endParaRPr lang="en-US" sz="1400" dirty="0"/>
          </a:p>
        </p:txBody>
      </p:sp>
      <p:sp>
        <p:nvSpPr>
          <p:cNvPr id="35" name="Shape 33"/>
          <p:cNvSpPr/>
          <p:nvPr/>
        </p:nvSpPr>
        <p:spPr>
          <a:xfrm>
            <a:off x="7566660" y="1325880"/>
            <a:ext cx="1234440" cy="1737360"/>
          </a:xfrm>
          <a:prstGeom prst="rect">
            <a:avLst/>
          </a:prstGeom>
          <a:solidFill>
            <a:srgbClr val="16A34A"/>
          </a:solidFill>
          <a:ln w="12700">
            <a:solidFill>
              <a:srgbClr val="16A34A"/>
            </a:solidFill>
            <a:prstDash val="solid"/>
          </a:ln>
          <a:effectLst>
            <a:outerShdw sx="100000" sy="100000" kx="0" ky="0" algn="bl" rotWithShape="0" blurRad="101600" dist="38100" dir="8100000">
              <a:srgbClr val="000000">
                <a:alpha val="12000"/>
              </a:srgbClr>
            </a:outerShdw>
          </a:effectLst>
        </p:spPr>
      </p:sp>
      <p:sp>
        <p:nvSpPr>
          <p:cNvPr id="36" name="Text 34"/>
          <p:cNvSpPr/>
          <p:nvPr/>
        </p:nvSpPr>
        <p:spPr>
          <a:xfrm>
            <a:off x="7566660" y="1417320"/>
            <a:ext cx="1234440" cy="914400"/>
          </a:xfrm>
          <a:prstGeom prst="rect">
            <a:avLst/>
          </a:prstGeom>
          <a:noFill/>
          <a:ln/>
        </p:spPr>
        <p:txBody>
          <a:bodyPr wrap="square"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Results +</a:t>
            </a:r>
            <a:endParaRPr lang="en-US" sz="1150" dirty="0"/>
          </a:p>
          <a:p>
            <a:pPr algn="ctr" indent="0" marL="0">
              <a:buNone/>
            </a:pPr>
            <a:r>
              <a:rPr lang="en-US" sz="1150" b="1" dirty="0">
                <a:solidFill>
                  <a:srgbClr val="FFFFFF"/>
                </a:solidFill>
                <a:latin typeface="Calibri" pitchFamily="34" charset="0"/>
                <a:ea typeface="Calibri" pitchFamily="34" charset="-122"/>
                <a:cs typeface="Calibri" pitchFamily="34" charset="-120"/>
              </a:rPr>
              <a:t>Evidence</a:t>
            </a:r>
            <a:endParaRPr lang="en-US" sz="1150" dirty="0"/>
          </a:p>
        </p:txBody>
      </p:sp>
      <p:sp>
        <p:nvSpPr>
          <p:cNvPr id="37" name="Text 35"/>
          <p:cNvSpPr/>
          <p:nvPr/>
        </p:nvSpPr>
        <p:spPr>
          <a:xfrm>
            <a:off x="7566660" y="2514600"/>
            <a:ext cx="1234440" cy="384048"/>
          </a:xfrm>
          <a:prstGeom prst="rect">
            <a:avLst/>
          </a:prstGeom>
          <a:noFill/>
          <a:ln/>
        </p:spPr>
        <p:txBody>
          <a:bodyPr wrap="square" rtlCol="0" anchor="ctr"/>
          <a:lstStyle/>
          <a:p>
            <a:pPr algn="ctr" indent="0" marL="0">
              <a:buNone/>
            </a:pPr>
            <a:r>
              <a:rPr lang="en-US" sz="900" dirty="0">
                <a:solidFill>
                  <a:srgbClr val="C8E0F0"/>
                </a:solidFill>
                <a:latin typeface="Calibri" pitchFamily="34" charset="0"/>
                <a:ea typeface="Calibri" pitchFamily="34" charset="-122"/>
                <a:cs typeface="Calibri" pitchFamily="34" charset="-120"/>
              </a:rPr>
              <a:t>PASS/FAIL/SKIP</a:t>
            </a:r>
            <a:endParaRPr lang="en-US" sz="900" dirty="0"/>
          </a:p>
        </p:txBody>
      </p:sp>
      <p:sp>
        <p:nvSpPr>
          <p:cNvPr id="38" name="Shape 36"/>
          <p:cNvSpPr/>
          <p:nvPr/>
        </p:nvSpPr>
        <p:spPr>
          <a:xfrm>
            <a:off x="7982712" y="1024128"/>
            <a:ext cx="402336" cy="402336"/>
          </a:xfrm>
          <a:prstGeom prst="ellipse">
            <a:avLst/>
          </a:prstGeom>
          <a:solidFill>
            <a:srgbClr val="16A34A"/>
          </a:solidFill>
          <a:ln w="25400">
            <a:solidFill>
              <a:srgbClr val="FFFFFF"/>
            </a:solidFill>
            <a:prstDash val="solid"/>
          </a:ln>
        </p:spPr>
      </p:sp>
      <p:sp>
        <p:nvSpPr>
          <p:cNvPr id="39" name="Text 37"/>
          <p:cNvSpPr/>
          <p:nvPr/>
        </p:nvSpPr>
        <p:spPr>
          <a:xfrm>
            <a:off x="7982712" y="1024128"/>
            <a:ext cx="402336"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40" name="Shape 38"/>
          <p:cNvSpPr/>
          <p:nvPr/>
        </p:nvSpPr>
        <p:spPr>
          <a:xfrm>
            <a:off x="256032" y="3401568"/>
            <a:ext cx="8631936" cy="1417320"/>
          </a:xfrm>
          <a:prstGeom prst="rect">
            <a:avLst/>
          </a:prstGeom>
          <a:solidFill>
            <a:srgbClr val="EFF6FF"/>
          </a:solidFill>
          <a:ln w="12700">
            <a:solidFill>
              <a:srgbClr val="BFDBFE"/>
            </a:solidFill>
            <a:prstDash val="solid"/>
          </a:ln>
        </p:spPr>
      </p:sp>
      <p:sp>
        <p:nvSpPr>
          <p:cNvPr id="41" name="Text 39"/>
          <p:cNvSpPr/>
          <p:nvPr/>
        </p:nvSpPr>
        <p:spPr>
          <a:xfrm>
            <a:off x="411480" y="3493008"/>
            <a:ext cx="8321040" cy="438912"/>
          </a:xfrm>
          <a:prstGeom prst="rect">
            <a:avLst/>
          </a:prstGeom>
          <a:noFill/>
          <a:ln/>
        </p:spPr>
        <p:txBody>
          <a:bodyPr wrap="square" rtlCol="0" anchor="ctr"/>
          <a:lstStyle/>
          <a:p>
            <a:pPr indent="0" marL="0">
              <a:buNone/>
            </a:pPr>
            <a:r>
              <a:rPr lang="en-US" sz="1350" dirty="0">
                <a:solidFill>
                  <a:srgbClr val="4A5568"/>
                </a:solidFill>
                <a:latin typeface="Calibri" pitchFamily="34" charset="0"/>
                <a:ea typeface="Calibri" pitchFamily="34" charset="-122"/>
                <a:cs typeface="Calibri" pitchFamily="34" charset="-120"/>
              </a:rPr>
              <a:t>⏱  Total: </a:t>
            </a:r>
            <a:pPr indent="0" marL="0">
              <a:buNone/>
            </a:pPr>
            <a:r>
              <a:rPr lang="en-US" sz="1350" b="1" dirty="0">
                <a:solidFill>
                  <a:srgbClr val="065A82"/>
                </a:solidFill>
                <a:latin typeface="Calibri" pitchFamily="34" charset="0"/>
                <a:ea typeface="Calibri" pitchFamily="34" charset="-122"/>
                <a:cs typeface="Calibri" pitchFamily="34" charset="-120"/>
              </a:rPr>
              <a:t>minutes</a:t>
            </a:r>
            <a:pPr indent="0" marL="0">
              <a:buNone/>
            </a:pPr>
            <a:r>
              <a:rPr lang="en-US" sz="1350" dirty="0">
                <a:solidFill>
                  <a:srgbClr val="4A5568"/>
                </a:solidFill>
                <a:latin typeface="Calibri" pitchFamily="34" charset="0"/>
                <a:ea typeface="Calibri" pitchFamily="34" charset="-122"/>
                <a:cs typeface="Calibri" pitchFamily="34" charset="-120"/>
              </a:rPr>
              <a:t> per requirement   vs.   </a:t>
            </a:r>
            <a:pPr indent="0" marL="0">
              <a:buNone/>
            </a:pPr>
            <a:r>
              <a:rPr lang="en-US" sz="1350" b="1" dirty="0">
                <a:solidFill>
                  <a:srgbClr val="E53E3E"/>
                </a:solidFill>
                <a:latin typeface="Calibri" pitchFamily="34" charset="0"/>
                <a:ea typeface="Calibri" pitchFamily="34" charset="-122"/>
                <a:cs typeface="Calibri" pitchFamily="34" charset="-120"/>
              </a:rPr>
              <a:t>hours / days</a:t>
            </a:r>
            <a:pPr indent="0" marL="0">
              <a:buNone/>
            </a:pPr>
            <a:r>
              <a:rPr lang="en-US" sz="1350" dirty="0">
                <a:solidFill>
                  <a:srgbClr val="4A5568"/>
                </a:solidFill>
                <a:latin typeface="Calibri" pitchFamily="34" charset="0"/>
                <a:ea typeface="Calibri" pitchFamily="34" charset="-122"/>
                <a:cs typeface="Calibri" pitchFamily="34" charset="-120"/>
              </a:rPr>
              <a:t> manually</a:t>
            </a:r>
            <a:endParaRPr lang="en-US" sz="1350" dirty="0"/>
          </a:p>
        </p:txBody>
      </p:sp>
      <p:sp>
        <p:nvSpPr>
          <p:cNvPr id="42" name="Text 40"/>
          <p:cNvSpPr/>
          <p:nvPr/>
        </p:nvSpPr>
        <p:spPr>
          <a:xfrm>
            <a:off x="411480" y="4005072"/>
            <a:ext cx="8321040" cy="548640"/>
          </a:xfrm>
          <a:prstGeom prst="rect">
            <a:avLst/>
          </a:prstGeom>
          <a:noFill/>
          <a:ln/>
        </p:spPr>
        <p:txBody>
          <a:bodyPr wrap="square" rtlCol="0" anchor="ctr"/>
          <a:lstStyle/>
          <a:p>
            <a:pPr indent="0" marL="0">
              <a:buNone/>
            </a:pPr>
            <a:r>
              <a:rPr lang="en-US" sz="1200" i="1" dirty="0">
                <a:solidFill>
                  <a:srgbClr val="92400E"/>
                </a:solidFill>
                <a:latin typeface="Calibri" pitchFamily="34" charset="0"/>
                <a:ea typeface="Calibri" pitchFamily="34" charset="-122"/>
                <a:cs typeface="Calibri" pitchFamily="34" charset="-120"/>
              </a:rPr>
              <a:t>⚠  Complex or ambiguous requirements still benefit from engineer review before Polarion submission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 cy="5143500"/>
          </a:xfrm>
          <a:prstGeom prst="rect">
            <a:avLst/>
          </a:prstGeom>
          <a:solidFill>
            <a:srgbClr val="02C39A"/>
          </a:solidFill>
          <a:ln w="12700">
            <a:solidFill>
              <a:srgbClr val="02C39A"/>
            </a:solidFill>
            <a:prstDash val="solid"/>
          </a:ln>
        </p:spPr>
      </p:sp>
      <p:sp>
        <p:nvSpPr>
          <p:cNvPr id="3" name="Text 1"/>
          <p:cNvSpPr/>
          <p:nvPr/>
        </p:nvSpPr>
        <p:spPr>
          <a:xfrm>
            <a:off x="256032" y="155448"/>
            <a:ext cx="8595360" cy="347472"/>
          </a:xfrm>
          <a:prstGeom prst="rect">
            <a:avLst/>
          </a:prstGeom>
          <a:noFill/>
          <a:ln/>
        </p:spPr>
        <p:txBody>
          <a:bodyPr wrap="square" rtlCol="0" anchor="ctr"/>
          <a:lstStyle/>
          <a:p>
            <a:pPr indent="0" marL="0">
              <a:buNone/>
            </a:pPr>
            <a:r>
              <a:rPr lang="en-US" sz="1000" b="1" spc="300" kern="0" dirty="0">
                <a:solidFill>
                  <a:srgbClr val="02C39A"/>
                </a:solidFill>
                <a:latin typeface="Calibri" pitchFamily="34" charset="0"/>
                <a:ea typeface="Calibri" pitchFamily="34" charset="-122"/>
                <a:cs typeface="Calibri" pitchFamily="34" charset="-120"/>
              </a:rPr>
              <a:t>DEMO  01 / 02</a:t>
            </a:r>
            <a:endParaRPr lang="en-US" sz="1000" dirty="0"/>
          </a:p>
        </p:txBody>
      </p:sp>
      <p:sp>
        <p:nvSpPr>
          <p:cNvPr id="4" name="Text 2"/>
          <p:cNvSpPr/>
          <p:nvPr/>
        </p:nvSpPr>
        <p:spPr>
          <a:xfrm>
            <a:off x="256032" y="457200"/>
            <a:ext cx="8595360" cy="54864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In Action — VS Code Side</a:t>
            </a:r>
            <a:endParaRPr lang="en-US" sz="2600" dirty="0"/>
          </a:p>
        </p:txBody>
      </p:sp>
      <p:sp>
        <p:nvSpPr>
          <p:cNvPr id="5" name="Shape 3"/>
          <p:cNvSpPr/>
          <p:nvPr/>
        </p:nvSpPr>
        <p:spPr>
          <a:xfrm>
            <a:off x="256032" y="1097280"/>
            <a:ext cx="5669280" cy="3566160"/>
          </a:xfrm>
          <a:prstGeom prst="rect">
            <a:avLst/>
          </a:prstGeom>
          <a:solidFill>
            <a:srgbClr val="0F2133"/>
          </a:solidFill>
          <a:ln w="25400">
            <a:solidFill>
              <a:srgbClr val="1C3B5A"/>
            </a:solidFill>
            <a:prstDash val="solid"/>
          </a:ln>
        </p:spPr>
      </p:sp>
      <p:sp>
        <p:nvSpPr>
          <p:cNvPr id="6" name="Text 4"/>
          <p:cNvSpPr/>
          <p:nvPr/>
        </p:nvSpPr>
        <p:spPr>
          <a:xfrm>
            <a:off x="411480" y="1280160"/>
            <a:ext cx="5394960" cy="3200400"/>
          </a:xfrm>
          <a:prstGeom prst="rect">
            <a:avLst/>
          </a:prstGeom>
          <a:noFill/>
          <a:ln/>
        </p:spPr>
        <p:txBody>
          <a:bodyPr wrap="square" rtlCol="0" anchor="t"/>
          <a:lstStyle/>
          <a:p>
            <a:pPr algn="l" indent="0" marL="0">
              <a:buNone/>
            </a:pPr>
            <a:r>
              <a:rPr lang="en-US" sz="1150" dirty="0">
                <a:solidFill>
                  <a:srgbClr val="3A7BA8"/>
                </a:solidFill>
                <a:latin typeface="Consolas" pitchFamily="34" charset="0"/>
                <a:ea typeface="Consolas" pitchFamily="34" charset="-122"/>
                <a:cs typeface="Consolas" pitchFamily="34" charset="-120"/>
              </a:rPr>
              <a:t>[ VS Code Screenshot ]</a:t>
            </a:r>
            <a:endParaRPr lang="en-US" sz="1150" dirty="0"/>
          </a:p>
          <a:p>
            <a:pPr algn="l" indent="0" marL="0">
              <a:buNone/>
            </a:pPr>
            <a:endParaRPr lang="en-US" sz="1150" dirty="0"/>
          </a:p>
          <a:p>
            <a:pPr algn="l" indent="0" marL="0">
              <a:buNone/>
            </a:pPr>
            <a:r>
              <a:rPr lang="en-US" sz="1150" dirty="0">
                <a:solidFill>
                  <a:srgbClr val="3A7BA8"/>
                </a:solidFill>
                <a:latin typeface="Consolas" pitchFamily="34" charset="0"/>
                <a:ea typeface="Consolas" pitchFamily="34" charset="-122"/>
                <a:cs typeface="Consolas" pitchFamily="34" charset="-120"/>
              </a:rPr>
              <a:t>$ polarion-cli run --req POL-1234</a:t>
            </a:r>
            <a:endParaRPr lang="en-US" sz="1150" dirty="0"/>
          </a:p>
          <a:p>
            <a:pPr algn="l" indent="0" marL="0">
              <a:buNone/>
            </a:pPr>
            <a:endParaRPr lang="en-US" sz="1150" dirty="0"/>
          </a:p>
          <a:p>
            <a:pPr algn="l" indent="0" marL="0">
              <a:buNone/>
            </a:pPr>
            <a:r>
              <a:rPr lang="en-US" sz="1150" dirty="0">
                <a:solidFill>
                  <a:srgbClr val="3A7BA8"/>
                </a:solidFill>
                <a:latin typeface="Consolas" pitchFamily="34" charset="0"/>
                <a:ea typeface="Consolas" pitchFamily="34" charset="-122"/>
                <a:cs typeface="Consolas" pitchFamily="34" charset="-120"/>
              </a:rPr>
              <a:t>→  Connecting to Polarion...</a:t>
            </a:r>
            <a:endParaRPr lang="en-US" sz="1150" dirty="0"/>
          </a:p>
          <a:p>
            <a:pPr algn="l" indent="0" marL="0">
              <a:buNone/>
            </a:pPr>
            <a:r>
              <a:rPr lang="en-US" sz="1150" dirty="0">
                <a:solidFill>
                  <a:srgbClr val="3A7BA8"/>
                </a:solidFill>
                <a:latin typeface="Consolas" pitchFamily="34" charset="0"/>
                <a:ea typeface="Consolas" pitchFamily="34" charset="-122"/>
                <a:cs typeface="Consolas" pitchFamily="34" charset="-120"/>
              </a:rPr>
              <a:t>→  Fetched: POL-1234 (Login Flow)</a:t>
            </a:r>
            <a:endParaRPr lang="en-US" sz="1150" dirty="0"/>
          </a:p>
          <a:p>
            <a:pPr algn="l" indent="0" marL="0">
              <a:buNone/>
            </a:pPr>
            <a:r>
              <a:rPr lang="en-US" sz="1150" dirty="0">
                <a:solidFill>
                  <a:srgbClr val="3A7BA8"/>
                </a:solidFill>
                <a:latin typeface="Consolas" pitchFamily="34" charset="0"/>
                <a:ea typeface="Consolas" pitchFamily="34" charset="-122"/>
                <a:cs typeface="Consolas" pitchFamily="34" charset="-120"/>
              </a:rPr>
              <a:t>→  Generating 8 test cases...</a:t>
            </a:r>
            <a:endParaRPr lang="en-US" sz="1150" dirty="0"/>
          </a:p>
          <a:p>
            <a:pPr algn="l" indent="0" marL="0">
              <a:buNone/>
            </a:pPr>
            <a:r>
              <a:rPr lang="en-US" sz="1150" dirty="0">
                <a:solidFill>
                  <a:srgbClr val="3A7BA8"/>
                </a:solidFill>
                <a:latin typeface="Consolas" pitchFamily="34" charset="0"/>
                <a:ea typeface="Consolas" pitchFamily="34" charset="-122"/>
                <a:cs typeface="Consolas" pitchFamily="34" charset="-120"/>
              </a:rPr>
              <a:t>→  Review &amp; confirm? [y/N]</a:t>
            </a:r>
            <a:endParaRPr lang="en-US" sz="1150" dirty="0"/>
          </a:p>
        </p:txBody>
      </p:sp>
      <p:sp>
        <p:nvSpPr>
          <p:cNvPr id="7" name="Shape 5"/>
          <p:cNvSpPr/>
          <p:nvPr/>
        </p:nvSpPr>
        <p:spPr>
          <a:xfrm>
            <a:off x="6080760" y="1097280"/>
            <a:ext cx="2834640" cy="3566160"/>
          </a:xfrm>
          <a:prstGeom prst="rect">
            <a:avLst/>
          </a:prstGeom>
          <a:solidFill>
            <a:srgbClr val="0F2133"/>
          </a:solidFill>
          <a:ln w="12700">
            <a:solidFill>
              <a:srgbClr val="1C3B5A"/>
            </a:solidFill>
            <a:prstDash val="solid"/>
          </a:ln>
        </p:spPr>
      </p:sp>
      <p:sp>
        <p:nvSpPr>
          <p:cNvPr id="8" name="Text 6"/>
          <p:cNvSpPr/>
          <p:nvPr/>
        </p:nvSpPr>
        <p:spPr>
          <a:xfrm>
            <a:off x="6217920" y="1234440"/>
            <a:ext cx="2560320" cy="365760"/>
          </a:xfrm>
          <a:prstGeom prst="rect">
            <a:avLst/>
          </a:prstGeom>
          <a:noFill/>
          <a:ln/>
        </p:spPr>
        <p:txBody>
          <a:bodyPr wrap="square" lIns="0" tIns="0" rIns="0" bIns="0" rtlCol="0" anchor="ctr"/>
          <a:lstStyle/>
          <a:p>
            <a:pPr indent="0" marL="0">
              <a:buNone/>
            </a:pPr>
            <a:r>
              <a:rPr lang="en-US" sz="1200" b="1" dirty="0">
                <a:solidFill>
                  <a:srgbClr val="02C39A"/>
                </a:solidFill>
                <a:latin typeface="Calibri" pitchFamily="34" charset="0"/>
                <a:ea typeface="Calibri" pitchFamily="34" charset="-122"/>
                <a:cs typeface="Calibri" pitchFamily="34" charset="-120"/>
              </a:rPr>
              <a:t>What you'll see:</a:t>
            </a:r>
            <a:endParaRPr lang="en-US" sz="1200" dirty="0"/>
          </a:p>
        </p:txBody>
      </p:sp>
      <p:sp>
        <p:nvSpPr>
          <p:cNvPr id="9" name="Text 7"/>
          <p:cNvSpPr/>
          <p:nvPr/>
        </p:nvSpPr>
        <p:spPr>
          <a:xfrm>
            <a:off x="6217920" y="1719072"/>
            <a:ext cx="2560320" cy="438912"/>
          </a:xfrm>
          <a:prstGeom prst="rect">
            <a:avLst/>
          </a:prstGeom>
          <a:noFill/>
          <a:ln/>
        </p:spPr>
        <p:txBody>
          <a:bodyPr wrap="square" rtlCol="0" anchor="ctr"/>
          <a:lstStyle/>
          <a:p>
            <a:pPr indent="0" marL="0">
              <a:buNone/>
            </a:pPr>
            <a:r>
              <a:rPr lang="en-US" sz="1100" dirty="0">
                <a:solidFill>
                  <a:srgbClr val="A8D8F0"/>
                </a:solidFill>
                <a:latin typeface="Calibri" pitchFamily="34" charset="0"/>
                <a:ea typeface="Calibri" pitchFamily="34" charset="-122"/>
                <a:cs typeface="Calibri" pitchFamily="34" charset="-120"/>
              </a:rPr>
              <a:t>① Trigger orchestration in VS Code</a:t>
            </a:r>
            <a:endParaRPr lang="en-US" sz="1100" dirty="0"/>
          </a:p>
        </p:txBody>
      </p:sp>
      <p:sp>
        <p:nvSpPr>
          <p:cNvPr id="10" name="Text 8"/>
          <p:cNvSpPr/>
          <p:nvPr/>
        </p:nvSpPr>
        <p:spPr>
          <a:xfrm>
            <a:off x="6217920" y="2231136"/>
            <a:ext cx="2560320" cy="438912"/>
          </a:xfrm>
          <a:prstGeom prst="rect">
            <a:avLst/>
          </a:prstGeom>
          <a:noFill/>
          <a:ln/>
        </p:spPr>
        <p:txBody>
          <a:bodyPr wrap="square" rtlCol="0" anchor="ctr"/>
          <a:lstStyle/>
          <a:p>
            <a:pPr indent="0" marL="0">
              <a:buNone/>
            </a:pPr>
            <a:r>
              <a:rPr lang="en-US" sz="1100" dirty="0">
                <a:solidFill>
                  <a:srgbClr val="A8D8F0"/>
                </a:solidFill>
                <a:latin typeface="Calibri" pitchFamily="34" charset="0"/>
                <a:ea typeface="Calibri" pitchFamily="34" charset="-122"/>
                <a:cs typeface="Calibri" pitchFamily="34" charset="-120"/>
              </a:rPr>
              <a:t>② Agents read req via polarion-cli</a:t>
            </a:r>
            <a:endParaRPr lang="en-US" sz="1100" dirty="0"/>
          </a:p>
        </p:txBody>
      </p:sp>
      <p:sp>
        <p:nvSpPr>
          <p:cNvPr id="11" name="Text 9"/>
          <p:cNvSpPr/>
          <p:nvPr/>
        </p:nvSpPr>
        <p:spPr>
          <a:xfrm>
            <a:off x="6217920" y="2743200"/>
            <a:ext cx="2560320" cy="438912"/>
          </a:xfrm>
          <a:prstGeom prst="rect">
            <a:avLst/>
          </a:prstGeom>
          <a:noFill/>
          <a:ln/>
        </p:spPr>
        <p:txBody>
          <a:bodyPr wrap="square" rtlCol="0" anchor="ctr"/>
          <a:lstStyle/>
          <a:p>
            <a:pPr indent="0" marL="0">
              <a:buNone/>
            </a:pPr>
            <a:r>
              <a:rPr lang="en-US" sz="1100" dirty="0">
                <a:solidFill>
                  <a:srgbClr val="A8D8F0"/>
                </a:solidFill>
                <a:latin typeface="Calibri" pitchFamily="34" charset="0"/>
                <a:ea typeface="Calibri" pitchFamily="34" charset="-122"/>
                <a:cs typeface="Calibri" pitchFamily="34" charset="-120"/>
              </a:rPr>
              <a:t>③ Test cases &amp; risks generated</a:t>
            </a:r>
            <a:endParaRPr lang="en-US" sz="1100" dirty="0"/>
          </a:p>
        </p:txBody>
      </p:sp>
      <p:sp>
        <p:nvSpPr>
          <p:cNvPr id="12" name="Text 10"/>
          <p:cNvSpPr/>
          <p:nvPr/>
        </p:nvSpPr>
        <p:spPr>
          <a:xfrm>
            <a:off x="6217920" y="3255264"/>
            <a:ext cx="2560320" cy="438912"/>
          </a:xfrm>
          <a:prstGeom prst="rect">
            <a:avLst/>
          </a:prstGeom>
          <a:noFill/>
          <a:ln/>
        </p:spPr>
        <p:txBody>
          <a:bodyPr wrap="square" rtlCol="0" anchor="ctr"/>
          <a:lstStyle/>
          <a:p>
            <a:pPr indent="0" marL="0">
              <a:buNone/>
            </a:pPr>
            <a:r>
              <a:rPr lang="en-US" sz="1100" dirty="0">
                <a:solidFill>
                  <a:srgbClr val="A8D8F0"/>
                </a:solidFill>
                <a:latin typeface="Calibri" pitchFamily="34" charset="0"/>
                <a:ea typeface="Calibri" pitchFamily="34" charset="-122"/>
                <a:cs typeface="Calibri" pitchFamily="34" charset="-120"/>
              </a:rPr>
              <a:t>④ Automated tests run</a:t>
            </a:r>
            <a:endParaRPr lang="en-US" sz="1100" dirty="0"/>
          </a:p>
        </p:txBody>
      </p:sp>
      <p:sp>
        <p:nvSpPr>
          <p:cNvPr id="13" name="Text 11"/>
          <p:cNvSpPr/>
          <p:nvPr/>
        </p:nvSpPr>
        <p:spPr>
          <a:xfrm>
            <a:off x="6217920" y="3767328"/>
            <a:ext cx="2560320" cy="438912"/>
          </a:xfrm>
          <a:prstGeom prst="rect">
            <a:avLst/>
          </a:prstGeom>
          <a:noFill/>
          <a:ln/>
        </p:spPr>
        <p:txBody>
          <a:bodyPr wrap="square" rtlCol="0" anchor="ctr"/>
          <a:lstStyle/>
          <a:p>
            <a:pPr indent="0" marL="0">
              <a:buNone/>
            </a:pPr>
            <a:r>
              <a:rPr lang="en-US" sz="1100" dirty="0">
                <a:solidFill>
                  <a:srgbClr val="A8D8F0"/>
                </a:solidFill>
                <a:latin typeface="Calibri" pitchFamily="34" charset="0"/>
                <a:ea typeface="Calibri" pitchFamily="34" charset="-122"/>
                <a:cs typeface="Calibri" pitchFamily="34" charset="-120"/>
              </a:rPr>
              <a:t>⑤ Polarion Test Run updated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91440" cy="5143500"/>
          </a:xfrm>
          <a:prstGeom prst="rect">
            <a:avLst/>
          </a:prstGeom>
          <a:solidFill>
            <a:srgbClr val="02C39A"/>
          </a:solidFill>
          <a:ln w="12700">
            <a:solidFill>
              <a:srgbClr val="02C39A"/>
            </a:solidFill>
            <a:prstDash val="solid"/>
          </a:ln>
        </p:spPr>
      </p:sp>
      <p:sp>
        <p:nvSpPr>
          <p:cNvPr id="3" name="Text 1"/>
          <p:cNvSpPr/>
          <p:nvPr/>
        </p:nvSpPr>
        <p:spPr>
          <a:xfrm>
            <a:off x="256032" y="155448"/>
            <a:ext cx="8595360" cy="347472"/>
          </a:xfrm>
          <a:prstGeom prst="rect">
            <a:avLst/>
          </a:prstGeom>
          <a:noFill/>
          <a:ln/>
        </p:spPr>
        <p:txBody>
          <a:bodyPr wrap="square" rtlCol="0" anchor="ctr"/>
          <a:lstStyle/>
          <a:p>
            <a:pPr indent="0" marL="0">
              <a:buNone/>
            </a:pPr>
            <a:r>
              <a:rPr lang="en-US" sz="1000" b="1" spc="300" kern="0" dirty="0">
                <a:solidFill>
                  <a:srgbClr val="02C39A"/>
                </a:solidFill>
                <a:latin typeface="Calibri" pitchFamily="34" charset="0"/>
                <a:ea typeface="Calibri" pitchFamily="34" charset="-122"/>
                <a:cs typeface="Calibri" pitchFamily="34" charset="-120"/>
              </a:rPr>
              <a:t>DEMO  02 / 02</a:t>
            </a:r>
            <a:endParaRPr lang="en-US" sz="1000" dirty="0"/>
          </a:p>
        </p:txBody>
      </p:sp>
      <p:sp>
        <p:nvSpPr>
          <p:cNvPr id="4" name="Text 2"/>
          <p:cNvSpPr/>
          <p:nvPr/>
        </p:nvSpPr>
        <p:spPr>
          <a:xfrm>
            <a:off x="256032" y="457200"/>
            <a:ext cx="8595360" cy="54864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Demo – Results in Polarion</a:t>
            </a:r>
            <a:endParaRPr lang="en-US" sz="2600" dirty="0"/>
          </a:p>
        </p:txBody>
      </p:sp>
      <p:sp>
        <p:nvSpPr>
          <p:cNvPr id="5" name="Shape 3"/>
          <p:cNvSpPr/>
          <p:nvPr/>
        </p:nvSpPr>
        <p:spPr>
          <a:xfrm>
            <a:off x="256032" y="1097280"/>
            <a:ext cx="5669280" cy="3566160"/>
          </a:xfrm>
          <a:prstGeom prst="rect">
            <a:avLst/>
          </a:prstGeom>
          <a:solidFill>
            <a:srgbClr val="0F2133"/>
          </a:solidFill>
          <a:ln w="25400">
            <a:solidFill>
              <a:srgbClr val="1C3B5A"/>
            </a:solidFill>
            <a:prstDash val="solid"/>
          </a:ln>
        </p:spPr>
      </p:sp>
      <p:sp>
        <p:nvSpPr>
          <p:cNvPr id="6" name="Text 4"/>
          <p:cNvSpPr/>
          <p:nvPr/>
        </p:nvSpPr>
        <p:spPr>
          <a:xfrm>
            <a:off x="411480" y="1325880"/>
            <a:ext cx="5394960" cy="3154680"/>
          </a:xfrm>
          <a:prstGeom prst="rect">
            <a:avLst/>
          </a:prstGeom>
          <a:noFill/>
          <a:ln/>
        </p:spPr>
        <p:txBody>
          <a:bodyPr wrap="square" rtlCol="0" anchor="t"/>
          <a:lstStyle/>
          <a:p>
            <a:pPr algn="l" indent="0" marL="0">
              <a:buNone/>
            </a:pPr>
            <a:r>
              <a:rPr lang="en-US" sz="1200" dirty="0">
                <a:solidFill>
                  <a:srgbClr val="3A7BA8"/>
                </a:solidFill>
                <a:latin typeface="Consolas" pitchFamily="34" charset="0"/>
                <a:ea typeface="Consolas" pitchFamily="34" charset="-122"/>
                <a:cs typeface="Consolas" pitchFamily="34" charset="-120"/>
              </a:rPr>
              <a:t>[ Polarion Screenshot ]</a:t>
            </a:r>
            <a:endParaRPr lang="en-US" sz="1200" dirty="0"/>
          </a:p>
          <a:p>
            <a:pPr algn="l" indent="0" marL="0">
              <a:buNone/>
            </a:pPr>
            <a:endParaRPr lang="en-US" sz="1200" dirty="0"/>
          </a:p>
          <a:p>
            <a:pPr algn="l" indent="0" marL="0">
              <a:buNone/>
            </a:pPr>
            <a:r>
              <a:rPr lang="en-US" sz="1200" dirty="0">
                <a:solidFill>
                  <a:srgbClr val="3A7BA8"/>
                </a:solidFill>
                <a:latin typeface="Consolas" pitchFamily="34" charset="0"/>
                <a:ea typeface="Consolas" pitchFamily="34" charset="-122"/>
                <a:cs typeface="Consolas" pitchFamily="34" charset="-120"/>
              </a:rPr>
              <a:t>Fresh Test Run created</a:t>
            </a:r>
            <a:endParaRPr lang="en-US" sz="1200" dirty="0"/>
          </a:p>
          <a:p>
            <a:pPr algn="l" indent="0" marL="0">
              <a:buNone/>
            </a:pPr>
            <a:r>
              <a:rPr lang="en-US" sz="1200" dirty="0">
                <a:solidFill>
                  <a:srgbClr val="3A7BA8"/>
                </a:solidFill>
                <a:latin typeface="Consolas" pitchFamily="34" charset="0"/>
                <a:ea typeface="Consolas" pitchFamily="34" charset="-122"/>
                <a:cs typeface="Consolas" pitchFamily="34" charset="-120"/>
              </a:rPr>
              <a:t>Test cases linked to POL-XXXX</a:t>
            </a:r>
            <a:endParaRPr lang="en-US" sz="1200" dirty="0"/>
          </a:p>
          <a:p>
            <a:pPr algn="l" indent="0" marL="0">
              <a:buNone/>
            </a:pPr>
            <a:r>
              <a:rPr lang="en-US" sz="1200" dirty="0">
                <a:solidFill>
                  <a:srgbClr val="3A7BA8"/>
                </a:solidFill>
                <a:latin typeface="Consolas" pitchFamily="34" charset="0"/>
                <a:ea typeface="Consolas" pitchFamily="34" charset="-122"/>
                <a:cs typeface="Consolas" pitchFamily="34" charset="-120"/>
              </a:rPr>
              <a:t>PASS / FAIL / SKIP applied</a:t>
            </a:r>
            <a:endParaRPr lang="en-US" sz="1200" dirty="0"/>
          </a:p>
          <a:p>
            <a:pPr algn="l" indent="0" marL="0">
              <a:buNone/>
            </a:pPr>
            <a:r>
              <a:rPr lang="en-US" sz="1200" dirty="0">
                <a:solidFill>
                  <a:srgbClr val="3A7BA8"/>
                </a:solidFill>
                <a:latin typeface="Consolas" pitchFamily="34" charset="0"/>
                <a:ea typeface="Consolas" pitchFamily="34" charset="-122"/>
                <a:cs typeface="Consolas" pitchFamily="34" charset="-120"/>
              </a:rPr>
              <a:t>Logs &amp; evidence attached</a:t>
            </a:r>
            <a:endParaRPr lang="en-US" sz="1200" dirty="0"/>
          </a:p>
        </p:txBody>
      </p:sp>
      <p:sp>
        <p:nvSpPr>
          <p:cNvPr id="7" name="Text 5"/>
          <p:cNvSpPr/>
          <p:nvPr/>
        </p:nvSpPr>
        <p:spPr>
          <a:xfrm>
            <a:off x="6080760" y="1143000"/>
            <a:ext cx="2834640" cy="365760"/>
          </a:xfrm>
          <a:prstGeom prst="rect">
            <a:avLst/>
          </a:prstGeom>
          <a:noFill/>
          <a:ln/>
        </p:spPr>
        <p:txBody>
          <a:bodyPr wrap="square" lIns="0" tIns="0" rIns="0" bIns="0" rtlCol="0" anchor="ctr"/>
          <a:lstStyle/>
          <a:p>
            <a:pPr indent="0" marL="0">
              <a:buNone/>
            </a:pPr>
            <a:r>
              <a:rPr lang="en-US" sz="1200" b="1" dirty="0">
                <a:solidFill>
                  <a:srgbClr val="02C39A"/>
                </a:solidFill>
                <a:latin typeface="Calibri" pitchFamily="34" charset="0"/>
                <a:ea typeface="Calibri" pitchFamily="34" charset="-122"/>
                <a:cs typeface="Calibri" pitchFamily="34" charset="-120"/>
              </a:rPr>
              <a:t>Live results:</a:t>
            </a:r>
            <a:endParaRPr lang="en-US" sz="1200" dirty="0"/>
          </a:p>
        </p:txBody>
      </p:sp>
      <p:sp>
        <p:nvSpPr>
          <p:cNvPr id="8" name="Shape 6"/>
          <p:cNvSpPr/>
          <p:nvPr/>
        </p:nvSpPr>
        <p:spPr>
          <a:xfrm>
            <a:off x="6080760" y="1645920"/>
            <a:ext cx="2788920" cy="731520"/>
          </a:xfrm>
          <a:prstGeom prst="rect">
            <a:avLst/>
          </a:prstGeom>
          <a:solidFill>
            <a:srgbClr val="0F2133"/>
          </a:solidFill>
          <a:ln w="25400">
            <a:solidFill>
              <a:srgbClr val="16A34A"/>
            </a:solidFill>
            <a:prstDash val="solid"/>
          </a:ln>
        </p:spPr>
      </p:sp>
      <p:sp>
        <p:nvSpPr>
          <p:cNvPr id="9" name="Shape 7"/>
          <p:cNvSpPr/>
          <p:nvPr/>
        </p:nvSpPr>
        <p:spPr>
          <a:xfrm>
            <a:off x="6080760" y="1645920"/>
            <a:ext cx="109728" cy="731520"/>
          </a:xfrm>
          <a:prstGeom prst="rect">
            <a:avLst/>
          </a:prstGeom>
          <a:solidFill>
            <a:srgbClr val="16A34A"/>
          </a:solidFill>
          <a:ln w="12700">
            <a:solidFill>
              <a:srgbClr val="16A34A"/>
            </a:solidFill>
            <a:prstDash val="solid"/>
          </a:ln>
        </p:spPr>
      </p:sp>
      <p:sp>
        <p:nvSpPr>
          <p:cNvPr id="10" name="Text 8"/>
          <p:cNvSpPr/>
          <p:nvPr/>
        </p:nvSpPr>
        <p:spPr>
          <a:xfrm>
            <a:off x="6217920" y="1645920"/>
            <a:ext cx="594360" cy="731520"/>
          </a:xfrm>
          <a:prstGeom prst="rect">
            <a:avLst/>
          </a:prstGeom>
          <a:noFill/>
          <a:ln/>
        </p:spPr>
        <p:txBody>
          <a:bodyPr wrap="square" lIns="0" tIns="0" rIns="0" bIns="0" rtlCol="0" anchor="ctr"/>
          <a:lstStyle/>
          <a:p>
            <a:pPr algn="ctr" indent="0" marL="0">
              <a:buNone/>
            </a:pPr>
            <a:r>
              <a:rPr lang="en-US" sz="2600" b="1" dirty="0">
                <a:solidFill>
                  <a:srgbClr val="16A34A"/>
                </a:solidFill>
                <a:latin typeface="Calibri" pitchFamily="34" charset="0"/>
                <a:ea typeface="Calibri" pitchFamily="34" charset="-122"/>
                <a:cs typeface="Calibri" pitchFamily="34" charset="-120"/>
              </a:rPr>
              <a:t>6</a:t>
            </a:r>
            <a:endParaRPr lang="en-US" sz="2600" dirty="0"/>
          </a:p>
        </p:txBody>
      </p:sp>
      <p:sp>
        <p:nvSpPr>
          <p:cNvPr id="11" name="Text 9"/>
          <p:cNvSpPr/>
          <p:nvPr/>
        </p:nvSpPr>
        <p:spPr>
          <a:xfrm>
            <a:off x="6839712" y="1645920"/>
            <a:ext cx="1828800" cy="73152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PASSED</a:t>
            </a:r>
            <a:endParaRPr lang="en-US" sz="1400" dirty="0"/>
          </a:p>
        </p:txBody>
      </p:sp>
      <p:sp>
        <p:nvSpPr>
          <p:cNvPr id="12" name="Shape 10"/>
          <p:cNvSpPr/>
          <p:nvPr/>
        </p:nvSpPr>
        <p:spPr>
          <a:xfrm>
            <a:off x="6080760" y="2542032"/>
            <a:ext cx="2788920" cy="731520"/>
          </a:xfrm>
          <a:prstGeom prst="rect">
            <a:avLst/>
          </a:prstGeom>
          <a:solidFill>
            <a:srgbClr val="0F2133"/>
          </a:solidFill>
          <a:ln w="25400">
            <a:solidFill>
              <a:srgbClr val="E53E3E"/>
            </a:solidFill>
            <a:prstDash val="solid"/>
          </a:ln>
        </p:spPr>
      </p:sp>
      <p:sp>
        <p:nvSpPr>
          <p:cNvPr id="13" name="Shape 11"/>
          <p:cNvSpPr/>
          <p:nvPr/>
        </p:nvSpPr>
        <p:spPr>
          <a:xfrm>
            <a:off x="6080760" y="2542032"/>
            <a:ext cx="109728" cy="731520"/>
          </a:xfrm>
          <a:prstGeom prst="rect">
            <a:avLst/>
          </a:prstGeom>
          <a:solidFill>
            <a:srgbClr val="E53E3E"/>
          </a:solidFill>
          <a:ln w="12700">
            <a:solidFill>
              <a:srgbClr val="E53E3E"/>
            </a:solidFill>
            <a:prstDash val="solid"/>
          </a:ln>
        </p:spPr>
      </p:sp>
      <p:sp>
        <p:nvSpPr>
          <p:cNvPr id="14" name="Text 12"/>
          <p:cNvSpPr/>
          <p:nvPr/>
        </p:nvSpPr>
        <p:spPr>
          <a:xfrm>
            <a:off x="6217920" y="2542032"/>
            <a:ext cx="594360" cy="731520"/>
          </a:xfrm>
          <a:prstGeom prst="rect">
            <a:avLst/>
          </a:prstGeom>
          <a:noFill/>
          <a:ln/>
        </p:spPr>
        <p:txBody>
          <a:bodyPr wrap="square" lIns="0" tIns="0" rIns="0" bIns="0" rtlCol="0" anchor="ctr"/>
          <a:lstStyle/>
          <a:p>
            <a:pPr algn="ctr" indent="0" marL="0">
              <a:buNone/>
            </a:pPr>
            <a:r>
              <a:rPr lang="en-US" sz="2600" b="1" dirty="0">
                <a:solidFill>
                  <a:srgbClr val="E53E3E"/>
                </a:solidFill>
                <a:latin typeface="Calibri" pitchFamily="34" charset="0"/>
                <a:ea typeface="Calibri" pitchFamily="34" charset="-122"/>
                <a:cs typeface="Calibri" pitchFamily="34" charset="-120"/>
              </a:rPr>
              <a:t>1</a:t>
            </a:r>
            <a:endParaRPr lang="en-US" sz="2600" dirty="0"/>
          </a:p>
        </p:txBody>
      </p:sp>
      <p:sp>
        <p:nvSpPr>
          <p:cNvPr id="15" name="Text 13"/>
          <p:cNvSpPr/>
          <p:nvPr/>
        </p:nvSpPr>
        <p:spPr>
          <a:xfrm>
            <a:off x="6839712" y="2542032"/>
            <a:ext cx="1828800" cy="73152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FAILED</a:t>
            </a:r>
            <a:endParaRPr lang="en-US" sz="1400" dirty="0"/>
          </a:p>
        </p:txBody>
      </p:sp>
      <p:sp>
        <p:nvSpPr>
          <p:cNvPr id="16" name="Shape 14"/>
          <p:cNvSpPr/>
          <p:nvPr/>
        </p:nvSpPr>
        <p:spPr>
          <a:xfrm>
            <a:off x="6080760" y="3438144"/>
            <a:ext cx="2788920" cy="731520"/>
          </a:xfrm>
          <a:prstGeom prst="rect">
            <a:avLst/>
          </a:prstGeom>
          <a:solidFill>
            <a:srgbClr val="0F2133"/>
          </a:solidFill>
          <a:ln w="25400">
            <a:solidFill>
              <a:srgbClr val="D97706"/>
            </a:solidFill>
            <a:prstDash val="solid"/>
          </a:ln>
        </p:spPr>
      </p:sp>
      <p:sp>
        <p:nvSpPr>
          <p:cNvPr id="17" name="Shape 15"/>
          <p:cNvSpPr/>
          <p:nvPr/>
        </p:nvSpPr>
        <p:spPr>
          <a:xfrm>
            <a:off x="6080760" y="3438144"/>
            <a:ext cx="109728" cy="731520"/>
          </a:xfrm>
          <a:prstGeom prst="rect">
            <a:avLst/>
          </a:prstGeom>
          <a:solidFill>
            <a:srgbClr val="D97706"/>
          </a:solidFill>
          <a:ln w="12700">
            <a:solidFill>
              <a:srgbClr val="D97706"/>
            </a:solidFill>
            <a:prstDash val="solid"/>
          </a:ln>
        </p:spPr>
      </p:sp>
      <p:sp>
        <p:nvSpPr>
          <p:cNvPr id="18" name="Text 16"/>
          <p:cNvSpPr/>
          <p:nvPr/>
        </p:nvSpPr>
        <p:spPr>
          <a:xfrm>
            <a:off x="6217920" y="3438144"/>
            <a:ext cx="594360" cy="731520"/>
          </a:xfrm>
          <a:prstGeom prst="rect">
            <a:avLst/>
          </a:prstGeom>
          <a:noFill/>
          <a:ln/>
        </p:spPr>
        <p:txBody>
          <a:bodyPr wrap="square" lIns="0" tIns="0" rIns="0" bIns="0" rtlCol="0" anchor="ctr"/>
          <a:lstStyle/>
          <a:p>
            <a:pPr algn="ctr" indent="0" marL="0">
              <a:buNone/>
            </a:pPr>
            <a:r>
              <a:rPr lang="en-US" sz="2600" b="1" dirty="0">
                <a:solidFill>
                  <a:srgbClr val="D97706"/>
                </a:solidFill>
                <a:latin typeface="Calibri" pitchFamily="34" charset="0"/>
                <a:ea typeface="Calibri" pitchFamily="34" charset="-122"/>
                <a:cs typeface="Calibri" pitchFamily="34" charset="-120"/>
              </a:rPr>
              <a:t>1</a:t>
            </a:r>
            <a:endParaRPr lang="en-US" sz="2600" dirty="0"/>
          </a:p>
        </p:txBody>
      </p:sp>
      <p:sp>
        <p:nvSpPr>
          <p:cNvPr id="19" name="Text 17"/>
          <p:cNvSpPr/>
          <p:nvPr/>
        </p:nvSpPr>
        <p:spPr>
          <a:xfrm>
            <a:off x="6839712" y="3438144"/>
            <a:ext cx="1828800" cy="73152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SKIPPED</a:t>
            </a:r>
            <a:endParaRPr lang="en-US" sz="1400" dirty="0"/>
          </a:p>
        </p:txBody>
      </p:sp>
      <p:sp>
        <p:nvSpPr>
          <p:cNvPr id="20" name="Text 18"/>
          <p:cNvSpPr/>
          <p:nvPr/>
        </p:nvSpPr>
        <p:spPr>
          <a:xfrm>
            <a:off x="6080760" y="4434840"/>
            <a:ext cx="2834640" cy="320040"/>
          </a:xfrm>
          <a:prstGeom prst="rect">
            <a:avLst/>
          </a:prstGeom>
          <a:noFill/>
          <a:ln/>
        </p:spPr>
        <p:txBody>
          <a:bodyPr wrap="square" rtlCol="0" anchor="ctr"/>
          <a:lstStyle/>
          <a:p>
            <a:pPr indent="0" marL="0">
              <a:buNone/>
            </a:pPr>
            <a:r>
              <a:rPr lang="en-US" sz="1100" dirty="0">
                <a:solidFill>
                  <a:srgbClr val="16A34A"/>
                </a:solidFill>
                <a:latin typeface="Calibri" pitchFamily="34" charset="0"/>
                <a:ea typeface="Calibri" pitchFamily="34" charset="-122"/>
                <a:cs typeface="Calibri" pitchFamily="34" charset="-120"/>
              </a:rPr>
              <a:t>✓  Evidence attached per test case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0" y="0"/>
            <a:ext cx="91440" cy="5143500"/>
          </a:xfrm>
          <a:prstGeom prst="rect">
            <a:avLst/>
          </a:prstGeom>
          <a:solidFill>
            <a:srgbClr val="02C39A"/>
          </a:solidFill>
          <a:ln w="12700">
            <a:solidFill>
              <a:srgbClr val="02C39A"/>
            </a:solidFill>
            <a:prstDash val="solid"/>
          </a:ln>
        </p:spPr>
      </p:sp>
      <p:sp>
        <p:nvSpPr>
          <p:cNvPr id="3" name="Text 1"/>
          <p:cNvSpPr/>
          <p:nvPr/>
        </p:nvSpPr>
        <p:spPr>
          <a:xfrm>
            <a:off x="256032" y="164592"/>
            <a:ext cx="8595360" cy="502920"/>
          </a:xfrm>
          <a:prstGeom prst="rect">
            <a:avLst/>
          </a:prstGeom>
          <a:noFill/>
          <a:ln/>
        </p:spPr>
        <p:txBody>
          <a:bodyPr wrap="square" lIns="0" tIns="0" rIns="0" bIns="0" rtlCol="0" anchor="ctr"/>
          <a:lstStyle/>
          <a:p>
            <a:pPr indent="0" marL="0">
              <a:buNone/>
            </a:pPr>
            <a:r>
              <a:rPr lang="en-US" sz="2600" b="1" dirty="0">
                <a:solidFill>
                  <a:srgbClr val="1E293B"/>
                </a:solidFill>
                <a:latin typeface="Calibri" pitchFamily="34" charset="0"/>
                <a:ea typeface="Calibri" pitchFamily="34" charset="-122"/>
                <a:cs typeface="Calibri" pitchFamily="34" charset="-120"/>
              </a:rPr>
              <a:t>What We're Seeing So Far</a:t>
            </a:r>
            <a:endParaRPr lang="en-US" sz="2600" dirty="0"/>
          </a:p>
        </p:txBody>
      </p:sp>
      <p:sp>
        <p:nvSpPr>
          <p:cNvPr id="4" name="Shape 2"/>
          <p:cNvSpPr/>
          <p:nvPr/>
        </p:nvSpPr>
        <p:spPr>
          <a:xfrm>
            <a:off x="256032" y="731520"/>
            <a:ext cx="8595360" cy="27432"/>
          </a:xfrm>
          <a:prstGeom prst="rect">
            <a:avLst/>
          </a:prstGeom>
          <a:solidFill>
            <a:srgbClr val="E2E8F0"/>
          </a:solidFill>
          <a:ln w="12700">
            <a:solidFill>
              <a:srgbClr val="E2E8F0"/>
            </a:solidFill>
            <a:prstDash val="solid"/>
          </a:ln>
        </p:spPr>
      </p:sp>
      <p:sp>
        <p:nvSpPr>
          <p:cNvPr id="5" name="Shape 3"/>
          <p:cNvSpPr/>
          <p:nvPr/>
        </p:nvSpPr>
        <p:spPr>
          <a:xfrm>
            <a:off x="256032" y="960120"/>
            <a:ext cx="2697480" cy="2011680"/>
          </a:xfrm>
          <a:prstGeom prst="rect">
            <a:avLst/>
          </a:prstGeom>
          <a:solidFill>
            <a:srgbClr val="FFFFFF"/>
          </a:solidFill>
          <a:ln w="12700">
            <a:solidFill>
              <a:srgbClr val="E2E8F0"/>
            </a:solidFill>
            <a:prstDash val="solid"/>
          </a:ln>
          <a:effectLst>
            <a:outerShdw sx="100000" sy="100000" kx="0" ky="0" algn="bl" rotWithShape="0" blurRad="101600" dist="38100" dir="8100000">
              <a:srgbClr val="000000">
                <a:alpha val="12000"/>
              </a:srgbClr>
            </a:outerShdw>
          </a:effectLst>
        </p:spPr>
      </p:sp>
      <p:sp>
        <p:nvSpPr>
          <p:cNvPr id="6" name="Shape 4"/>
          <p:cNvSpPr/>
          <p:nvPr/>
        </p:nvSpPr>
        <p:spPr>
          <a:xfrm>
            <a:off x="256032" y="960120"/>
            <a:ext cx="2697480" cy="128016"/>
          </a:xfrm>
          <a:prstGeom prst="rect">
            <a:avLst/>
          </a:prstGeom>
          <a:solidFill>
            <a:srgbClr val="065A82"/>
          </a:solidFill>
          <a:ln w="12700">
            <a:solidFill>
              <a:srgbClr val="065A82"/>
            </a:solidFill>
            <a:prstDash val="solid"/>
          </a:ln>
        </p:spPr>
      </p:sp>
      <p:sp>
        <p:nvSpPr>
          <p:cNvPr id="7" name="Text 5"/>
          <p:cNvSpPr/>
          <p:nvPr/>
        </p:nvSpPr>
        <p:spPr>
          <a:xfrm>
            <a:off x="256032" y="1115568"/>
            <a:ext cx="2697480" cy="841248"/>
          </a:xfrm>
          <a:prstGeom prst="rect">
            <a:avLst/>
          </a:prstGeom>
          <a:noFill/>
          <a:ln/>
        </p:spPr>
        <p:txBody>
          <a:bodyPr wrap="square" lIns="0" tIns="0" rIns="0" bIns="0" rtlCol="0" anchor="ctr"/>
          <a:lstStyle/>
          <a:p>
            <a:pPr algn="ctr" indent="0" marL="0">
              <a:buNone/>
            </a:pPr>
            <a:r>
              <a:rPr lang="en-US" sz="4400" b="1" dirty="0">
                <a:solidFill>
                  <a:srgbClr val="065A82"/>
                </a:solidFill>
                <a:latin typeface="Calibri" pitchFamily="34" charset="0"/>
                <a:ea typeface="Calibri" pitchFamily="34" charset="-122"/>
                <a:cs typeface="Calibri" pitchFamily="34" charset="-120"/>
              </a:rPr>
              <a:t>Hours</a:t>
            </a:r>
            <a:endParaRPr lang="en-US" sz="4400" dirty="0"/>
          </a:p>
        </p:txBody>
      </p:sp>
      <p:sp>
        <p:nvSpPr>
          <p:cNvPr id="8" name="Text 6"/>
          <p:cNvSpPr/>
          <p:nvPr/>
        </p:nvSpPr>
        <p:spPr>
          <a:xfrm>
            <a:off x="347472" y="1993392"/>
            <a:ext cx="2514600" cy="777240"/>
          </a:xfrm>
          <a:prstGeom prst="rect">
            <a:avLst/>
          </a:prstGeom>
          <a:noFill/>
          <a:ln/>
        </p:spPr>
        <p:txBody>
          <a:bodyPr wrap="square" rtlCol="0" anchor="ctr"/>
          <a:lstStyle/>
          <a:p>
            <a:pPr algn="ctr" indent="0" marL="0">
              <a:buNone/>
            </a:pPr>
            <a:r>
              <a:rPr lang="en-US" sz="1300" dirty="0">
                <a:solidFill>
                  <a:srgbClr val="4A5568"/>
                </a:solidFill>
                <a:latin typeface="Calibri" pitchFamily="34" charset="0"/>
                <a:ea typeface="Calibri" pitchFamily="34" charset="-122"/>
                <a:cs typeface="Calibri" pitchFamily="34" charset="-120"/>
              </a:rPr>
              <a:t>Saved per feature</a:t>
            </a:r>
            <a:endParaRPr lang="en-US" sz="1300" dirty="0"/>
          </a:p>
          <a:p>
            <a:pPr algn="ctr" indent="0" marL="0">
              <a:buNone/>
            </a:pPr>
            <a:r>
              <a:rPr lang="en-US" sz="1300" dirty="0">
                <a:solidFill>
                  <a:srgbClr val="4A5568"/>
                </a:solidFill>
                <a:latin typeface="Calibri" pitchFamily="34" charset="0"/>
                <a:ea typeface="Calibri" pitchFamily="34" charset="-122"/>
                <a:cs typeface="Calibri" pitchFamily="34" charset="-120"/>
              </a:rPr>
              <a:t>vs. manual process</a:t>
            </a:r>
            <a:endParaRPr lang="en-US" sz="1300" dirty="0"/>
          </a:p>
        </p:txBody>
      </p:sp>
      <p:sp>
        <p:nvSpPr>
          <p:cNvPr id="9" name="Shape 7"/>
          <p:cNvSpPr/>
          <p:nvPr/>
        </p:nvSpPr>
        <p:spPr>
          <a:xfrm>
            <a:off x="3163824" y="960120"/>
            <a:ext cx="2697480" cy="2011680"/>
          </a:xfrm>
          <a:prstGeom prst="rect">
            <a:avLst/>
          </a:prstGeom>
          <a:solidFill>
            <a:srgbClr val="FFFFFF"/>
          </a:solidFill>
          <a:ln w="12700">
            <a:solidFill>
              <a:srgbClr val="E2E8F0"/>
            </a:solidFill>
            <a:prstDash val="solid"/>
          </a:ln>
          <a:effectLst>
            <a:outerShdw sx="100000" sy="100000" kx="0" ky="0" algn="bl" rotWithShape="0" blurRad="101600" dist="38100" dir="8100000">
              <a:srgbClr val="000000">
                <a:alpha val="12000"/>
              </a:srgbClr>
            </a:outerShdw>
          </a:effectLst>
        </p:spPr>
      </p:sp>
      <p:sp>
        <p:nvSpPr>
          <p:cNvPr id="10" name="Shape 8"/>
          <p:cNvSpPr/>
          <p:nvPr/>
        </p:nvSpPr>
        <p:spPr>
          <a:xfrm>
            <a:off x="3163824" y="960120"/>
            <a:ext cx="2697480" cy="128016"/>
          </a:xfrm>
          <a:prstGeom prst="rect">
            <a:avLst/>
          </a:prstGeom>
          <a:solidFill>
            <a:srgbClr val="16A34A"/>
          </a:solidFill>
          <a:ln w="12700">
            <a:solidFill>
              <a:srgbClr val="16A34A"/>
            </a:solidFill>
            <a:prstDash val="solid"/>
          </a:ln>
        </p:spPr>
      </p:sp>
      <p:sp>
        <p:nvSpPr>
          <p:cNvPr id="11" name="Text 9"/>
          <p:cNvSpPr/>
          <p:nvPr/>
        </p:nvSpPr>
        <p:spPr>
          <a:xfrm>
            <a:off x="3163824" y="1115568"/>
            <a:ext cx="2697480" cy="841248"/>
          </a:xfrm>
          <a:prstGeom prst="rect">
            <a:avLst/>
          </a:prstGeom>
          <a:noFill/>
          <a:ln/>
        </p:spPr>
        <p:txBody>
          <a:bodyPr wrap="square" lIns="0" tIns="0" rIns="0" bIns="0" rtlCol="0" anchor="ctr"/>
          <a:lstStyle/>
          <a:p>
            <a:pPr algn="ctr" indent="0" marL="0">
              <a:buNone/>
            </a:pPr>
            <a:r>
              <a:rPr lang="en-US" sz="4400" b="1" dirty="0">
                <a:solidFill>
                  <a:srgbClr val="16A34A"/>
                </a:solidFill>
                <a:latin typeface="Calibri" pitchFamily="34" charset="0"/>
                <a:ea typeface="Calibri" pitchFamily="34" charset="-122"/>
                <a:cs typeface="Calibri" pitchFamily="34" charset="-120"/>
              </a:rPr>
              <a:t>100%</a:t>
            </a:r>
            <a:endParaRPr lang="en-US" sz="4400" dirty="0"/>
          </a:p>
        </p:txBody>
      </p:sp>
      <p:sp>
        <p:nvSpPr>
          <p:cNvPr id="12" name="Text 10"/>
          <p:cNvSpPr/>
          <p:nvPr/>
        </p:nvSpPr>
        <p:spPr>
          <a:xfrm>
            <a:off x="3255264" y="1993392"/>
            <a:ext cx="2514600" cy="777240"/>
          </a:xfrm>
          <a:prstGeom prst="rect">
            <a:avLst/>
          </a:prstGeom>
          <a:noFill/>
          <a:ln/>
        </p:spPr>
        <p:txBody>
          <a:bodyPr wrap="square" rtlCol="0" anchor="ctr"/>
          <a:lstStyle/>
          <a:p>
            <a:pPr algn="ctr" indent="0" marL="0">
              <a:buNone/>
            </a:pPr>
            <a:r>
              <a:rPr lang="en-US" sz="1300" dirty="0">
                <a:solidFill>
                  <a:srgbClr val="4A5568"/>
                </a:solidFill>
                <a:latin typeface="Calibri" pitchFamily="34" charset="0"/>
                <a:ea typeface="Calibri" pitchFamily="34" charset="-122"/>
                <a:cs typeface="Calibri" pitchFamily="34" charset="-120"/>
              </a:rPr>
              <a:t>Traceability in</a:t>
            </a:r>
            <a:endParaRPr lang="en-US" sz="1300" dirty="0"/>
          </a:p>
          <a:p>
            <a:pPr algn="ctr" indent="0" marL="0">
              <a:buNone/>
            </a:pPr>
            <a:r>
              <a:rPr lang="en-US" sz="1300" dirty="0">
                <a:solidFill>
                  <a:srgbClr val="4A5568"/>
                </a:solidFill>
                <a:latin typeface="Calibri" pitchFamily="34" charset="0"/>
                <a:ea typeface="Calibri" pitchFamily="34" charset="-122"/>
                <a:cs typeface="Calibri" pitchFamily="34" charset="-120"/>
              </a:rPr>
              <a:t>Polarion, automatically</a:t>
            </a:r>
            <a:endParaRPr lang="en-US" sz="1300" dirty="0"/>
          </a:p>
        </p:txBody>
      </p:sp>
      <p:sp>
        <p:nvSpPr>
          <p:cNvPr id="13" name="Shape 11"/>
          <p:cNvSpPr/>
          <p:nvPr/>
        </p:nvSpPr>
        <p:spPr>
          <a:xfrm>
            <a:off x="6071616" y="960120"/>
            <a:ext cx="2697480" cy="2011680"/>
          </a:xfrm>
          <a:prstGeom prst="rect">
            <a:avLst/>
          </a:prstGeom>
          <a:solidFill>
            <a:srgbClr val="FFFFFF"/>
          </a:solidFill>
          <a:ln w="12700">
            <a:solidFill>
              <a:srgbClr val="E2E8F0"/>
            </a:solidFill>
            <a:prstDash val="solid"/>
          </a:ln>
          <a:effectLst>
            <a:outerShdw sx="100000" sy="100000" kx="0" ky="0" algn="bl" rotWithShape="0" blurRad="101600" dist="38100" dir="8100000">
              <a:srgbClr val="000000">
                <a:alpha val="12000"/>
              </a:srgbClr>
            </a:outerShdw>
          </a:effectLst>
        </p:spPr>
      </p:sp>
      <p:sp>
        <p:nvSpPr>
          <p:cNvPr id="14" name="Shape 12"/>
          <p:cNvSpPr/>
          <p:nvPr/>
        </p:nvSpPr>
        <p:spPr>
          <a:xfrm>
            <a:off x="6071616" y="960120"/>
            <a:ext cx="2697480" cy="128016"/>
          </a:xfrm>
          <a:prstGeom prst="rect">
            <a:avLst/>
          </a:prstGeom>
          <a:solidFill>
            <a:srgbClr val="7C3AED"/>
          </a:solidFill>
          <a:ln w="12700">
            <a:solidFill>
              <a:srgbClr val="7C3AED"/>
            </a:solidFill>
            <a:prstDash val="solid"/>
          </a:ln>
        </p:spPr>
      </p:sp>
      <p:sp>
        <p:nvSpPr>
          <p:cNvPr id="15" name="Text 13"/>
          <p:cNvSpPr/>
          <p:nvPr/>
        </p:nvSpPr>
        <p:spPr>
          <a:xfrm>
            <a:off x="6071616" y="1115568"/>
            <a:ext cx="2697480" cy="841248"/>
          </a:xfrm>
          <a:prstGeom prst="rect">
            <a:avLst/>
          </a:prstGeom>
          <a:noFill/>
          <a:ln/>
        </p:spPr>
        <p:txBody>
          <a:bodyPr wrap="square" lIns="0" tIns="0" rIns="0" bIns="0" rtlCol="0" anchor="ctr"/>
          <a:lstStyle/>
          <a:p>
            <a:pPr algn="ctr" indent="0" marL="0">
              <a:buNone/>
            </a:pPr>
            <a:r>
              <a:rPr lang="en-US" sz="4400" b="1" dirty="0">
                <a:solidFill>
                  <a:srgbClr val="7C3AED"/>
                </a:solidFill>
                <a:latin typeface="Calibri" pitchFamily="34" charset="0"/>
                <a:ea typeface="Calibri" pitchFamily="34" charset="-122"/>
                <a:cs typeface="Calibri" pitchFamily="34" charset="-120"/>
              </a:rPr>
              <a:t>Minutes</a:t>
            </a:r>
            <a:endParaRPr lang="en-US" sz="4400" dirty="0"/>
          </a:p>
        </p:txBody>
      </p:sp>
      <p:sp>
        <p:nvSpPr>
          <p:cNvPr id="16" name="Text 14"/>
          <p:cNvSpPr/>
          <p:nvPr/>
        </p:nvSpPr>
        <p:spPr>
          <a:xfrm>
            <a:off x="6163056" y="1993392"/>
            <a:ext cx="2514600" cy="777240"/>
          </a:xfrm>
          <a:prstGeom prst="rect">
            <a:avLst/>
          </a:prstGeom>
          <a:noFill/>
          <a:ln/>
        </p:spPr>
        <p:txBody>
          <a:bodyPr wrap="square" rtlCol="0" anchor="ctr"/>
          <a:lstStyle/>
          <a:p>
            <a:pPr algn="ctr" indent="0" marL="0">
              <a:buNone/>
            </a:pPr>
            <a:r>
              <a:rPr lang="en-US" sz="1300" dirty="0">
                <a:solidFill>
                  <a:srgbClr val="4A5568"/>
                </a:solidFill>
                <a:latin typeface="Calibri" pitchFamily="34" charset="0"/>
                <a:ea typeface="Calibri" pitchFamily="34" charset="-122"/>
                <a:cs typeface="Calibri" pitchFamily="34" charset="-120"/>
              </a:rPr>
              <a:t>End-to-end loop</a:t>
            </a:r>
            <a:endParaRPr lang="en-US" sz="1300" dirty="0"/>
          </a:p>
          <a:p>
            <a:pPr algn="ctr" indent="0" marL="0">
              <a:buNone/>
            </a:pPr>
            <a:r>
              <a:rPr lang="en-US" sz="1300" dirty="0">
                <a:solidFill>
                  <a:srgbClr val="4A5568"/>
                </a:solidFill>
                <a:latin typeface="Calibri" pitchFamily="34" charset="0"/>
                <a:ea typeface="Calibri" pitchFamily="34" charset="-122"/>
                <a:cs typeface="Calibri" pitchFamily="34" charset="-120"/>
              </a:rPr>
              <a:t>per requirement</a:t>
            </a:r>
            <a:endParaRPr lang="en-US" sz="1300" dirty="0"/>
          </a:p>
        </p:txBody>
      </p:sp>
      <p:sp>
        <p:nvSpPr>
          <p:cNvPr id="17" name="Shape 15"/>
          <p:cNvSpPr/>
          <p:nvPr/>
        </p:nvSpPr>
        <p:spPr>
          <a:xfrm>
            <a:off x="256032" y="3246120"/>
            <a:ext cx="2697480" cy="1600200"/>
          </a:xfrm>
          <a:prstGeom prst="rect">
            <a:avLst/>
          </a:prstGeom>
          <a:solidFill>
            <a:srgbClr val="FFFFFF"/>
          </a:solidFill>
          <a:ln w="12700">
            <a:solidFill>
              <a:srgbClr val="E2E8F0"/>
            </a:solidFill>
            <a:prstDash val="solid"/>
          </a:ln>
          <a:effectLst>
            <a:outerShdw sx="100000" sy="100000" kx="0" ky="0" algn="bl" rotWithShape="0" blurRad="101600" dist="38100" dir="8100000">
              <a:srgbClr val="000000">
                <a:alpha val="12000"/>
              </a:srgbClr>
            </a:outerShdw>
          </a:effectLst>
        </p:spPr>
      </p:sp>
      <p:sp>
        <p:nvSpPr>
          <p:cNvPr id="18" name="Shape 16"/>
          <p:cNvSpPr/>
          <p:nvPr/>
        </p:nvSpPr>
        <p:spPr>
          <a:xfrm>
            <a:off x="256032" y="3246120"/>
            <a:ext cx="91440" cy="1600200"/>
          </a:xfrm>
          <a:prstGeom prst="rect">
            <a:avLst/>
          </a:prstGeom>
          <a:solidFill>
            <a:srgbClr val="065A82"/>
          </a:solidFill>
          <a:ln w="12700">
            <a:solidFill>
              <a:srgbClr val="065A82"/>
            </a:solidFill>
            <a:prstDash val="solid"/>
          </a:ln>
        </p:spPr>
      </p:sp>
      <p:sp>
        <p:nvSpPr>
          <p:cNvPr id="19" name="Text 17"/>
          <p:cNvSpPr/>
          <p:nvPr/>
        </p:nvSpPr>
        <p:spPr>
          <a:xfrm>
            <a:off x="457200" y="3337560"/>
            <a:ext cx="2377440" cy="384048"/>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More Consistent</a:t>
            </a:r>
            <a:endParaRPr lang="en-US" sz="1300" dirty="0"/>
          </a:p>
        </p:txBody>
      </p:sp>
      <p:sp>
        <p:nvSpPr>
          <p:cNvPr id="20" name="Text 18"/>
          <p:cNvSpPr/>
          <p:nvPr/>
        </p:nvSpPr>
        <p:spPr>
          <a:xfrm>
            <a:off x="457200" y="3767328"/>
            <a:ext cx="2377440" cy="914400"/>
          </a:xfrm>
          <a:prstGeom prst="rect">
            <a:avLst/>
          </a:prstGeom>
          <a:noFill/>
          <a:ln/>
        </p:spPr>
        <p:txBody>
          <a:bodyPr wrap="square" rtlCol="0" anchor="ctr"/>
          <a:lstStyle/>
          <a:p>
            <a:pPr indent="0" marL="0">
              <a:buNone/>
            </a:pPr>
            <a:r>
              <a:rPr lang="en-US" sz="1200" dirty="0">
                <a:solidFill>
                  <a:srgbClr val="4A5568"/>
                </a:solidFill>
                <a:latin typeface="Calibri" pitchFamily="34" charset="0"/>
                <a:ea typeface="Calibri" pitchFamily="34" charset="-122"/>
                <a:cs typeface="Calibri" pitchFamily="34" charset="-120"/>
              </a:rPr>
              <a:t>Test coverage &amp; risk ID</a:t>
            </a:r>
            <a:endParaRPr lang="en-US" sz="1200" dirty="0"/>
          </a:p>
          <a:p>
            <a:pPr indent="0" marL="0">
              <a:buNone/>
            </a:pPr>
            <a:r>
              <a:rPr lang="en-US" sz="1200" dirty="0">
                <a:solidFill>
                  <a:srgbClr val="4A5568"/>
                </a:solidFill>
                <a:latin typeface="Calibri" pitchFamily="34" charset="0"/>
                <a:ea typeface="Calibri" pitchFamily="34" charset="-122"/>
                <a:cs typeface="Calibri" pitchFamily="34" charset="-120"/>
              </a:rPr>
              <a:t>no longer author-dependent</a:t>
            </a:r>
            <a:endParaRPr lang="en-US" sz="1200" dirty="0"/>
          </a:p>
        </p:txBody>
      </p:sp>
      <p:sp>
        <p:nvSpPr>
          <p:cNvPr id="21" name="Shape 19"/>
          <p:cNvSpPr/>
          <p:nvPr/>
        </p:nvSpPr>
        <p:spPr>
          <a:xfrm>
            <a:off x="3163824" y="3246120"/>
            <a:ext cx="2697480" cy="1600200"/>
          </a:xfrm>
          <a:prstGeom prst="rect">
            <a:avLst/>
          </a:prstGeom>
          <a:solidFill>
            <a:srgbClr val="FFFFFF"/>
          </a:solidFill>
          <a:ln w="12700">
            <a:solidFill>
              <a:srgbClr val="E2E8F0"/>
            </a:solidFill>
            <a:prstDash val="solid"/>
          </a:ln>
          <a:effectLst>
            <a:outerShdw sx="100000" sy="100000" kx="0" ky="0" algn="bl" rotWithShape="0" blurRad="101600" dist="38100" dir="8100000">
              <a:srgbClr val="000000">
                <a:alpha val="12000"/>
              </a:srgbClr>
            </a:outerShdw>
          </a:effectLst>
        </p:spPr>
      </p:sp>
      <p:sp>
        <p:nvSpPr>
          <p:cNvPr id="22" name="Shape 20"/>
          <p:cNvSpPr/>
          <p:nvPr/>
        </p:nvSpPr>
        <p:spPr>
          <a:xfrm>
            <a:off x="3163824" y="3246120"/>
            <a:ext cx="91440" cy="1600200"/>
          </a:xfrm>
          <a:prstGeom prst="rect">
            <a:avLst/>
          </a:prstGeom>
          <a:solidFill>
            <a:srgbClr val="7C3AED"/>
          </a:solidFill>
          <a:ln w="12700">
            <a:solidFill>
              <a:srgbClr val="7C3AED"/>
            </a:solidFill>
            <a:prstDash val="solid"/>
          </a:ln>
        </p:spPr>
      </p:sp>
      <p:sp>
        <p:nvSpPr>
          <p:cNvPr id="23" name="Text 21"/>
          <p:cNvSpPr/>
          <p:nvPr/>
        </p:nvSpPr>
        <p:spPr>
          <a:xfrm>
            <a:off x="3364992" y="3337560"/>
            <a:ext cx="2377440" cy="384048"/>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Higher-Value Work</a:t>
            </a:r>
            <a:endParaRPr lang="en-US" sz="1300" dirty="0"/>
          </a:p>
        </p:txBody>
      </p:sp>
      <p:sp>
        <p:nvSpPr>
          <p:cNvPr id="24" name="Text 22"/>
          <p:cNvSpPr/>
          <p:nvPr/>
        </p:nvSpPr>
        <p:spPr>
          <a:xfrm>
            <a:off x="3364992" y="3767328"/>
            <a:ext cx="2377440" cy="914400"/>
          </a:xfrm>
          <a:prstGeom prst="rect">
            <a:avLst/>
          </a:prstGeom>
          <a:noFill/>
          <a:ln/>
        </p:spPr>
        <p:txBody>
          <a:bodyPr wrap="square" rtlCol="0" anchor="ctr"/>
          <a:lstStyle/>
          <a:p>
            <a:pPr indent="0" marL="0">
              <a:buNone/>
            </a:pPr>
            <a:r>
              <a:rPr lang="en-US" sz="1200" dirty="0">
                <a:solidFill>
                  <a:srgbClr val="4A5568"/>
                </a:solidFill>
                <a:latin typeface="Calibri" pitchFamily="34" charset="0"/>
                <a:ea typeface="Calibri" pitchFamily="34" charset="-122"/>
                <a:cs typeface="Calibri" pitchFamily="34" charset="-120"/>
              </a:rPr>
              <a:t>Engineers focus on</a:t>
            </a:r>
            <a:endParaRPr lang="en-US" sz="1200" dirty="0"/>
          </a:p>
          <a:p>
            <a:pPr indent="0" marL="0">
              <a:buNone/>
            </a:pPr>
            <a:r>
              <a:rPr lang="en-US" sz="1200" dirty="0">
                <a:solidFill>
                  <a:srgbClr val="4A5568"/>
                </a:solidFill>
                <a:latin typeface="Calibri" pitchFamily="34" charset="0"/>
                <a:ea typeface="Calibri" pitchFamily="34" charset="-122"/>
                <a:cs typeface="Calibri" pitchFamily="34" charset="-120"/>
              </a:rPr>
              <a:t>review, logic &amp; complex cases</a:t>
            </a:r>
            <a:endParaRPr lang="en-US" sz="1200" dirty="0"/>
          </a:p>
        </p:txBody>
      </p:sp>
      <p:sp>
        <p:nvSpPr>
          <p:cNvPr id="25" name="Shape 23"/>
          <p:cNvSpPr/>
          <p:nvPr/>
        </p:nvSpPr>
        <p:spPr>
          <a:xfrm>
            <a:off x="6071616" y="3246120"/>
            <a:ext cx="2697480" cy="1600200"/>
          </a:xfrm>
          <a:prstGeom prst="rect">
            <a:avLst/>
          </a:prstGeom>
          <a:solidFill>
            <a:srgbClr val="FFFFFF"/>
          </a:solidFill>
          <a:ln w="12700">
            <a:solidFill>
              <a:srgbClr val="E2E8F0"/>
            </a:solidFill>
            <a:prstDash val="solid"/>
          </a:ln>
          <a:effectLst>
            <a:outerShdw sx="100000" sy="100000" kx="0" ky="0" algn="bl" rotWithShape="0" blurRad="101600" dist="38100" dir="8100000">
              <a:srgbClr val="000000">
                <a:alpha val="12000"/>
              </a:srgbClr>
            </a:outerShdw>
          </a:effectLst>
        </p:spPr>
      </p:sp>
      <p:sp>
        <p:nvSpPr>
          <p:cNvPr id="26" name="Shape 24"/>
          <p:cNvSpPr/>
          <p:nvPr/>
        </p:nvSpPr>
        <p:spPr>
          <a:xfrm>
            <a:off x="6071616" y="3246120"/>
            <a:ext cx="91440" cy="1600200"/>
          </a:xfrm>
          <a:prstGeom prst="rect">
            <a:avLst/>
          </a:prstGeom>
          <a:solidFill>
            <a:srgbClr val="16A34A"/>
          </a:solidFill>
          <a:ln w="12700">
            <a:solidFill>
              <a:srgbClr val="16A34A"/>
            </a:solidFill>
            <a:prstDash val="solid"/>
          </a:ln>
        </p:spPr>
      </p:sp>
      <p:sp>
        <p:nvSpPr>
          <p:cNvPr id="27" name="Text 25"/>
          <p:cNvSpPr/>
          <p:nvPr/>
        </p:nvSpPr>
        <p:spPr>
          <a:xfrm>
            <a:off x="6272784" y="3337560"/>
            <a:ext cx="2377440" cy="384048"/>
          </a:xfrm>
          <a:prstGeom prst="rect">
            <a:avLst/>
          </a:prstGeom>
          <a:noFill/>
          <a:ln/>
        </p:spPr>
        <p:txBody>
          <a:bodyPr wrap="square" lIns="0" tIns="0" rIns="0" bIns="0" rtlCol="0" anchor="ctr"/>
          <a:lstStyle/>
          <a:p>
            <a:pPr indent="0" marL="0">
              <a:buNone/>
            </a:pPr>
            <a:r>
              <a:rPr lang="en-US" sz="1300" b="1" dirty="0">
                <a:solidFill>
                  <a:srgbClr val="1E293B"/>
                </a:solidFill>
                <a:latin typeface="Calibri" pitchFamily="34" charset="0"/>
                <a:ea typeface="Calibri" pitchFamily="34" charset="-122"/>
                <a:cs typeface="Calibri" pitchFamily="34" charset="-120"/>
              </a:rPr>
              <a:t>No New Vendor</a:t>
            </a:r>
            <a:endParaRPr lang="en-US" sz="1300" dirty="0"/>
          </a:p>
        </p:txBody>
      </p:sp>
      <p:sp>
        <p:nvSpPr>
          <p:cNvPr id="28" name="Text 26"/>
          <p:cNvSpPr/>
          <p:nvPr/>
        </p:nvSpPr>
        <p:spPr>
          <a:xfrm>
            <a:off x="6272784" y="3767328"/>
            <a:ext cx="2377440" cy="914400"/>
          </a:xfrm>
          <a:prstGeom prst="rect">
            <a:avLst/>
          </a:prstGeom>
          <a:noFill/>
          <a:ln/>
        </p:spPr>
        <p:txBody>
          <a:bodyPr wrap="square" rtlCol="0" anchor="ctr"/>
          <a:lstStyle/>
          <a:p>
            <a:pPr indent="0" marL="0">
              <a:buNone/>
            </a:pPr>
            <a:r>
              <a:rPr lang="en-US" sz="1200" dirty="0">
                <a:solidFill>
                  <a:srgbClr val="4A5568"/>
                </a:solidFill>
                <a:latin typeface="Calibri" pitchFamily="34" charset="0"/>
                <a:ea typeface="Calibri" pitchFamily="34" charset="-122"/>
                <a:cs typeface="Calibri" pitchFamily="34" charset="-120"/>
              </a:rPr>
              <a:t>Built entirely on</a:t>
            </a:r>
            <a:endParaRPr lang="en-US" sz="1200" dirty="0"/>
          </a:p>
          <a:p>
            <a:pPr indent="0" marL="0">
              <a:buNone/>
            </a:pPr>
            <a:r>
              <a:rPr lang="en-US" sz="1200" dirty="0">
                <a:solidFill>
                  <a:srgbClr val="4A5568"/>
                </a:solidFill>
                <a:latin typeface="Calibri" pitchFamily="34" charset="0"/>
                <a:ea typeface="Calibri" pitchFamily="34" charset="-122"/>
                <a:cs typeface="Calibri" pitchFamily="34" charset="-120"/>
              </a:rPr>
              <a:t>tools we already own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6720840" y="0"/>
            <a:ext cx="2423160" cy="5143500"/>
          </a:xfrm>
          <a:prstGeom prst="rect">
            <a:avLst/>
          </a:prstGeom>
          <a:solidFill>
            <a:srgbClr val="065A82"/>
          </a:solidFill>
          <a:ln w="12700">
            <a:solidFill>
              <a:srgbClr val="065A82"/>
            </a:solidFill>
            <a:prstDash val="solid"/>
          </a:ln>
        </p:spPr>
      </p:sp>
      <p:sp>
        <p:nvSpPr>
          <p:cNvPr id="3" name="Shape 1"/>
          <p:cNvSpPr/>
          <p:nvPr/>
        </p:nvSpPr>
        <p:spPr>
          <a:xfrm>
            <a:off x="6647688" y="0"/>
            <a:ext cx="73152" cy="5143500"/>
          </a:xfrm>
          <a:prstGeom prst="rect">
            <a:avLst/>
          </a:prstGeom>
          <a:solidFill>
            <a:srgbClr val="02C39A"/>
          </a:solidFill>
          <a:ln w="12700">
            <a:solidFill>
              <a:srgbClr val="02C39A"/>
            </a:solidFill>
            <a:prstDash val="solid"/>
          </a:ln>
        </p:spPr>
      </p:sp>
      <p:sp>
        <p:nvSpPr>
          <p:cNvPr id="4" name="Shape 2"/>
          <p:cNvSpPr/>
          <p:nvPr/>
        </p:nvSpPr>
        <p:spPr>
          <a:xfrm>
            <a:off x="0" y="0"/>
            <a:ext cx="91440" cy="5143500"/>
          </a:xfrm>
          <a:prstGeom prst="rect">
            <a:avLst/>
          </a:prstGeom>
          <a:solidFill>
            <a:srgbClr val="02C39A"/>
          </a:solidFill>
          <a:ln w="12700">
            <a:solidFill>
              <a:srgbClr val="02C39A"/>
            </a:solidFill>
            <a:prstDash val="solid"/>
          </a:ln>
        </p:spPr>
      </p:sp>
      <p:sp>
        <p:nvSpPr>
          <p:cNvPr id="5" name="Text 3"/>
          <p:cNvSpPr/>
          <p:nvPr/>
        </p:nvSpPr>
        <p:spPr>
          <a:xfrm>
            <a:off x="256032" y="155448"/>
            <a:ext cx="6217920" cy="347472"/>
          </a:xfrm>
          <a:prstGeom prst="rect">
            <a:avLst/>
          </a:prstGeom>
          <a:noFill/>
          <a:ln/>
        </p:spPr>
        <p:txBody>
          <a:bodyPr wrap="square" rtlCol="0" anchor="ctr"/>
          <a:lstStyle/>
          <a:p>
            <a:pPr indent="0" marL="0">
              <a:buNone/>
            </a:pPr>
            <a:r>
              <a:rPr lang="en-US" sz="1000" b="1" spc="300" kern="0" dirty="0">
                <a:solidFill>
                  <a:srgbClr val="02C39A"/>
                </a:solidFill>
                <a:latin typeface="Calibri" pitchFamily="34" charset="0"/>
                <a:ea typeface="Calibri" pitchFamily="34" charset="-122"/>
                <a:cs typeface="Calibri" pitchFamily="34" charset="-120"/>
              </a:rPr>
              <a:t>NEXT STEPS</a:t>
            </a:r>
            <a:endParaRPr lang="en-US" sz="1000" dirty="0"/>
          </a:p>
        </p:txBody>
      </p:sp>
      <p:sp>
        <p:nvSpPr>
          <p:cNvPr id="6" name="Text 4"/>
          <p:cNvSpPr/>
          <p:nvPr/>
        </p:nvSpPr>
        <p:spPr>
          <a:xfrm>
            <a:off x="256032" y="457200"/>
            <a:ext cx="6217920" cy="566928"/>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Let's Make This Useful for Everyone</a:t>
            </a:r>
            <a:endParaRPr lang="en-US" sz="2400" dirty="0"/>
          </a:p>
        </p:txBody>
      </p:sp>
      <p:pic>
        <p:nvPicPr>
          <p:cNvPr id="7" name="Image 0" descr="preencoded.png">    </p:cNvPr>
          <p:cNvPicPr>
            <a:picLocks noChangeAspect="1"/>
          </p:cNvPicPr>
          <p:nvPr/>
        </p:nvPicPr>
        <p:blipFill>
          <a:blip r:embed="rId1"/>
          <a:stretch>
            <a:fillRect/>
          </a:stretch>
        </p:blipFill>
        <p:spPr>
          <a:xfrm>
            <a:off x="256032" y="1261872"/>
            <a:ext cx="347472" cy="347472"/>
          </a:xfrm>
          <a:prstGeom prst="rect">
            <a:avLst/>
          </a:prstGeom>
        </p:spPr>
      </p:pic>
      <p:sp>
        <p:nvSpPr>
          <p:cNvPr id="8" name="Text 5"/>
          <p:cNvSpPr/>
          <p:nvPr/>
        </p:nvSpPr>
        <p:spPr>
          <a:xfrm>
            <a:off x="749808" y="1207008"/>
            <a:ext cx="5669280" cy="38404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 can share templates + CLI examples</a:t>
            </a:r>
            <a:endParaRPr lang="en-US" sz="1500" dirty="0"/>
          </a:p>
        </p:txBody>
      </p:sp>
      <p:sp>
        <p:nvSpPr>
          <p:cNvPr id="9" name="Text 6"/>
          <p:cNvSpPr/>
          <p:nvPr/>
        </p:nvSpPr>
        <p:spPr>
          <a:xfrm>
            <a:off x="749808" y="1572768"/>
            <a:ext cx="5669280" cy="274320"/>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Agent prompts, setup guide, walkthrough doc</a:t>
            </a:r>
            <a:endParaRPr lang="en-US" sz="1100" dirty="0"/>
          </a:p>
        </p:txBody>
      </p:sp>
      <p:pic>
        <p:nvPicPr>
          <p:cNvPr id="10" name="Image 1" descr="preencoded.png">    </p:cNvPr>
          <p:cNvPicPr>
            <a:picLocks noChangeAspect="1"/>
          </p:cNvPicPr>
          <p:nvPr/>
        </p:nvPicPr>
        <p:blipFill>
          <a:blip r:embed="rId2"/>
          <a:stretch>
            <a:fillRect/>
          </a:stretch>
        </p:blipFill>
        <p:spPr>
          <a:xfrm>
            <a:off x="256032" y="2121408"/>
            <a:ext cx="347472" cy="347472"/>
          </a:xfrm>
          <a:prstGeom prst="rect">
            <a:avLst/>
          </a:prstGeom>
        </p:spPr>
      </p:pic>
      <p:sp>
        <p:nvSpPr>
          <p:cNvPr id="11" name="Text 7"/>
          <p:cNvSpPr/>
          <p:nvPr/>
        </p:nvSpPr>
        <p:spPr>
          <a:xfrm>
            <a:off x="749808" y="2066544"/>
            <a:ext cx="5669280" cy="38404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Feedback wanted</a:t>
            </a:r>
            <a:endParaRPr lang="en-US" sz="1500" dirty="0"/>
          </a:p>
        </p:txBody>
      </p:sp>
      <p:sp>
        <p:nvSpPr>
          <p:cNvPr id="12" name="Text 8"/>
          <p:cNvSpPr/>
          <p:nvPr/>
        </p:nvSpPr>
        <p:spPr>
          <a:xfrm>
            <a:off x="749808" y="2432304"/>
            <a:ext cx="5669280" cy="274320"/>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Which requirement types should we test next?</a:t>
            </a:r>
            <a:endParaRPr lang="en-US" sz="1100" dirty="0"/>
          </a:p>
        </p:txBody>
      </p:sp>
      <p:pic>
        <p:nvPicPr>
          <p:cNvPr id="13" name="Image 2" descr="preencoded.png">    </p:cNvPr>
          <p:cNvPicPr>
            <a:picLocks noChangeAspect="1"/>
          </p:cNvPicPr>
          <p:nvPr/>
        </p:nvPicPr>
        <p:blipFill>
          <a:blip r:embed="rId3"/>
          <a:stretch>
            <a:fillRect/>
          </a:stretch>
        </p:blipFill>
        <p:spPr>
          <a:xfrm>
            <a:off x="256032" y="2980944"/>
            <a:ext cx="347472" cy="347472"/>
          </a:xfrm>
          <a:prstGeom prst="rect">
            <a:avLst/>
          </a:prstGeom>
        </p:spPr>
      </p:pic>
      <p:sp>
        <p:nvSpPr>
          <p:cNvPr id="14" name="Text 9"/>
          <p:cNvSpPr/>
          <p:nvPr/>
        </p:nvSpPr>
        <p:spPr>
          <a:xfrm>
            <a:off x="749808" y="2926080"/>
            <a:ext cx="5669280" cy="38404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Ideas for extensions?</a:t>
            </a:r>
            <a:endParaRPr lang="en-US" sz="1500" dirty="0"/>
          </a:p>
        </p:txBody>
      </p:sp>
      <p:sp>
        <p:nvSpPr>
          <p:cNvPr id="15" name="Text 10"/>
          <p:cNvSpPr/>
          <p:nvPr/>
        </p:nvSpPr>
        <p:spPr>
          <a:xfrm>
            <a:off x="749808" y="3291840"/>
            <a:ext cx="5669280" cy="274320"/>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Self-healing tests, req updates, CI integration</a:t>
            </a:r>
            <a:endParaRPr lang="en-US" sz="1100" dirty="0"/>
          </a:p>
        </p:txBody>
      </p:sp>
      <p:pic>
        <p:nvPicPr>
          <p:cNvPr id="16" name="Image 3" descr="preencoded.png">    </p:cNvPr>
          <p:cNvPicPr>
            <a:picLocks noChangeAspect="1"/>
          </p:cNvPicPr>
          <p:nvPr/>
        </p:nvPicPr>
        <p:blipFill>
          <a:blip r:embed="rId4"/>
          <a:stretch>
            <a:fillRect/>
          </a:stretch>
        </p:blipFill>
        <p:spPr>
          <a:xfrm>
            <a:off x="256032" y="3840480"/>
            <a:ext cx="347472" cy="347472"/>
          </a:xfrm>
          <a:prstGeom prst="rect">
            <a:avLst/>
          </a:prstGeom>
        </p:spPr>
      </p:pic>
      <p:sp>
        <p:nvSpPr>
          <p:cNvPr id="17" name="Text 11"/>
          <p:cNvSpPr/>
          <p:nvPr/>
        </p:nvSpPr>
        <p:spPr>
          <a:xfrm>
            <a:off x="749808" y="3785616"/>
            <a:ext cx="5669280" cy="384048"/>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Questions?</a:t>
            </a:r>
            <a:endParaRPr lang="en-US" sz="1500" dirty="0"/>
          </a:p>
        </p:txBody>
      </p:sp>
      <p:sp>
        <p:nvSpPr>
          <p:cNvPr id="18" name="Text 12"/>
          <p:cNvSpPr/>
          <p:nvPr/>
        </p:nvSpPr>
        <p:spPr>
          <a:xfrm>
            <a:off x="749808" y="4151376"/>
            <a:ext cx="5669280" cy="274320"/>
          </a:xfrm>
          <a:prstGeom prst="rect">
            <a:avLst/>
          </a:prstGeom>
          <a:noFill/>
          <a:ln/>
        </p:spPr>
        <p:txBody>
          <a:bodyPr wrap="square" lIns="0" tIns="0" rIns="0" bIns="0" rtlCol="0" anchor="ctr"/>
          <a:lstStyle/>
          <a:p>
            <a:pPr indent="0" marL="0">
              <a:buNone/>
            </a:pPr>
            <a:r>
              <a:rPr lang="en-US" sz="1100" dirty="0">
                <a:solidFill>
                  <a:srgbClr val="94A3B8"/>
                </a:solidFill>
                <a:latin typeface="Calibri" pitchFamily="34" charset="0"/>
                <a:ea typeface="Calibri" pitchFamily="34" charset="-122"/>
                <a:cs typeface="Calibri" pitchFamily="34" charset="-120"/>
              </a:rPr>
              <a:t>Happy to do a deeper session with your team</a:t>
            </a:r>
            <a:endParaRPr lang="en-US" sz="1100" dirty="0"/>
          </a:p>
        </p:txBody>
      </p:sp>
      <p:sp>
        <p:nvSpPr>
          <p:cNvPr id="19" name="Text 13"/>
          <p:cNvSpPr/>
          <p:nvPr/>
        </p:nvSpPr>
        <p:spPr>
          <a:xfrm>
            <a:off x="6858000" y="868680"/>
            <a:ext cx="2103120" cy="4572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Resources</a:t>
            </a:r>
            <a:endParaRPr lang="en-US" sz="1500" dirty="0"/>
          </a:p>
        </p:txBody>
      </p:sp>
      <p:sp>
        <p:nvSpPr>
          <p:cNvPr id="20" name="Shape 14"/>
          <p:cNvSpPr/>
          <p:nvPr/>
        </p:nvSpPr>
        <p:spPr>
          <a:xfrm>
            <a:off x="6949440" y="1417320"/>
            <a:ext cx="1920240" cy="1920240"/>
          </a:xfrm>
          <a:prstGeom prst="rect">
            <a:avLst/>
          </a:prstGeom>
          <a:solidFill>
            <a:srgbClr val="0F2133"/>
          </a:solidFill>
          <a:ln w="25400">
            <a:solidFill>
              <a:srgbClr val="02C39A"/>
            </a:solidFill>
            <a:prstDash val="solid"/>
          </a:ln>
        </p:spPr>
      </p:sp>
      <p:sp>
        <p:nvSpPr>
          <p:cNvPr id="21" name="Text 15"/>
          <p:cNvSpPr/>
          <p:nvPr/>
        </p:nvSpPr>
        <p:spPr>
          <a:xfrm>
            <a:off x="6949440" y="1417320"/>
            <a:ext cx="1920240" cy="1920240"/>
          </a:xfrm>
          <a:prstGeom prst="rect">
            <a:avLst/>
          </a:prstGeom>
          <a:noFill/>
          <a:ln/>
        </p:spPr>
        <p:txBody>
          <a:bodyPr wrap="square" rtlCol="0" anchor="ctr"/>
          <a:lstStyle/>
          <a:p>
            <a:pPr algn="ctr" indent="0" marL="0">
              <a:buNone/>
            </a:pPr>
            <a:r>
              <a:rPr lang="en-US" sz="1100" dirty="0">
                <a:solidFill>
                  <a:srgbClr val="94A3B8"/>
                </a:solidFill>
                <a:latin typeface="Calibri" pitchFamily="34" charset="0"/>
                <a:ea typeface="Calibri" pitchFamily="34" charset="-122"/>
                <a:cs typeface="Calibri" pitchFamily="34" charset="-120"/>
              </a:rPr>
              <a:t>[ QR Code ]</a:t>
            </a:r>
            <a:endParaRPr lang="en-US" sz="1100" dirty="0"/>
          </a:p>
          <a:p>
            <a:pPr algn="ctr" indent="0" marL="0">
              <a:buNone/>
            </a:pPr>
            <a:r>
              <a:rPr lang="en-US" sz="1100" dirty="0">
                <a:solidFill>
                  <a:srgbClr val="94A3B8"/>
                </a:solidFill>
                <a:latin typeface="Calibri" pitchFamily="34" charset="0"/>
                <a:ea typeface="Calibri" pitchFamily="34" charset="-122"/>
                <a:cs typeface="Calibri" pitchFamily="34" charset="-120"/>
              </a:rPr>
              <a:t>or link to</a:t>
            </a:r>
            <a:endParaRPr lang="en-US" sz="1100" dirty="0"/>
          </a:p>
          <a:p>
            <a:pPr algn="ctr" indent="0" marL="0">
              <a:buNone/>
            </a:pPr>
            <a:r>
              <a:rPr lang="en-US" sz="1100" dirty="0">
                <a:solidFill>
                  <a:srgbClr val="94A3B8"/>
                </a:solidFill>
                <a:latin typeface="Calibri" pitchFamily="34" charset="0"/>
                <a:ea typeface="Calibri" pitchFamily="34" charset="-122"/>
                <a:cs typeface="Calibri" pitchFamily="34" charset="-120"/>
              </a:rPr>
              <a:t>Confluence / wiki</a:t>
            </a:r>
            <a:endParaRPr lang="en-US" sz="1100" dirty="0"/>
          </a:p>
        </p:txBody>
      </p:sp>
      <p:sp>
        <p:nvSpPr>
          <p:cNvPr id="22" name="Text 16"/>
          <p:cNvSpPr/>
          <p:nvPr/>
        </p:nvSpPr>
        <p:spPr>
          <a:xfrm>
            <a:off x="6858000" y="4160520"/>
            <a:ext cx="2103120" cy="502920"/>
          </a:xfrm>
          <a:prstGeom prst="rect">
            <a:avLst/>
          </a:prstGeom>
          <a:noFill/>
          <a:ln/>
        </p:spPr>
        <p:txBody>
          <a:bodyPr wrap="square" rtlCol="0" anchor="ctr"/>
          <a:lstStyle/>
          <a:p>
            <a:pPr algn="ctr" indent="0" marL="0">
              <a:buNone/>
            </a:pPr>
            <a:r>
              <a:rPr lang="en-US" sz="1600" b="1" dirty="0">
                <a:solidFill>
                  <a:srgbClr val="02C39A"/>
                </a:solidFill>
                <a:latin typeface="Calibri" pitchFamily="34" charset="0"/>
                <a:ea typeface="Calibri" pitchFamily="34" charset="-122"/>
                <a:cs typeface="Calibri" pitchFamily="34" charset="-120"/>
              </a:rPr>
              <a:t>Thank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Multi-Agent QA Orchestration with Polarion</dc:title>
  <dc:subject>PptxGenJS Presentation</dc:subject>
  <dc:creator>QA Engineering Team</dc:creator>
  <cp:lastModifiedBy>QA Engineering Team</cp:lastModifiedBy>
  <cp:revision>1</cp:revision>
  <dcterms:created xsi:type="dcterms:W3CDTF">2026-03-26T20:47:30Z</dcterms:created>
  <dcterms:modified xsi:type="dcterms:W3CDTF">2026-03-26T20:47:30Z</dcterms:modified>
</cp:coreProperties>
</file>